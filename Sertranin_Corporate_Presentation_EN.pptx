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74916f9bcf4543" /><Relationship Type="http://schemas.openxmlformats.org/officeDocument/2006/relationships/extended-properties" Target="/docProps/app.xml" Id="Rc7952c221df64fc1" /><Relationship Type="http://schemas.openxmlformats.org/officeDocument/2006/relationships/officeDocument" Target="/ppt/presentation.xml" Id="Rb9321e04f8164594" /></Relationships>
</file>

<file path=ppt/presentation.xml><?xml version="1.0" encoding="utf-8"?>
<p:presentation xmlns:p="http://schemas.openxmlformats.org/presentationml/2006/main">
  <p:sldMasterIdLst>
    <p:sldMasterId xmlns:r="http://schemas.openxmlformats.org/officeDocument/2006/relationships" id="2147483648" r:id="Rf314aca835db4407"/>
  </p:sldMasterIdLst>
  <p:notesMasterIdLst>
    <p:notesMasterId xmlns:r="http://schemas.openxmlformats.org/officeDocument/2006/relationships" r:id="R4de29f30c0454f1f"/>
  </p:notesMasterIdLst>
  <p:sldIdLst>
    <p:sldId xmlns:r="http://schemas.openxmlformats.org/officeDocument/2006/relationships" id="256" r:id="Rab958d99b2ff47e0"/>
    <p:sldId xmlns:r="http://schemas.openxmlformats.org/officeDocument/2006/relationships" id="257" r:id="Radace4641cdf47cf"/>
    <p:sldId xmlns:r="http://schemas.openxmlformats.org/officeDocument/2006/relationships" id="258" r:id="R90fbd2a2af1b4bb1"/>
    <p:sldId xmlns:r="http://schemas.openxmlformats.org/officeDocument/2006/relationships" id="259" r:id="Rcd35934a02794212"/>
    <p:sldId xmlns:r="http://schemas.openxmlformats.org/officeDocument/2006/relationships" id="260" r:id="R21272e421c2e40d3"/>
    <p:sldId xmlns:r="http://schemas.openxmlformats.org/officeDocument/2006/relationships" id="261" r:id="Rc6a35216fea3448b"/>
    <p:sldId xmlns:r="http://schemas.openxmlformats.org/officeDocument/2006/relationships" id="262" r:id="Re1b603ba741143d1"/>
    <p:sldId xmlns:r="http://schemas.openxmlformats.org/officeDocument/2006/relationships" id="263" r:id="Rca842fa3a9464241"/>
    <p:sldId xmlns:r="http://schemas.openxmlformats.org/officeDocument/2006/relationships" id="264" r:id="R3dea59b195b04e52"/>
    <p:sldId xmlns:r="http://schemas.openxmlformats.org/officeDocument/2006/relationships" id="265" r:id="R9590e86d5fb74243"/>
    <p:sldId xmlns:r="http://schemas.openxmlformats.org/officeDocument/2006/relationships" id="266" r:id="Rf922275152474762"/>
    <p:sldId xmlns:r="http://schemas.openxmlformats.org/officeDocument/2006/relationships" id="267" r:id="R9004e60bfcf44e6e"/>
    <p:sldId xmlns:r="http://schemas.openxmlformats.org/officeDocument/2006/relationships" id="268" r:id="R273c5dbdfb074107"/>
    <p:sldId xmlns:r="http://schemas.openxmlformats.org/officeDocument/2006/relationships" id="269" r:id="R5fbb0a063f424d79"/>
    <p:sldId xmlns:r="http://schemas.openxmlformats.org/officeDocument/2006/relationships" id="270" r:id="R2dd68eeb5d5c4e03"/>
    <p:sldId xmlns:r="http://schemas.openxmlformats.org/officeDocument/2006/relationships" id="271" r:id="R397bc1b37b5b4e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9738c86a7d4a55" /><Relationship Type="http://schemas.openxmlformats.org/officeDocument/2006/relationships/slideMaster" Target="/ppt/slideMasters/slideMaster1.xml" Id="Rf314aca835db4407" /><Relationship Type="http://schemas.openxmlformats.org/officeDocument/2006/relationships/notesMaster" Target="/ppt/notesMasters/notesMaster1.xml" Id="R4de29f30c0454f1f" /><Relationship Type="http://schemas.openxmlformats.org/officeDocument/2006/relationships/presProps" Target="/ppt/presProps.xml" Id="R76fe85e00d304235" /><Relationship Type="http://schemas.openxmlformats.org/officeDocument/2006/relationships/tableStyles" Target="/ppt/tableStyles.xml" Id="Rf28be70d3f5849ab" /><Relationship Type="http://schemas.openxmlformats.org/officeDocument/2006/relationships/slide" Target="/ppt/slides/slide1.xml" Id="Rab958d99b2ff47e0" /><Relationship Type="http://schemas.openxmlformats.org/officeDocument/2006/relationships/slide" Target="/ppt/slides/slide2.xml" Id="Radace4641cdf47cf" /><Relationship Type="http://schemas.openxmlformats.org/officeDocument/2006/relationships/slide" Target="/ppt/slides/slide3.xml" Id="R90fbd2a2af1b4bb1" /><Relationship Type="http://schemas.openxmlformats.org/officeDocument/2006/relationships/slide" Target="/ppt/slides/slide4.xml" Id="Rcd35934a02794212" /><Relationship Type="http://schemas.openxmlformats.org/officeDocument/2006/relationships/slide" Target="/ppt/slides/slide5.xml" Id="R21272e421c2e40d3" /><Relationship Type="http://schemas.openxmlformats.org/officeDocument/2006/relationships/slide" Target="/ppt/slides/slide6.xml" Id="Rc6a35216fea3448b" /><Relationship Type="http://schemas.openxmlformats.org/officeDocument/2006/relationships/slide" Target="/ppt/slides/slide7.xml" Id="Re1b603ba741143d1" /><Relationship Type="http://schemas.openxmlformats.org/officeDocument/2006/relationships/slide" Target="/ppt/slides/slide8.xml" Id="Rca842fa3a9464241" /><Relationship Type="http://schemas.openxmlformats.org/officeDocument/2006/relationships/slide" Target="/ppt/slides/slide9.xml" Id="R3dea59b195b04e52" /><Relationship Type="http://schemas.openxmlformats.org/officeDocument/2006/relationships/slide" Target="/ppt/slides/slide10.xml" Id="R9590e86d5fb74243" /><Relationship Type="http://schemas.openxmlformats.org/officeDocument/2006/relationships/slide" Target="/ppt/slides/slide11.xml" Id="Rf922275152474762" /><Relationship Type="http://schemas.openxmlformats.org/officeDocument/2006/relationships/slide" Target="/ppt/slides/slide12.xml" Id="R9004e60bfcf44e6e" /><Relationship Type="http://schemas.openxmlformats.org/officeDocument/2006/relationships/slide" Target="/ppt/slides/slide13.xml" Id="R273c5dbdfb074107" /><Relationship Type="http://schemas.openxmlformats.org/officeDocument/2006/relationships/slide" Target="/ppt/slides/slide14.xml" Id="R5fbb0a063f424d79" /><Relationship Type="http://schemas.openxmlformats.org/officeDocument/2006/relationships/slide" Target="/ppt/slides/slide15.xml" Id="R2dd68eeb5d5c4e03" /><Relationship Type="http://schemas.openxmlformats.org/officeDocument/2006/relationships/slide" Target="/ppt/slides/slide16.xml" Id="R397bc1b37b5b4e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82947d058c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b01f83e6c3478a" /><Relationship Type="http://schemas.openxmlformats.org/officeDocument/2006/relationships/notesMaster" Target="/ppt/notesMasters/notesMaster1.xml" Id="R6415c75a17cb48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e1582d14a24381" /><Relationship Type="http://schemas.openxmlformats.org/officeDocument/2006/relationships/notesMaster" Target="/ppt/notesMasters/notesMaster1.xml" Id="R76de709bd3484b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c34de8cfb347ea" /><Relationship Type="http://schemas.openxmlformats.org/officeDocument/2006/relationships/notesMaster" Target="/ppt/notesMasters/notesMaster1.xml" Id="Rb1f5ff469b5849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c8161f55ee45a7" /><Relationship Type="http://schemas.openxmlformats.org/officeDocument/2006/relationships/notesMaster" Target="/ppt/notesMasters/notesMaster1.xml" Id="R69b3372a4f5040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b41c274fe54c40" /><Relationship Type="http://schemas.openxmlformats.org/officeDocument/2006/relationships/notesMaster" Target="/ppt/notesMasters/notesMaster1.xml" Id="Rac5e86bf135c42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23f670e50e424e" /><Relationship Type="http://schemas.openxmlformats.org/officeDocument/2006/relationships/notesMaster" Target="/ppt/notesMasters/notesMaster1.xml" Id="R378a47de462e46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89a87c27d34262" /><Relationship Type="http://schemas.openxmlformats.org/officeDocument/2006/relationships/notesMaster" Target="/ppt/notesMasters/notesMaster1.xml" Id="R7befba13cbb746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474b2ae8934c69" /><Relationship Type="http://schemas.openxmlformats.org/officeDocument/2006/relationships/notesMaster" Target="/ppt/notesMasters/notesMaster1.xml" Id="R70d3a22f17bf4e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a982ac979e488a" /><Relationship Type="http://schemas.openxmlformats.org/officeDocument/2006/relationships/notesMaster" Target="/ppt/notesMasters/notesMaster1.xml" Id="R0d50e720e77a43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92db170f3e4fa1" /><Relationship Type="http://schemas.openxmlformats.org/officeDocument/2006/relationships/notesMaster" Target="/ppt/notesMasters/notesMaster1.xml" Id="R046db409f02246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8cad9c57534c78" /><Relationship Type="http://schemas.openxmlformats.org/officeDocument/2006/relationships/notesMaster" Target="/ppt/notesMasters/notesMaster1.xml" Id="Rd3c88b89f2a242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aeb4ed20dc4947" /><Relationship Type="http://schemas.openxmlformats.org/officeDocument/2006/relationships/notesMaster" Target="/ppt/notesMasters/notesMaster1.xml" Id="Rcfa72e0e5ee5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9bf87076ce4d05" /><Relationship Type="http://schemas.openxmlformats.org/officeDocument/2006/relationships/notesMaster" Target="/ppt/notesMasters/notesMaster1.xml" Id="R2f66677bf5f74a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6c97861df64963" /><Relationship Type="http://schemas.openxmlformats.org/officeDocument/2006/relationships/notesMaster" Target="/ppt/notesMasters/notesMaster1.xml" Id="R634668b20f1746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50f97905094422" /><Relationship Type="http://schemas.openxmlformats.org/officeDocument/2006/relationships/notesMaster" Target="/ppt/notesMasters/notesMaster1.xml" Id="Rc7807288e87d48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c1df57682c4748" /><Relationship Type="http://schemas.openxmlformats.org/officeDocument/2006/relationships/notesMaster" Target="/ppt/notesMasters/notesMaster1.xml" Id="Rbc09c7f7e92f42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Sertranin is a family-run logistics group founded in 1996. Elena places this B2B workshop in Piedmont and adds Portugal to the countries where the group operates. Her text says Sertranin has already carried out occasional transport services in Italy at customers’ request, although it has no established presence there.</a:t>
            </a:r>
          </a:p>
          <a:p xmlns:a="http://schemas.openxmlformats.org/drawingml/2006/main">
            <a:r>
              <a:t>Sources: the company PDF and Elena’s document supplied for this presentation. Photograph: Sertranin’s corporate website.</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to reveal the four milestones. This scene shows the continuity of the family business and how its services grew alongside customers’ needs.</a:t>
            </a:r>
          </a:p>
          <a:p xmlns:a="http://schemas.openxmlformats.org/drawingml/2006/main">
            <a:r>
              <a:t>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summarises the journey the company says it can cover. Elena adds order preparation and emphasises that the aim is to free customers to focus on their core business. The sequence is not mandatory for every shipment. Advance to reveal the five stages.</a:t>
            </a:r>
          </a:p>
          <a:p xmlns:a="http://schemas.openxmlformats.org/drawingml/2006/main">
            <a:r>
              <a:t>Sources: the company PDF and Elena’s document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is interactive. Select any of the eight specialist services, or use the left and right arrow keys when a tab has focus. Details come from the company PDF. Confirm current commercial and technical information with Sertranin.</a:t>
            </a:r>
          </a:p>
          <a:p xmlns:a="http://schemas.openxmlformats.org/drawingml/2006/main">
            <a:r>
              <a:t>Photographs: Sertranin’s corporate website. Text source: company PDF supplied.</a:t>
            </a:r>
          </a:p>
          <a:p xmlns:a="http://schemas.openxmlformats.org/drawingml/2006/main">
            <a:r>
              <a:t/>
            </a:r>
          </a:p>
          <a:p xmlns:a="http://schemas.openxmlformats.org/drawingml/2006/main">
            <a:r>
              <a:t>In PowerPoint, the eight interactive HTML tabs continue as four editable detail slides.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is interactive. Select any of the eight specialist services, or use the left and right arrow keys when a tab has focus. Details come from the company PDF. Confirm current commercial and technical information with Sertranin.</a:t>
            </a:r>
          </a:p>
          <a:p xmlns:a="http://schemas.openxmlformats.org/drawingml/2006/main">
            <a:r>
              <a:t>Photographs: Sertranin’s corporate website. Text 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is interactive. Select any of the eight specialist services, or use the left and right arrow keys when a tab has focus. Details come from the company PDF. Confirm current commercial and technical information with Sertranin.</a:t>
            </a:r>
          </a:p>
          <a:p xmlns:a="http://schemas.openxmlformats.org/drawingml/2006/main">
            <a:r>
              <a:t>Photographs: Sertranin’s corporate website. Text 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is interactive. Select any of the eight specialist services, or use the left and right arrow keys when a tab has focus. Details come from the company PDF. Confirm current commercial and technical information with Sertranin.</a:t>
            </a:r>
          </a:p>
          <a:p xmlns:a="http://schemas.openxmlformats.org/drawingml/2006/main">
            <a:r>
              <a:t>Photographs: Sertranin’s corporate website. Text 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is interactive. Select any of the eight specialist services, or use the left and right arrow keys when a tab has focus. Details come from the company PDF. Confirm current commercial and technical information with Sertranin.</a:t>
            </a:r>
          </a:p>
          <a:p xmlns:a="http://schemas.openxmlformats.org/drawingml/2006/main">
            <a:r>
              <a:t>Photographs: Sertranin’s corporate website. Text 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highlights three types of trailer: tippers, curtainsiders and walking-floor trailers. Automotive, chemicals and retail are target sectors, not a list of customers already won. Advance to reveal the three trailer types.</a:t>
            </a:r>
          </a:p>
          <a:p xmlns:a="http://schemas.openxmlformats.org/drawingml/2006/main">
            <a:r>
              <a:t>Sources: Elena’s document supplied and Sertranin’s corporate website for fleet terminology.</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company PDF places container operations in Picassent, near the Port of Valencia. Elena adds two bonded warehouses in the Valencia area and says Sertranin can arrange customs clearance on request. The supplied documents do not identify the warehouses’ addresses or authorisations; confirm their status and precise description before using this as a formal credential.</a:t>
            </a:r>
          </a:p>
          <a:p xmlns:a="http://schemas.openxmlformats.org/drawingml/2006/main">
            <a:r>
              <a:t>Sources: the company PDF and Elena’s document supplied. Photograph: Sertranin’s corporate website.</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to reveal the four figures. The company PDF states ISO 9001:2015 and ISO 14001:2015 certification but does not include the certificates. Check their current status before using them as formal credentials.</a:t>
            </a:r>
          </a:p>
          <a:p xmlns:a="http://schemas.openxmlformats.org/drawingml/2006/main">
            <a:r>
              <a:t>Source: company PDF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company PDF lists four locations but only three logistics bases. Beniparrell is listed as an office. Elena also mentions two bonded warehouses in the Valencia area, but her document does not say whether either corresponds to a location shown here. Do not add them to the three-base count.</a:t>
            </a:r>
          </a:p>
          <a:p xmlns:a="http://schemas.openxmlformats.org/drawingml/2006/main">
            <a:r>
              <a:t>Sources: the company PDF and Elena’s document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adds Portugal to the countries where Sertranin operates and says the group has already carried out transport services in Italy at customers’ request. The company has no established presence there. The diagram does not imply a regular route, office or local network in Italy.</a:t>
            </a:r>
          </a:p>
          <a:p xmlns:a="http://schemas.openxmlformats.org/drawingml/2006/main">
            <a:r>
              <a:t>Sources: the company PDF and Elena’s document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focuses the search on partners in Italy and other EU countries whose services, routes or local knowledge complement Sertranin’s. The company PDF mentions 24–48 hour delivery; confirm the commitment applicable to each route and operation before making an offer.</a:t>
            </a:r>
          </a:p>
          <a:p xmlns:a="http://schemas.openxmlformats.org/drawingml/2006/main">
            <a:r>
              <a:t>Sources: the company PDF and Elena’s document supplied, plus the services section of sertranin-transportes.es.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scene reflects the purpose of the individual B2B meetings in Elena’s text. Start with each company’s strengths, identify where support is needed and end with a practical opportunity for collaboration. It does not presume an agreement or commercial commitment. Advance to reveal the three questions.</a:t>
            </a:r>
          </a:p>
          <a:p xmlns:a="http://schemas.openxmlformats.org/drawingml/2006/main">
            <a:r>
              <a:t>Source: Elena’s document supplied.</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Elena closes by inviting conversations during the workshop. Contact details come from the company PDF and have been checked against Sertranin’s website. Before wider distribution, confirm the status and scope of the two bonded warehouses.</a:t>
            </a:r>
          </a:p>
          <a:p xmlns:a="http://schemas.openxmlformats.org/drawingml/2006/main">
            <a:r>
              <a:t/>
            </a:r>
          </a:p>
          <a:p xmlns:a="http://schemas.openxmlformats.org/drawingml/2006/main">
            <a:r>
              <a:t>Source images: https://sertranin-transportes.es/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28db6acda44d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8d911b4ebd430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caf403d5814de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ffec8e10f141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aaae346f2a4f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c86fa8b59c42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A33A47-FB95-4B6A-B625-09A9F1104A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6A32E16-278A-4F12-86F6-D7203CE8EF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6986E4-4F59-47AC-8DB2-6DFB5F3C01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EF8E51-2180-486C-82A8-6F146FBB4A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076A83-1B1C-4B69-8F85-98EADACDF6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9E711E-232B-46C0-A8E6-612347C1F1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3792D-9CB0-408B-833F-D4BE3B4459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762A1A-4F7B-4669-B0CA-5CC04924AE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F1871C-5476-4E4E-A081-D87EEA3D4A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37BEED-7CA2-43C3-AA41-1037FB8FF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e9980f284941bc" /><Relationship Type="http://schemas.openxmlformats.org/officeDocument/2006/relationships/slideLayout" Target="/ppt/slideLayouts/slideLayout1.xml" Id="Rd27d2286753041af" /><Relationship Type="http://schemas.openxmlformats.org/officeDocument/2006/relationships/slideLayout" Target="/ppt/slideLayouts/slideLayout2.xml" Id="R0333f0f0ed0844e3" /><Relationship Type="http://schemas.openxmlformats.org/officeDocument/2006/relationships/slideLayout" Target="/ppt/slideLayouts/slideLayout3.xml" Id="R3509d1bf70dc403a" /><Relationship Type="http://schemas.openxmlformats.org/officeDocument/2006/relationships/slideLayout" Target="/ppt/slideLayouts/slideLayout4.xml" Id="R7cfe2877e5b841b9" /><Relationship Type="http://schemas.openxmlformats.org/officeDocument/2006/relationships/slideLayout" Target="/ppt/slideLayouts/slideLayout5.xml" Id="R11f2cf85aa6f4a02" /><Relationship Type="http://schemas.openxmlformats.org/officeDocument/2006/relationships/slideLayout" Target="/ppt/slideLayouts/slideLayout6.xml" Id="R7ff76f1a72794a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7d2286753041af"/>
    <p:sldLayoutId xmlns:r="http://schemas.openxmlformats.org/officeDocument/2006/relationships" id="2147483650" r:id="R0333f0f0ed0844e3"/>
    <p:sldLayoutId xmlns:r="http://schemas.openxmlformats.org/officeDocument/2006/relationships" id="2147483651" r:id="R3509d1bf70dc403a"/>
    <p:sldLayoutId xmlns:r="http://schemas.openxmlformats.org/officeDocument/2006/relationships" id="2147483652" r:id="R7cfe2877e5b841b9"/>
    <p:sldLayoutId xmlns:r="http://schemas.openxmlformats.org/officeDocument/2006/relationships" id="2147483653" r:id="R11f2cf85aa6f4a02"/>
    <p:sldLayoutId xmlns:r="http://schemas.openxmlformats.org/officeDocument/2006/relationships" id="2147483654" r:id="R7ff76f1a72794a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4726b4e02d4c2a" /><Relationship Type="http://schemas.openxmlformats.org/officeDocument/2006/relationships/image" Target="/ppt/media/image.png" Id="R2de4eb1cf3bb4601" /><Relationship Type="http://schemas.openxmlformats.org/officeDocument/2006/relationships/image" Target="/ppt/media/image.jpeg" Id="R6049b11908d84e8a" /><Relationship Type="http://schemas.openxmlformats.org/officeDocument/2006/relationships/notesSlide" Target="/ppt/notesSlides/notesSlide1.xml" Id="R423987fa84d647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c7ce43222a4907" /><Relationship Type="http://schemas.openxmlformats.org/officeDocument/2006/relationships/notesSlide" Target="/ppt/notesSlides/notesSlide2.xml" Id="R38141987362e48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87b6d7b7904989" /><Relationship Type="http://schemas.openxmlformats.org/officeDocument/2006/relationships/notesSlide" Target="/ppt/notesSlides/notesSlide3.xml" Id="Ra0792ac7d89046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492f830da14e8e" /><Relationship Type="http://schemas.openxmlformats.org/officeDocument/2006/relationships/notesSlide" Target="/ppt/notesSlides/notesSlide4.xml" Id="Rb08426c76c444d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2a1fdad7ce44d1e" /><Relationship Type="http://schemas.openxmlformats.org/officeDocument/2006/relationships/image" Target="/ppt/media/image2.jpeg" Id="Ra4eb844239fa4e27" /><Relationship Type="http://schemas.openxmlformats.org/officeDocument/2006/relationships/image" Target="/ppt/media/image3.jpeg" Id="Rda9c3c4d825a43b7" /><Relationship Type="http://schemas.openxmlformats.org/officeDocument/2006/relationships/notesSlide" Target="/ppt/notesSlides/notesSlide5.xml" Id="R98318038638f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3f90fbc689477b" /><Relationship Type="http://schemas.openxmlformats.org/officeDocument/2006/relationships/image" Target="/ppt/media/image4.jpeg" Id="R432758abe8b1400a" /><Relationship Type="http://schemas.openxmlformats.org/officeDocument/2006/relationships/image" Target="/ppt/media/image5.jpeg" Id="R13b7014e5f694e93" /><Relationship Type="http://schemas.openxmlformats.org/officeDocument/2006/relationships/notesSlide" Target="/ppt/notesSlides/notesSlide6.xml" Id="Rc2d8b308c15547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34496ee56b4a15" /><Relationship Type="http://schemas.openxmlformats.org/officeDocument/2006/relationships/image" Target="/ppt/media/image6.jpeg" Id="R20bab33b701a47db" /><Relationship Type="http://schemas.openxmlformats.org/officeDocument/2006/relationships/image" Target="/ppt/media/image7.jpeg" Id="R0307b60075ac4a66" /><Relationship Type="http://schemas.openxmlformats.org/officeDocument/2006/relationships/notesSlide" Target="/ppt/notesSlides/notesSlide7.xml" Id="Ra800eaf09ff649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d6cf1ef81d4d84" /><Relationship Type="http://schemas.openxmlformats.org/officeDocument/2006/relationships/image" Target="/ppt/media/image8.jpeg" Id="R9f5bac010f8b403e" /><Relationship Type="http://schemas.openxmlformats.org/officeDocument/2006/relationships/image" Target="/ppt/media/image9.jpeg" Id="R84ae1e1e7e0c4964" /><Relationship Type="http://schemas.openxmlformats.org/officeDocument/2006/relationships/notesSlide" Target="/ppt/notesSlides/notesSlide8.xml" Id="R2d6322c1775b4c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bf37327b754d14" /><Relationship Type="http://schemas.openxmlformats.org/officeDocument/2006/relationships/image" Target="/ppt/media/image10.jpeg" Id="R3f6f3465d3904d02" /><Relationship Type="http://schemas.openxmlformats.org/officeDocument/2006/relationships/notesSlide" Target="/ppt/notesSlides/notesSlide9.xml" Id="R0891c1428d284b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6815621c294405" /><Relationship Type="http://schemas.openxmlformats.org/officeDocument/2006/relationships/image" Target="/ppt/media/image11.jpeg" Id="R69db703320b54362" /><Relationship Type="http://schemas.openxmlformats.org/officeDocument/2006/relationships/notesSlide" Target="/ppt/notesSlides/notesSlide10.xml" Id="Rfdc2ffd6370e42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8bf7194bc44f7c" /><Relationship Type="http://schemas.openxmlformats.org/officeDocument/2006/relationships/notesSlide" Target="/ppt/notesSlides/notesSlide11.xml" Id="R098e517739bc4a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cfb00e551bd43f4" /><Relationship Type="http://schemas.openxmlformats.org/officeDocument/2006/relationships/notesSlide" Target="/ppt/notesSlides/notesSlide12.xml" Id="R887c272b639645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fdd8da777b5442e" /><Relationship Type="http://schemas.openxmlformats.org/officeDocument/2006/relationships/notesSlide" Target="/ppt/notesSlides/notesSlide13.xml" Id="Ra8d4d74880fb4d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b6addfd9d1f4563" /><Relationship Type="http://schemas.openxmlformats.org/officeDocument/2006/relationships/notesSlide" Target="/ppt/notesSlides/notesSlide14.xml" Id="R020de7964fc448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5acb712d3a1451d" /><Relationship Type="http://schemas.openxmlformats.org/officeDocument/2006/relationships/notesSlide" Target="/ppt/notesSlides/notesSlide15.xml" Id="Ref04f8d04de14e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6ee2d755b84e57" /><Relationship Type="http://schemas.openxmlformats.org/officeDocument/2006/relationships/image" Target="/ppt/media/image12.jpeg" Id="R31637f04f9fb47ee" /><Relationship Type="http://schemas.openxmlformats.org/officeDocument/2006/relationships/image" Target="/ppt/media/image2.png" Id="Rf69953fc751f4363" /><Relationship Type="http://schemas.openxmlformats.org/officeDocument/2006/relationships/notesSlide" Target="/ppt/notesSlides/notesSlide16.xml" Id="Rc7a02ad3e0484d5a" /></Relationships>
</file>

<file path=ppt/slides/slide1.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B3B4774-558D-49F0-ADDD-20CC17A696C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5759CAA2-DE41-41D0-91E7-7E022BB8B448}"/>
              </a:ext>
            </a:extLst>
          </p:cNvPr>
          <p:cNvPicPr>
            <a:picLocks xmlns:a="http://schemas.openxmlformats.org/drawingml/2006/main" noChangeAspect="1"/>
          </p:cNvPicPr>
          <p:nvPr/>
        </p:nvPicPr>
        <p:blipFill>
          <a:blip xmlns:r="http://schemas.openxmlformats.org/officeDocument/2006/relationships" xmlns:a="http://schemas.openxmlformats.org/drawingml/2006/main" r:embed="R2de4eb1cf3bb4601"/>
          <a:stretch xmlns:a="http://schemas.openxmlformats.org/drawingml/2006/main"/>
        </p:blipFill>
        <p:spPr>
          <a:xfrm xmlns:a="http://schemas.openxmlformats.org/drawingml/2006/main">
            <a:off x="762935" y="352425"/>
            <a:ext cx="3331880" cy="4857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35FCE7-F617-4955-A57F-4387BD57D63D}"/>
              </a:ext>
            </a:extLst>
          </p:cNvPr>
          <p:cNvSpPr>
            <a:spLocks xmlns:a="http://schemas.openxmlformats.org/drawingml/2006/main" noGrp="1"/>
          </p:cNvSpPr>
          <p:nvPr/>
        </p:nvSpPr>
        <p:spPr>
          <a:xfrm xmlns:a="http://schemas.openxmlformats.org/drawingml/2006/main">
            <a:off x="762000" y="1219200"/>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F6BE3E-0065-49B6-8B6B-8DC474237776}"/>
              </a:ext>
            </a:extLst>
          </p:cNvPr>
          <p:cNvSpPr>
            <a:spLocks xmlns:a="http://schemas.openxmlformats.org/drawingml/2006/main" noGrp="1"/>
          </p:cNvSpPr>
          <p:nvPr/>
        </p:nvSpPr>
        <p:spPr>
          <a:xfrm xmlns:a="http://schemas.openxmlformats.org/drawingml/2006/main">
            <a:off x="1114425" y="113347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B2B MEETINGS IN PIEDMONT · GRUPO SERTRANIN</a:t>
            </a:r>
          </a:p>
        </p:txBody>
      </p:sp>
      <p:sp>
        <p:nvSpPr>
          <p:cNvPr id="5" name="">
            <a:extLst xmlns:a="http://schemas.openxmlformats.org/drawingml/2006/main">
              <a:ext uri="{FF2B5EF4-FFF2-40B4-BE49-F238E27FC236}">
                <a16:creationId xmlns:a16="http://schemas.microsoft.com/office/drawing/2014/main" id="{55D2F953-623A-43A2-B0C2-FB700EF71AB5}"/>
              </a:ext>
            </a:extLst>
          </p:cNvPr>
          <p:cNvSpPr>
            <a:spLocks xmlns:a="http://schemas.openxmlformats.org/drawingml/2006/main" noGrp="1"/>
          </p:cNvSpPr>
          <p:nvPr/>
        </p:nvSpPr>
        <p:spPr>
          <a:xfrm xmlns:a="http://schemas.openxmlformats.org/drawingml/2006/main">
            <a:off x="762000" y="16383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850" b="0" i="0">
                <a:solidFill>
                  <a:srgbClr val="211D1A"/>
                </a:solidFill>
                <a:latin typeface="Georgia"/>
                <a:ea typeface="Georgia"/>
                <a:cs typeface="Georgia"/>
              </a:defRPr>
            </a:defPPr>
            <a:lvl1pPr algn="l">
              <a:defRPr sz="5850" b="0" i="0">
                <a:solidFill>
                  <a:srgbClr val="211D1A"/>
                </a:solidFill>
                <a:latin typeface="Georgia"/>
                <a:ea typeface="Georgia"/>
                <a:cs typeface="Georgia"/>
              </a:defRPr>
            </a:lvl1pPr>
            <a:lvl2pPr algn="l">
              <a:defRPr sz="5850" b="0" i="0">
                <a:solidFill>
                  <a:srgbClr val="211D1A"/>
                </a:solidFill>
                <a:latin typeface="Georgia"/>
                <a:ea typeface="Georgia"/>
                <a:cs typeface="Georgia"/>
              </a:defRPr>
            </a:lvl2pPr>
            <a:lvl3pPr algn="l">
              <a:defRPr sz="5850" b="0" i="0">
                <a:solidFill>
                  <a:srgbClr val="211D1A"/>
                </a:solidFill>
                <a:latin typeface="Georgia"/>
                <a:ea typeface="Georgia"/>
                <a:cs typeface="Georgia"/>
              </a:defRPr>
            </a:lvl3pPr>
            <a:lvl4pPr algn="l">
              <a:defRPr sz="5850" b="0" i="0">
                <a:solidFill>
                  <a:srgbClr val="211D1A"/>
                </a:solidFill>
                <a:latin typeface="Georgia"/>
                <a:ea typeface="Georgia"/>
                <a:cs typeface="Georgia"/>
              </a:defRPr>
            </a:lvl4pPr>
            <a:lvl5pPr algn="l">
              <a:defRPr sz="5850" b="0" i="0">
                <a:solidFill>
                  <a:srgbClr val="211D1A"/>
                </a:solidFill>
                <a:latin typeface="Georgia"/>
                <a:ea typeface="Georgia"/>
                <a:cs typeface="Georgia"/>
              </a:defRPr>
            </a:lvl5pPr>
            <a:lvl6pPr algn="l">
              <a:defRPr sz="5850" b="0" i="0">
                <a:solidFill>
                  <a:srgbClr val="211D1A"/>
                </a:solidFill>
                <a:latin typeface="Georgia"/>
                <a:ea typeface="Georgia"/>
                <a:cs typeface="Georgia"/>
              </a:defRPr>
            </a:lvl6pPr>
            <a:lvl7pPr algn="l">
              <a:defRPr sz="5850" b="0" i="0">
                <a:solidFill>
                  <a:srgbClr val="211D1A"/>
                </a:solidFill>
                <a:latin typeface="Georgia"/>
                <a:ea typeface="Georgia"/>
                <a:cs typeface="Georgia"/>
              </a:defRPr>
            </a:lvl7pPr>
            <a:lvl8pPr algn="l">
              <a:defRPr sz="5850" b="0" i="0">
                <a:solidFill>
                  <a:srgbClr val="211D1A"/>
                </a:solidFill>
                <a:latin typeface="Georgia"/>
                <a:ea typeface="Georgia"/>
                <a:cs typeface="Georgia"/>
              </a:defRPr>
            </a:lvl8pPr>
            <a:lvl9pPr algn="l">
              <a:defRPr sz="5850" b="0" i="0">
                <a:solidFill>
                  <a:srgbClr val="211D1A"/>
                </a:solidFill>
                <a:latin typeface="Georgia"/>
                <a:ea typeface="Georgia"/>
                <a:cs typeface="Georgia"/>
              </a:defRPr>
            </a:lvl9pPr>
          </a:lstStyle>
          <a:p xmlns:a="http://schemas.openxmlformats.org/drawingml/2006/main">
            <a:pPr algn="l">
              <a:lnSpc>
                <a:spcPct val="98000"/>
              </a:lnSpc>
              <a:buNone/>
              <a:defRPr sz="5850" b="0" i="0">
                <a:solidFill>
                  <a:srgbClr val="211D1A"/>
                </a:solidFill>
                <a:latin typeface="Georgia"/>
                <a:ea typeface="Georgia"/>
                <a:cs typeface="Georgia"/>
              </a:defRPr>
            </a:pPr>
            <a:r>
              <a:rPr sz="5850" b="0" i="0">
                <a:solidFill>
                  <a:srgbClr val="211D1A"/>
                </a:solidFill>
                <a:latin typeface="Georgia"/>
                <a:ea typeface="Georgia"/>
                <a:cs typeface="Georgia"/>
              </a:rPr>
              <a:t>Family-run logistics,</a:t>
            </a:r>
          </a:p>
        </p:txBody>
      </p:sp>
      <p:sp>
        <p:nvSpPr>
          <p:cNvPr id="6" name="">
            <a:extLst xmlns:a="http://schemas.openxmlformats.org/drawingml/2006/main">
              <a:ext uri="{FF2B5EF4-FFF2-40B4-BE49-F238E27FC236}">
                <a16:creationId xmlns:a16="http://schemas.microsoft.com/office/drawing/2014/main" id="{6F35E58A-C702-45C0-AA0D-804BA860B809}"/>
              </a:ext>
            </a:extLst>
          </p:cNvPr>
          <p:cNvSpPr>
            <a:spLocks xmlns:a="http://schemas.openxmlformats.org/drawingml/2006/main" noGrp="1"/>
          </p:cNvSpPr>
          <p:nvPr/>
        </p:nvSpPr>
        <p:spPr>
          <a:xfrm xmlns:a="http://schemas.openxmlformats.org/drawingml/2006/main">
            <a:off x="762000" y="2581275"/>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15"/>
          </a:bodyPr>
          <a:lstStyle xmlns:a="http://schemas.openxmlformats.org/drawingml/2006/main">
            <a:defPPr algn="l">
              <a:defRPr sz="6150" b="0" i="1">
                <a:solidFill>
                  <a:srgbClr val="CF1727"/>
                </a:solidFill>
                <a:latin typeface="Georgia"/>
                <a:ea typeface="Georgia"/>
                <a:cs typeface="Georgia"/>
              </a:defRPr>
            </a:defPPr>
            <a:lvl1pPr algn="l">
              <a:defRPr sz="6150" b="0" i="1">
                <a:solidFill>
                  <a:srgbClr val="CF1727"/>
                </a:solidFill>
                <a:latin typeface="Georgia"/>
                <a:ea typeface="Georgia"/>
                <a:cs typeface="Georgia"/>
              </a:defRPr>
            </a:lvl1pPr>
            <a:lvl2pPr algn="l">
              <a:defRPr sz="6150" b="0" i="1">
                <a:solidFill>
                  <a:srgbClr val="CF1727"/>
                </a:solidFill>
                <a:latin typeface="Georgia"/>
                <a:ea typeface="Georgia"/>
                <a:cs typeface="Georgia"/>
              </a:defRPr>
            </a:lvl2pPr>
            <a:lvl3pPr algn="l">
              <a:defRPr sz="6150" b="0" i="1">
                <a:solidFill>
                  <a:srgbClr val="CF1727"/>
                </a:solidFill>
                <a:latin typeface="Georgia"/>
                <a:ea typeface="Georgia"/>
                <a:cs typeface="Georgia"/>
              </a:defRPr>
            </a:lvl3pPr>
            <a:lvl4pPr algn="l">
              <a:defRPr sz="6150" b="0" i="1">
                <a:solidFill>
                  <a:srgbClr val="CF1727"/>
                </a:solidFill>
                <a:latin typeface="Georgia"/>
                <a:ea typeface="Georgia"/>
                <a:cs typeface="Georgia"/>
              </a:defRPr>
            </a:lvl4pPr>
            <a:lvl5pPr algn="l">
              <a:defRPr sz="6150" b="0" i="1">
                <a:solidFill>
                  <a:srgbClr val="CF1727"/>
                </a:solidFill>
                <a:latin typeface="Georgia"/>
                <a:ea typeface="Georgia"/>
                <a:cs typeface="Georgia"/>
              </a:defRPr>
            </a:lvl5pPr>
            <a:lvl6pPr algn="l">
              <a:defRPr sz="6150" b="0" i="1">
                <a:solidFill>
                  <a:srgbClr val="CF1727"/>
                </a:solidFill>
                <a:latin typeface="Georgia"/>
                <a:ea typeface="Georgia"/>
                <a:cs typeface="Georgia"/>
              </a:defRPr>
            </a:lvl6pPr>
            <a:lvl7pPr algn="l">
              <a:defRPr sz="6150" b="0" i="1">
                <a:solidFill>
                  <a:srgbClr val="CF1727"/>
                </a:solidFill>
                <a:latin typeface="Georgia"/>
                <a:ea typeface="Georgia"/>
                <a:cs typeface="Georgia"/>
              </a:defRPr>
            </a:lvl7pPr>
            <a:lvl8pPr algn="l">
              <a:defRPr sz="6150" b="0" i="1">
                <a:solidFill>
                  <a:srgbClr val="CF1727"/>
                </a:solidFill>
                <a:latin typeface="Georgia"/>
                <a:ea typeface="Georgia"/>
                <a:cs typeface="Georgia"/>
              </a:defRPr>
            </a:lvl8pPr>
            <a:lvl9pPr algn="l">
              <a:defRPr sz="6150" b="0" i="1">
                <a:solidFill>
                  <a:srgbClr val="CF1727"/>
                </a:solidFill>
                <a:latin typeface="Georgia"/>
                <a:ea typeface="Georgia"/>
                <a:cs typeface="Georgia"/>
              </a:defRPr>
            </a:lvl9pPr>
          </a:lstStyle>
          <a:p xmlns:a="http://schemas.openxmlformats.org/drawingml/2006/main">
            <a:pPr algn="l">
              <a:lnSpc>
                <a:spcPct val="98000"/>
              </a:lnSpc>
              <a:buNone/>
              <a:defRPr sz="6150" b="0" i="1">
                <a:solidFill>
                  <a:srgbClr val="CF1727"/>
                </a:solidFill>
                <a:latin typeface="Georgia"/>
                <a:ea typeface="Georgia"/>
                <a:cs typeface="Georgia"/>
              </a:defRPr>
            </a:pPr>
            <a:r>
              <a:rPr sz="6150" b="0" i="1">
                <a:solidFill>
                  <a:srgbClr val="CF1727"/>
                </a:solidFill>
                <a:latin typeface="Georgia"/>
                <a:ea typeface="Georgia"/>
                <a:cs typeface="Georgia"/>
              </a:rPr>
              <a:t>ready to cross borders</a:t>
            </a:r>
          </a:p>
        </p:txBody>
      </p:sp>
      <p:sp>
        <p:nvSpPr>
          <p:cNvPr id="7" name="">
            <a:extLst xmlns:a="http://schemas.openxmlformats.org/drawingml/2006/main">
              <a:ext uri="{FF2B5EF4-FFF2-40B4-BE49-F238E27FC236}">
                <a16:creationId xmlns:a16="http://schemas.microsoft.com/office/drawing/2014/main" id="{E890DB57-406E-4D37-87CB-250C449AAF93}"/>
              </a:ext>
            </a:extLst>
          </p:cNvPr>
          <p:cNvSpPr>
            <a:spLocks xmlns:a="http://schemas.openxmlformats.org/drawingml/2006/main" noGrp="1"/>
          </p:cNvSpPr>
          <p:nvPr/>
        </p:nvSpPr>
        <p:spPr>
          <a:xfrm xmlns:a="http://schemas.openxmlformats.org/drawingml/2006/main">
            <a:off x="762000" y="3609975"/>
            <a:ext cx="904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211D1A"/>
                </a:solidFill>
                <a:latin typeface="Arial"/>
                <a:ea typeface="Arial"/>
                <a:cs typeface="Arial"/>
              </a:defRPr>
            </a:defPPr>
            <a:lvl1pPr algn="l">
              <a:defRPr sz="1800" b="0" i="0">
                <a:solidFill>
                  <a:srgbClr val="211D1A"/>
                </a:solidFill>
                <a:latin typeface="Arial"/>
                <a:ea typeface="Arial"/>
                <a:cs typeface="Arial"/>
              </a:defRPr>
            </a:lvl1pPr>
            <a:lvl2pPr algn="l">
              <a:defRPr sz="1800" b="0" i="0">
                <a:solidFill>
                  <a:srgbClr val="211D1A"/>
                </a:solidFill>
                <a:latin typeface="Arial"/>
                <a:ea typeface="Arial"/>
                <a:cs typeface="Arial"/>
              </a:defRPr>
            </a:lvl2pPr>
            <a:lvl3pPr algn="l">
              <a:defRPr sz="1800" b="0" i="0">
                <a:solidFill>
                  <a:srgbClr val="211D1A"/>
                </a:solidFill>
                <a:latin typeface="Arial"/>
                <a:ea typeface="Arial"/>
                <a:cs typeface="Arial"/>
              </a:defRPr>
            </a:lvl3pPr>
            <a:lvl4pPr algn="l">
              <a:defRPr sz="1800" b="0" i="0">
                <a:solidFill>
                  <a:srgbClr val="211D1A"/>
                </a:solidFill>
                <a:latin typeface="Arial"/>
                <a:ea typeface="Arial"/>
                <a:cs typeface="Arial"/>
              </a:defRPr>
            </a:lvl4pPr>
            <a:lvl5pPr algn="l">
              <a:defRPr sz="1800" b="0" i="0">
                <a:solidFill>
                  <a:srgbClr val="211D1A"/>
                </a:solidFill>
                <a:latin typeface="Arial"/>
                <a:ea typeface="Arial"/>
                <a:cs typeface="Arial"/>
              </a:defRPr>
            </a:lvl5pPr>
            <a:lvl6pPr algn="l">
              <a:defRPr sz="1800" b="0" i="0">
                <a:solidFill>
                  <a:srgbClr val="211D1A"/>
                </a:solidFill>
                <a:latin typeface="Arial"/>
                <a:ea typeface="Arial"/>
                <a:cs typeface="Arial"/>
              </a:defRPr>
            </a:lvl6pPr>
            <a:lvl7pPr algn="l">
              <a:defRPr sz="1800" b="0" i="0">
                <a:solidFill>
                  <a:srgbClr val="211D1A"/>
                </a:solidFill>
                <a:latin typeface="Arial"/>
                <a:ea typeface="Arial"/>
                <a:cs typeface="Arial"/>
              </a:defRPr>
            </a:lvl7pPr>
            <a:lvl8pPr algn="l">
              <a:defRPr sz="1800" b="0" i="0">
                <a:solidFill>
                  <a:srgbClr val="211D1A"/>
                </a:solidFill>
                <a:latin typeface="Arial"/>
                <a:ea typeface="Arial"/>
                <a:cs typeface="Arial"/>
              </a:defRPr>
            </a:lvl8pPr>
            <a:lvl9pPr algn="l">
              <a:defRPr sz="1800" b="0" i="0">
                <a:solidFill>
                  <a:srgbClr val="211D1A"/>
                </a:solidFill>
                <a:latin typeface="Arial"/>
                <a:ea typeface="Arial"/>
                <a:cs typeface="Arial"/>
              </a:defRPr>
            </a:lvl9pPr>
          </a:lstStyle>
          <a:p xmlns:a="http://schemas.openxmlformats.org/drawingml/2006/main">
            <a:pPr algn="l">
              <a:lnSpc>
                <a:spcPct val="102000"/>
              </a:lnSpc>
              <a:buNone/>
              <a:defRPr sz="1800" b="0" i="0">
                <a:solidFill>
                  <a:srgbClr val="211D1A"/>
                </a:solidFill>
                <a:latin typeface="Arial"/>
                <a:ea typeface="Arial"/>
                <a:cs typeface="Arial"/>
              </a:defRPr>
            </a:pPr>
            <a:r>
              <a:rPr sz="1800" b="0" i="0">
                <a:solidFill>
                  <a:srgbClr val="211D1A"/>
                </a:solidFill>
                <a:latin typeface="Arial"/>
                <a:ea typeface="Arial"/>
                <a:cs typeface="Arial"/>
              </a:rPr>
              <a:t>Road transport and logistics from collection to final delivery.</a:t>
            </a:r>
          </a:p>
        </p:txBody>
      </p:sp>
      <p:pic>
        <p:nvPicPr>
          <p:cNvPr id="8" name="">
            <a:extLst xmlns:a="http://schemas.openxmlformats.org/drawingml/2006/main">
              <a:ext uri="{FF2B5EF4-FFF2-40B4-BE49-F238E27FC236}">
                <a16:creationId xmlns:a16="http://schemas.microsoft.com/office/drawing/2014/main" id="{96C4374C-1536-44F8-9502-6C61F2B0C5CD}"/>
              </a:ext>
            </a:extLst>
          </p:cNvPr>
          <p:cNvPicPr>
            <a:picLocks xmlns:a="http://schemas.openxmlformats.org/drawingml/2006/main" noChangeAspect="1"/>
          </p:cNvPicPr>
          <p:nvPr/>
        </p:nvPicPr>
        <p:blipFill>
          <a:blip xmlns:r="http://schemas.openxmlformats.org/officeDocument/2006/relationships" xmlns:a="http://schemas.openxmlformats.org/drawingml/2006/main" r:embed="R6049b11908d84e8a"/>
          <a:srcRect xmlns:a="http://schemas.openxmlformats.org/drawingml/2006/main" l="0" t="27782" r="0" b="27782"/>
          <a:stretch xmlns:a="http://schemas.openxmlformats.org/drawingml/2006/main">
            <a:fillRect l="0" t="0" r="0" b="0"/>
          </a:stretch>
        </p:blipFill>
        <p:spPr>
          <a:xfrm xmlns:a="http://schemas.openxmlformats.org/drawingml/2006/main">
            <a:off x="0" y="4362450"/>
            <a:ext cx="12192000" cy="24955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B38542B-BAFA-490C-B169-C8328AFF4E61}"/>
              </a:ext>
            </a:extLst>
          </p:cNvPr>
          <p:cNvSpPr>
            <a:spLocks xmlns:a="http://schemas.openxmlformats.org/drawingml/2006/main" noGrp="1"/>
          </p:cNvSpPr>
          <p:nvPr/>
        </p:nvSpPr>
        <p:spPr>
          <a:xfrm xmlns:a="http://schemas.openxmlformats.org/drawingml/2006/main">
            <a:off x="0" y="5981700"/>
            <a:ext cx="12192000" cy="876300"/>
          </a:xfrm>
          <a:prstGeom xmlns:a="http://schemas.openxmlformats.org/drawingml/2006/main" prst="rect">
            <a:avLst/>
          </a:prstGeom>
          <a:solidFill xmlns:a="http://schemas.openxmlformats.org/drawingml/2006/main">
            <a:srgbClr val="21191A">
              <a:alpha val="6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C9B634A-2843-4E9B-BF81-42610BFABB87}"/>
              </a:ext>
            </a:extLst>
          </p:cNvPr>
          <p:cNvSpPr>
            <a:spLocks xmlns:a="http://schemas.openxmlformats.org/drawingml/2006/main" noGrp="1"/>
          </p:cNvSpPr>
          <p:nvPr/>
        </p:nvSpPr>
        <p:spPr>
          <a:xfrm xmlns:a="http://schemas.openxmlformats.org/drawingml/2006/main">
            <a:off x="762000" y="6115050"/>
            <a:ext cx="809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FFFF"/>
                </a:solidFill>
                <a:latin typeface="Arial"/>
                <a:ea typeface="Arial"/>
                <a:cs typeface="Arial"/>
              </a:defRPr>
            </a:defPPr>
            <a:lvl1pPr algn="l">
              <a:defRPr sz="1275" b="1" i="0">
                <a:solidFill>
                  <a:srgbClr val="FFFFFF"/>
                </a:solidFill>
                <a:latin typeface="Arial"/>
                <a:ea typeface="Arial"/>
                <a:cs typeface="Arial"/>
              </a:defRPr>
            </a:lvl1pPr>
            <a:lvl2pPr algn="l">
              <a:defRPr sz="1275" b="1" i="0">
                <a:solidFill>
                  <a:srgbClr val="FFFFFF"/>
                </a:solidFill>
                <a:latin typeface="Arial"/>
                <a:ea typeface="Arial"/>
                <a:cs typeface="Arial"/>
              </a:defRPr>
            </a:lvl2pPr>
            <a:lvl3pPr algn="l">
              <a:defRPr sz="1275" b="1" i="0">
                <a:solidFill>
                  <a:srgbClr val="FFFFFF"/>
                </a:solidFill>
                <a:latin typeface="Arial"/>
                <a:ea typeface="Arial"/>
                <a:cs typeface="Arial"/>
              </a:defRPr>
            </a:lvl3pPr>
            <a:lvl4pPr algn="l">
              <a:defRPr sz="1275" b="1" i="0">
                <a:solidFill>
                  <a:srgbClr val="FFFFFF"/>
                </a:solidFill>
                <a:latin typeface="Arial"/>
                <a:ea typeface="Arial"/>
                <a:cs typeface="Arial"/>
              </a:defRPr>
            </a:lvl4pPr>
            <a:lvl5pPr algn="l">
              <a:defRPr sz="1275" b="1" i="0">
                <a:solidFill>
                  <a:srgbClr val="FFFFFF"/>
                </a:solidFill>
                <a:latin typeface="Arial"/>
                <a:ea typeface="Arial"/>
                <a:cs typeface="Arial"/>
              </a:defRPr>
            </a:lvl5pPr>
            <a:lvl6pPr algn="l">
              <a:defRPr sz="1275" b="1" i="0">
                <a:solidFill>
                  <a:srgbClr val="FFFFFF"/>
                </a:solidFill>
                <a:latin typeface="Arial"/>
                <a:ea typeface="Arial"/>
                <a:cs typeface="Arial"/>
              </a:defRPr>
            </a:lvl6pPr>
            <a:lvl7pPr algn="l">
              <a:defRPr sz="1275" b="1" i="0">
                <a:solidFill>
                  <a:srgbClr val="FFFFFF"/>
                </a:solidFill>
                <a:latin typeface="Arial"/>
                <a:ea typeface="Arial"/>
                <a:cs typeface="Arial"/>
              </a:defRPr>
            </a:lvl7pPr>
            <a:lvl8pPr algn="l">
              <a:defRPr sz="1275" b="1" i="0">
                <a:solidFill>
                  <a:srgbClr val="FFFFFF"/>
                </a:solidFill>
                <a:latin typeface="Arial"/>
                <a:ea typeface="Arial"/>
                <a:cs typeface="Arial"/>
              </a:defRPr>
            </a:lvl8pPr>
            <a:lvl9pPr algn="l">
              <a:defRPr sz="1275" b="1" i="0">
                <a:solidFill>
                  <a:srgbClr val="FFFFFF"/>
                </a:solidFill>
                <a:latin typeface="Arial"/>
                <a:ea typeface="Arial"/>
                <a:cs typeface="Arial"/>
              </a:defRPr>
            </a:lvl9pPr>
          </a:lstStyle>
          <a:p xmlns:a="http://schemas.openxmlformats.org/drawingml/2006/main">
            <a:pPr algn="l">
              <a:lnSpc>
                <a:spcPct val="102000"/>
              </a:lnSpc>
              <a:buNone/>
              <a:defRPr sz="1275" b="1" i="0">
                <a:solidFill>
                  <a:srgbClr val="FFFFFF"/>
                </a:solidFill>
                <a:latin typeface="Arial"/>
                <a:ea typeface="Arial"/>
                <a:cs typeface="Arial"/>
              </a:defRPr>
            </a:pPr>
            <a:r>
              <a:rPr sz="1275" b="1" i="0">
                <a:solidFill>
                  <a:srgbClr val="FFFFFF"/>
                </a:solidFill>
                <a:latin typeface="Arial"/>
                <a:ea typeface="Arial"/>
                <a:cs typeface="Arial"/>
              </a:rPr>
              <a:t>Spain · Portugal · France · Germany</a:t>
            </a:r>
          </a:p>
        </p:txBody>
      </p:sp>
      <p:sp>
        <p:nvSpPr>
          <p:cNvPr id="11" name="">
            <a:extLst xmlns:a="http://schemas.openxmlformats.org/drawingml/2006/main">
              <a:ext uri="{FF2B5EF4-FFF2-40B4-BE49-F238E27FC236}">
                <a16:creationId xmlns:a16="http://schemas.microsoft.com/office/drawing/2014/main" id="{90FDBE60-F037-4F9B-B92F-A1BBA04D9241}"/>
              </a:ext>
            </a:extLst>
          </p:cNvPr>
          <p:cNvSpPr>
            <a:spLocks xmlns:a="http://schemas.openxmlformats.org/drawingml/2006/main" noGrp="1"/>
          </p:cNvSpPr>
          <p:nvPr/>
        </p:nvSpPr>
        <p:spPr>
          <a:xfrm xmlns:a="http://schemas.openxmlformats.org/drawingml/2006/main">
            <a:off x="762000" y="6419850"/>
            <a:ext cx="904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FFFFF"/>
                </a:solidFill>
                <a:latin typeface="Arial"/>
                <a:ea typeface="Arial"/>
                <a:cs typeface="Arial"/>
              </a:defRPr>
            </a:defPPr>
            <a:lvl1pPr algn="l">
              <a:defRPr sz="1050" b="0" i="0">
                <a:solidFill>
                  <a:srgbClr val="FFFFFF"/>
                </a:solidFill>
                <a:latin typeface="Arial"/>
                <a:ea typeface="Arial"/>
                <a:cs typeface="Arial"/>
              </a:defRPr>
            </a:lvl1pPr>
            <a:lvl2pPr algn="l">
              <a:defRPr sz="1050" b="0" i="0">
                <a:solidFill>
                  <a:srgbClr val="FFFFFF"/>
                </a:solidFill>
                <a:latin typeface="Arial"/>
                <a:ea typeface="Arial"/>
                <a:cs typeface="Arial"/>
              </a:defRPr>
            </a:lvl2pPr>
            <a:lvl3pPr algn="l">
              <a:defRPr sz="1050" b="0" i="0">
                <a:solidFill>
                  <a:srgbClr val="FFFFFF"/>
                </a:solidFill>
                <a:latin typeface="Arial"/>
                <a:ea typeface="Arial"/>
                <a:cs typeface="Arial"/>
              </a:defRPr>
            </a:lvl3pPr>
            <a:lvl4pPr algn="l">
              <a:defRPr sz="1050" b="0" i="0">
                <a:solidFill>
                  <a:srgbClr val="FFFFFF"/>
                </a:solidFill>
                <a:latin typeface="Arial"/>
                <a:ea typeface="Arial"/>
                <a:cs typeface="Arial"/>
              </a:defRPr>
            </a:lvl4pPr>
            <a:lvl5pPr algn="l">
              <a:defRPr sz="1050" b="0" i="0">
                <a:solidFill>
                  <a:srgbClr val="FFFFFF"/>
                </a:solidFill>
                <a:latin typeface="Arial"/>
                <a:ea typeface="Arial"/>
                <a:cs typeface="Arial"/>
              </a:defRPr>
            </a:lvl5pPr>
            <a:lvl6pPr algn="l">
              <a:defRPr sz="1050" b="0" i="0">
                <a:solidFill>
                  <a:srgbClr val="FFFFFF"/>
                </a:solidFill>
                <a:latin typeface="Arial"/>
                <a:ea typeface="Arial"/>
                <a:cs typeface="Arial"/>
              </a:defRPr>
            </a:lvl6pPr>
            <a:lvl7pPr algn="l">
              <a:defRPr sz="1050" b="0" i="0">
                <a:solidFill>
                  <a:srgbClr val="FFFFFF"/>
                </a:solidFill>
                <a:latin typeface="Arial"/>
                <a:ea typeface="Arial"/>
                <a:cs typeface="Arial"/>
              </a:defRPr>
            </a:lvl7pPr>
            <a:lvl8pPr algn="l">
              <a:defRPr sz="1050" b="0" i="0">
                <a:solidFill>
                  <a:srgbClr val="FFFFFF"/>
                </a:solidFill>
                <a:latin typeface="Arial"/>
                <a:ea typeface="Arial"/>
                <a:cs typeface="Arial"/>
              </a:defRPr>
            </a:lvl8pPr>
            <a:lvl9pPr algn="l">
              <a:defRPr sz="1050" b="0" i="0">
                <a:solidFill>
                  <a:srgbClr val="FFFFFF"/>
                </a:solidFill>
                <a:latin typeface="Arial"/>
                <a:ea typeface="Arial"/>
                <a:cs typeface="Arial"/>
              </a:defRPr>
            </a:lvl9pPr>
          </a:lstStyle>
          <a:p xmlns:a="http://schemas.openxmlformats.org/drawingml/2006/main">
            <a:pPr algn="l">
              <a:lnSpc>
                <a:spcPct val="102000"/>
              </a:lnSpc>
              <a:buNone/>
              <a:defRPr sz="1050" b="0" i="0">
                <a:solidFill>
                  <a:srgbClr val="FFFFFF"/>
                </a:solidFill>
                <a:latin typeface="Arial"/>
                <a:ea typeface="Arial"/>
                <a:cs typeface="Arial"/>
              </a:defRPr>
            </a:pPr>
            <a:r>
              <a:rPr sz="1050" b="0" i="0">
                <a:solidFill>
                  <a:srgbClr val="FFFFFF"/>
                </a:solidFill>
                <a:latin typeface="Arial"/>
                <a:ea typeface="Arial"/>
                <a:cs typeface="Arial"/>
              </a:rPr>
              <a:t>Italy: occasional services, no established presence</a:t>
            </a:r>
          </a:p>
        </p:txBody>
      </p:sp>
    </p:spTree>
    <p:extLst>
      <p:ext uri="{BB962C8B-B14F-4D97-AF65-F5344CB8AC3E}">
        <p14:creationId xmlns:p14="http://schemas.microsoft.com/office/powerpoint/2010/main" val="1951876453"/>
      </p:ext>
    </p:extLst>
  </p:cSld>
</p:sld>
</file>

<file path=ppt/slides/slide2.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6206A8-8C80-40D8-B5E8-B818575550E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B57C5B-2FDD-4077-B515-C65644B7763B}"/>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 / ABOUT US</a:t>
            </a:r>
          </a:p>
        </p:txBody>
      </p:sp>
      <p:sp>
        <p:nvSpPr>
          <p:cNvPr id="3" name="">
            <a:extLst xmlns:a="http://schemas.openxmlformats.org/drawingml/2006/main">
              <a:ext uri="{FF2B5EF4-FFF2-40B4-BE49-F238E27FC236}">
                <a16:creationId xmlns:a16="http://schemas.microsoft.com/office/drawing/2014/main" id="{CC3D020B-62B2-4613-8659-DA3627D9CC6F}"/>
              </a:ext>
            </a:extLst>
          </p:cNvPr>
          <p:cNvSpPr>
            <a:spLocks xmlns:a="http://schemas.openxmlformats.org/drawingml/2006/main" noGrp="1"/>
          </p:cNvSpPr>
          <p:nvPr/>
        </p:nvSpPr>
        <p:spPr>
          <a:xfrm xmlns:a="http://schemas.openxmlformats.org/drawingml/2006/main">
            <a:off x="762000" y="1028700"/>
            <a:ext cx="10668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84"/>
          </a:bodyPr>
          <a:lstStyle xmlns:a="http://schemas.openxmlformats.org/drawingml/2006/main">
            <a:defPPr algn="l">
              <a:defRPr sz="4800" b="0" i="0">
                <a:solidFill>
                  <a:srgbClr val="211D1A"/>
                </a:solidFill>
                <a:latin typeface="Georgia"/>
                <a:ea typeface="Georgia"/>
                <a:cs typeface="Georgia"/>
              </a:defRPr>
            </a:defPPr>
            <a:lvl1pPr algn="l">
              <a:defRPr sz="4800" b="0" i="0">
                <a:solidFill>
                  <a:srgbClr val="211D1A"/>
                </a:solidFill>
                <a:latin typeface="Georgia"/>
                <a:ea typeface="Georgia"/>
                <a:cs typeface="Georgia"/>
              </a:defRPr>
            </a:lvl1pPr>
            <a:lvl2pPr algn="l">
              <a:defRPr sz="4800" b="0" i="0">
                <a:solidFill>
                  <a:srgbClr val="211D1A"/>
                </a:solidFill>
                <a:latin typeface="Georgia"/>
                <a:ea typeface="Georgia"/>
                <a:cs typeface="Georgia"/>
              </a:defRPr>
            </a:lvl2pPr>
            <a:lvl3pPr algn="l">
              <a:defRPr sz="4800" b="0" i="0">
                <a:solidFill>
                  <a:srgbClr val="211D1A"/>
                </a:solidFill>
                <a:latin typeface="Georgia"/>
                <a:ea typeface="Georgia"/>
                <a:cs typeface="Georgia"/>
              </a:defRPr>
            </a:lvl3pPr>
            <a:lvl4pPr algn="l">
              <a:defRPr sz="4800" b="0" i="0">
                <a:solidFill>
                  <a:srgbClr val="211D1A"/>
                </a:solidFill>
                <a:latin typeface="Georgia"/>
                <a:ea typeface="Georgia"/>
                <a:cs typeface="Georgia"/>
              </a:defRPr>
            </a:lvl4pPr>
            <a:lvl5pPr algn="l">
              <a:defRPr sz="4800" b="0" i="0">
                <a:solidFill>
                  <a:srgbClr val="211D1A"/>
                </a:solidFill>
                <a:latin typeface="Georgia"/>
                <a:ea typeface="Georgia"/>
                <a:cs typeface="Georgia"/>
              </a:defRPr>
            </a:lvl5pPr>
            <a:lvl6pPr algn="l">
              <a:defRPr sz="4800" b="0" i="0">
                <a:solidFill>
                  <a:srgbClr val="211D1A"/>
                </a:solidFill>
                <a:latin typeface="Georgia"/>
                <a:ea typeface="Georgia"/>
                <a:cs typeface="Georgia"/>
              </a:defRPr>
            </a:lvl6pPr>
            <a:lvl7pPr algn="l">
              <a:defRPr sz="4800" b="0" i="0">
                <a:solidFill>
                  <a:srgbClr val="211D1A"/>
                </a:solidFill>
                <a:latin typeface="Georgia"/>
                <a:ea typeface="Georgia"/>
                <a:cs typeface="Georgia"/>
              </a:defRPr>
            </a:lvl7pPr>
            <a:lvl8pPr algn="l">
              <a:defRPr sz="4800" b="0" i="0">
                <a:solidFill>
                  <a:srgbClr val="211D1A"/>
                </a:solidFill>
                <a:latin typeface="Georgia"/>
                <a:ea typeface="Georgia"/>
                <a:cs typeface="Georgia"/>
              </a:defRPr>
            </a:lvl8pPr>
            <a:lvl9pPr algn="l">
              <a:defRPr sz="4800" b="0" i="0">
                <a:solidFill>
                  <a:srgbClr val="211D1A"/>
                </a:solidFill>
                <a:latin typeface="Georgia"/>
                <a:ea typeface="Georgia"/>
                <a:cs typeface="Georgia"/>
              </a:defRPr>
            </a:lvl9pPr>
          </a:lstStyle>
          <a:p xmlns:a="http://schemas.openxmlformats.org/drawingml/2006/main">
            <a:pPr algn="l">
              <a:lnSpc>
                <a:spcPct val="98000"/>
              </a:lnSpc>
              <a:buNone/>
              <a:defRPr sz="4800" b="0" i="0">
                <a:solidFill>
                  <a:srgbClr val="211D1A"/>
                </a:solidFill>
                <a:latin typeface="Georgia"/>
                <a:ea typeface="Georgia"/>
                <a:cs typeface="Georgia"/>
              </a:defRPr>
            </a:pPr>
            <a:r>
              <a:rPr sz="4800" b="0" i="0">
                <a:solidFill>
                  <a:srgbClr val="211D1A"/>
                </a:solidFill>
                <a:latin typeface="Georgia"/>
                <a:ea typeface="Georgia"/>
                <a:cs typeface="Georgia"/>
              </a:rPr>
              <a:t>A family business that grew with its customers</a:t>
            </a:r>
          </a:p>
        </p:txBody>
      </p:sp>
      <p:sp>
        <p:nvSpPr>
          <p:cNvPr id="4" name="">
            <a:extLst xmlns:a="http://schemas.openxmlformats.org/drawingml/2006/main">
              <a:ext uri="{FF2B5EF4-FFF2-40B4-BE49-F238E27FC236}">
                <a16:creationId xmlns:a16="http://schemas.microsoft.com/office/drawing/2014/main" id="{AFA87B87-9A8B-4DA7-9C5C-93FD8512E25B}"/>
              </a:ext>
            </a:extLst>
          </p:cNvPr>
          <p:cNvSpPr>
            <a:spLocks xmlns:a="http://schemas.openxmlformats.org/drawingml/2006/main" noGrp="1"/>
          </p:cNvSpPr>
          <p:nvPr/>
        </p:nvSpPr>
        <p:spPr>
          <a:xfrm xmlns:a="http://schemas.openxmlformats.org/drawingml/2006/main">
            <a:off x="762000" y="2362200"/>
            <a:ext cx="10001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211D1A"/>
                </a:solidFill>
                <a:latin typeface="Arial"/>
                <a:ea typeface="Arial"/>
                <a:cs typeface="Arial"/>
              </a:defRPr>
            </a:defPPr>
            <a:lvl1pPr algn="l">
              <a:defRPr sz="1650" b="0" i="0">
                <a:solidFill>
                  <a:srgbClr val="211D1A"/>
                </a:solidFill>
                <a:latin typeface="Arial"/>
                <a:ea typeface="Arial"/>
                <a:cs typeface="Arial"/>
              </a:defRPr>
            </a:lvl1pPr>
            <a:lvl2pPr algn="l">
              <a:defRPr sz="1650" b="0" i="0">
                <a:solidFill>
                  <a:srgbClr val="211D1A"/>
                </a:solidFill>
                <a:latin typeface="Arial"/>
                <a:ea typeface="Arial"/>
                <a:cs typeface="Arial"/>
              </a:defRPr>
            </a:lvl2pPr>
            <a:lvl3pPr algn="l">
              <a:defRPr sz="1650" b="0" i="0">
                <a:solidFill>
                  <a:srgbClr val="211D1A"/>
                </a:solidFill>
                <a:latin typeface="Arial"/>
                <a:ea typeface="Arial"/>
                <a:cs typeface="Arial"/>
              </a:defRPr>
            </a:lvl3pPr>
            <a:lvl4pPr algn="l">
              <a:defRPr sz="1650" b="0" i="0">
                <a:solidFill>
                  <a:srgbClr val="211D1A"/>
                </a:solidFill>
                <a:latin typeface="Arial"/>
                <a:ea typeface="Arial"/>
                <a:cs typeface="Arial"/>
              </a:defRPr>
            </a:lvl4pPr>
            <a:lvl5pPr algn="l">
              <a:defRPr sz="1650" b="0" i="0">
                <a:solidFill>
                  <a:srgbClr val="211D1A"/>
                </a:solidFill>
                <a:latin typeface="Arial"/>
                <a:ea typeface="Arial"/>
                <a:cs typeface="Arial"/>
              </a:defRPr>
            </a:lvl5pPr>
            <a:lvl6pPr algn="l">
              <a:defRPr sz="1650" b="0" i="0">
                <a:solidFill>
                  <a:srgbClr val="211D1A"/>
                </a:solidFill>
                <a:latin typeface="Arial"/>
                <a:ea typeface="Arial"/>
                <a:cs typeface="Arial"/>
              </a:defRPr>
            </a:lvl6pPr>
            <a:lvl7pPr algn="l">
              <a:defRPr sz="1650" b="0" i="0">
                <a:solidFill>
                  <a:srgbClr val="211D1A"/>
                </a:solidFill>
                <a:latin typeface="Arial"/>
                <a:ea typeface="Arial"/>
                <a:cs typeface="Arial"/>
              </a:defRPr>
            </a:lvl7pPr>
            <a:lvl8pPr algn="l">
              <a:defRPr sz="1650" b="0" i="0">
                <a:solidFill>
                  <a:srgbClr val="211D1A"/>
                </a:solidFill>
                <a:latin typeface="Arial"/>
                <a:ea typeface="Arial"/>
                <a:cs typeface="Arial"/>
              </a:defRPr>
            </a:lvl8pPr>
            <a:lvl9pPr algn="l">
              <a:defRPr sz="1650" b="0" i="0">
                <a:solidFill>
                  <a:srgbClr val="211D1A"/>
                </a:solidFill>
                <a:latin typeface="Arial"/>
                <a:ea typeface="Arial"/>
                <a:cs typeface="Arial"/>
              </a:defRPr>
            </a:lvl9pPr>
          </a:lstStyle>
          <a:p xmlns:a="http://schemas.openxmlformats.org/drawingml/2006/main">
            <a:pPr algn="l">
              <a:lnSpc>
                <a:spcPct val="102000"/>
              </a:lnSpc>
              <a:buNone/>
              <a:defRPr sz="1650" b="0" i="0">
                <a:solidFill>
                  <a:srgbClr val="211D1A"/>
                </a:solidFill>
                <a:latin typeface="Arial"/>
                <a:ea typeface="Arial"/>
                <a:cs typeface="Arial"/>
              </a:defRPr>
            </a:pPr>
            <a:r>
              <a:rPr sz="1650" b="0" i="0">
                <a:solidFill>
                  <a:srgbClr val="211D1A"/>
                </a:solidFill>
                <a:latin typeface="Arial"/>
                <a:ea typeface="Arial"/>
                <a:cs typeface="Arial"/>
              </a:rPr>
              <a:t>Since 1996, Sertranin has tailored its transport services to each operation. In 2011, Logística Javier Talavera was established to cover the full logistics journey.</a:t>
            </a:r>
          </a:p>
        </p:txBody>
      </p:sp>
      <p:sp>
        <p:nvSpPr>
          <p:cNvPr id="5" name="">
            <a:extLst xmlns:a="http://schemas.openxmlformats.org/drawingml/2006/main">
              <a:ext uri="{FF2B5EF4-FFF2-40B4-BE49-F238E27FC236}">
                <a16:creationId xmlns:a16="http://schemas.microsoft.com/office/drawing/2014/main" id="{D1C188D1-D34F-42C9-B0EB-10D3E9160B69}"/>
              </a:ext>
            </a:extLst>
          </p:cNvPr>
          <p:cNvSpPr>
            <a:spLocks xmlns:a="http://schemas.openxmlformats.org/drawingml/2006/main" noGrp="1"/>
          </p:cNvSpPr>
          <p:nvPr/>
        </p:nvSpPr>
        <p:spPr>
          <a:xfrm xmlns:a="http://schemas.openxmlformats.org/drawingml/2006/main">
            <a:off x="76200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4B4E16-A881-42F1-B965-C6CDE151821A}"/>
              </a:ext>
            </a:extLst>
          </p:cNvPr>
          <p:cNvSpPr>
            <a:spLocks xmlns:a="http://schemas.openxmlformats.org/drawingml/2006/main" noGrp="1"/>
          </p:cNvSpPr>
          <p:nvPr/>
        </p:nvSpPr>
        <p:spPr>
          <a:xfrm xmlns:a="http://schemas.openxmlformats.org/drawingml/2006/main">
            <a:off x="76200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1996</a:t>
            </a:r>
          </a:p>
        </p:txBody>
      </p:sp>
      <p:sp>
        <p:nvSpPr>
          <p:cNvPr id="7" name="">
            <a:extLst xmlns:a="http://schemas.openxmlformats.org/drawingml/2006/main">
              <a:ext uri="{FF2B5EF4-FFF2-40B4-BE49-F238E27FC236}">
                <a16:creationId xmlns:a16="http://schemas.microsoft.com/office/drawing/2014/main" id="{452926E1-1ECB-4A6B-AEB7-8227417B5A0C}"/>
              </a:ext>
            </a:extLst>
          </p:cNvPr>
          <p:cNvSpPr>
            <a:spLocks xmlns:a="http://schemas.openxmlformats.org/drawingml/2006/main" noGrp="1"/>
          </p:cNvSpPr>
          <p:nvPr/>
        </p:nvSpPr>
        <p:spPr>
          <a:xfrm xmlns:a="http://schemas.openxmlformats.org/drawingml/2006/main">
            <a:off x="76200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Sertranin is founded, initially specialising in bulk transport.</a:t>
            </a:r>
          </a:p>
        </p:txBody>
      </p:sp>
      <p:sp>
        <p:nvSpPr>
          <p:cNvPr id="8" name="">
            <a:extLst xmlns:a="http://schemas.openxmlformats.org/drawingml/2006/main">
              <a:ext uri="{FF2B5EF4-FFF2-40B4-BE49-F238E27FC236}">
                <a16:creationId xmlns:a16="http://schemas.microsoft.com/office/drawing/2014/main" id="{1CA7CF70-959E-491B-8EC9-35A2F106F22C}"/>
              </a:ext>
            </a:extLst>
          </p:cNvPr>
          <p:cNvSpPr>
            <a:spLocks xmlns:a="http://schemas.openxmlformats.org/drawingml/2006/main" noGrp="1"/>
          </p:cNvSpPr>
          <p:nvPr/>
        </p:nvSpPr>
        <p:spPr>
          <a:xfrm xmlns:a="http://schemas.openxmlformats.org/drawingml/2006/main">
            <a:off x="352425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B4013A-F04E-4ED8-8898-3DFB574F1BDE}"/>
              </a:ext>
            </a:extLst>
          </p:cNvPr>
          <p:cNvSpPr>
            <a:spLocks xmlns:a="http://schemas.openxmlformats.org/drawingml/2006/main" noGrp="1"/>
          </p:cNvSpPr>
          <p:nvPr/>
        </p:nvSpPr>
        <p:spPr>
          <a:xfrm xmlns:a="http://schemas.openxmlformats.org/drawingml/2006/main">
            <a:off x="352425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2008</a:t>
            </a:r>
          </a:p>
        </p:txBody>
      </p:sp>
      <p:sp>
        <p:nvSpPr>
          <p:cNvPr id="10" name="">
            <a:extLst xmlns:a="http://schemas.openxmlformats.org/drawingml/2006/main">
              <a:ext uri="{FF2B5EF4-FFF2-40B4-BE49-F238E27FC236}">
                <a16:creationId xmlns:a16="http://schemas.microsoft.com/office/drawing/2014/main" id="{D52797CF-467D-4655-9183-AC3536B5ADCC}"/>
              </a:ext>
            </a:extLst>
          </p:cNvPr>
          <p:cNvSpPr>
            <a:spLocks xmlns:a="http://schemas.openxmlformats.org/drawingml/2006/main" noGrp="1"/>
          </p:cNvSpPr>
          <p:nvPr/>
        </p:nvSpPr>
        <p:spPr>
          <a:xfrm xmlns:a="http://schemas.openxmlformats.org/drawingml/2006/main">
            <a:off x="352425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GPS is installed across the fleet, allowing customers to track their goods.</a:t>
            </a:r>
          </a:p>
        </p:txBody>
      </p:sp>
      <p:sp>
        <p:nvSpPr>
          <p:cNvPr id="11" name="">
            <a:extLst xmlns:a="http://schemas.openxmlformats.org/drawingml/2006/main">
              <a:ext uri="{FF2B5EF4-FFF2-40B4-BE49-F238E27FC236}">
                <a16:creationId xmlns:a16="http://schemas.microsoft.com/office/drawing/2014/main" id="{F0A24EA8-F4EF-4539-A63D-462198295F7D}"/>
              </a:ext>
            </a:extLst>
          </p:cNvPr>
          <p:cNvSpPr>
            <a:spLocks xmlns:a="http://schemas.openxmlformats.org/drawingml/2006/main" noGrp="1"/>
          </p:cNvSpPr>
          <p:nvPr/>
        </p:nvSpPr>
        <p:spPr>
          <a:xfrm xmlns:a="http://schemas.openxmlformats.org/drawingml/2006/main">
            <a:off x="628650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2D2AD4-0D14-4505-BC9A-CA860D752247}"/>
              </a:ext>
            </a:extLst>
          </p:cNvPr>
          <p:cNvSpPr>
            <a:spLocks xmlns:a="http://schemas.openxmlformats.org/drawingml/2006/main" noGrp="1"/>
          </p:cNvSpPr>
          <p:nvPr/>
        </p:nvSpPr>
        <p:spPr>
          <a:xfrm xmlns:a="http://schemas.openxmlformats.org/drawingml/2006/main">
            <a:off x="628650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2011</a:t>
            </a:r>
          </a:p>
        </p:txBody>
      </p:sp>
      <p:sp>
        <p:nvSpPr>
          <p:cNvPr id="13" name="">
            <a:extLst xmlns:a="http://schemas.openxmlformats.org/drawingml/2006/main">
              <a:ext uri="{FF2B5EF4-FFF2-40B4-BE49-F238E27FC236}">
                <a16:creationId xmlns:a16="http://schemas.microsoft.com/office/drawing/2014/main" id="{D137B823-B77B-45D5-B551-105558740559}"/>
              </a:ext>
            </a:extLst>
          </p:cNvPr>
          <p:cNvSpPr>
            <a:spLocks xmlns:a="http://schemas.openxmlformats.org/drawingml/2006/main" noGrp="1"/>
          </p:cNvSpPr>
          <p:nvPr/>
        </p:nvSpPr>
        <p:spPr>
          <a:xfrm xmlns:a="http://schemas.openxmlformats.org/drawingml/2006/main">
            <a:off x="628650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Logística Javier Talavera is established, broadening the group’s specialist services.</a:t>
            </a:r>
          </a:p>
        </p:txBody>
      </p:sp>
      <p:sp>
        <p:nvSpPr>
          <p:cNvPr id="14" name="">
            <a:extLst xmlns:a="http://schemas.openxmlformats.org/drawingml/2006/main">
              <a:ext uri="{FF2B5EF4-FFF2-40B4-BE49-F238E27FC236}">
                <a16:creationId xmlns:a16="http://schemas.microsoft.com/office/drawing/2014/main" id="{F72AD2C9-185A-46F3-A40E-08A38E619486}"/>
              </a:ext>
            </a:extLst>
          </p:cNvPr>
          <p:cNvSpPr>
            <a:spLocks xmlns:a="http://schemas.openxmlformats.org/drawingml/2006/main" noGrp="1"/>
          </p:cNvSpPr>
          <p:nvPr/>
        </p:nvSpPr>
        <p:spPr>
          <a:xfrm xmlns:a="http://schemas.openxmlformats.org/drawingml/2006/main">
            <a:off x="9048750" y="3667125"/>
            <a:ext cx="2286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AFAB8BB-2674-4B90-833E-BD1F7BF138F1}"/>
              </a:ext>
            </a:extLst>
          </p:cNvPr>
          <p:cNvSpPr>
            <a:spLocks xmlns:a="http://schemas.openxmlformats.org/drawingml/2006/main" noGrp="1"/>
          </p:cNvSpPr>
          <p:nvPr/>
        </p:nvSpPr>
        <p:spPr>
          <a:xfrm xmlns:a="http://schemas.openxmlformats.org/drawingml/2006/main">
            <a:off x="9048750" y="3876675"/>
            <a:ext cx="2381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CF1727"/>
                </a:solidFill>
                <a:latin typeface="Georgia"/>
                <a:ea typeface="Georgia"/>
                <a:cs typeface="Georgia"/>
              </a:defRPr>
            </a:defPPr>
            <a:lvl1pPr algn="l">
              <a:defRPr sz="5250" b="0" i="0">
                <a:solidFill>
                  <a:srgbClr val="CF1727"/>
                </a:solidFill>
                <a:latin typeface="Georgia"/>
                <a:ea typeface="Georgia"/>
                <a:cs typeface="Georgia"/>
              </a:defRPr>
            </a:lvl1pPr>
            <a:lvl2pPr algn="l">
              <a:defRPr sz="5250" b="0" i="0">
                <a:solidFill>
                  <a:srgbClr val="CF1727"/>
                </a:solidFill>
                <a:latin typeface="Georgia"/>
                <a:ea typeface="Georgia"/>
                <a:cs typeface="Georgia"/>
              </a:defRPr>
            </a:lvl2pPr>
            <a:lvl3pPr algn="l">
              <a:defRPr sz="5250" b="0" i="0">
                <a:solidFill>
                  <a:srgbClr val="CF1727"/>
                </a:solidFill>
                <a:latin typeface="Georgia"/>
                <a:ea typeface="Georgia"/>
                <a:cs typeface="Georgia"/>
              </a:defRPr>
            </a:lvl3pPr>
            <a:lvl4pPr algn="l">
              <a:defRPr sz="5250" b="0" i="0">
                <a:solidFill>
                  <a:srgbClr val="CF1727"/>
                </a:solidFill>
                <a:latin typeface="Georgia"/>
                <a:ea typeface="Georgia"/>
                <a:cs typeface="Georgia"/>
              </a:defRPr>
            </a:lvl4pPr>
            <a:lvl5pPr algn="l">
              <a:defRPr sz="5250" b="0" i="0">
                <a:solidFill>
                  <a:srgbClr val="CF1727"/>
                </a:solidFill>
                <a:latin typeface="Georgia"/>
                <a:ea typeface="Georgia"/>
                <a:cs typeface="Georgia"/>
              </a:defRPr>
            </a:lvl5pPr>
            <a:lvl6pPr algn="l">
              <a:defRPr sz="5250" b="0" i="0">
                <a:solidFill>
                  <a:srgbClr val="CF1727"/>
                </a:solidFill>
                <a:latin typeface="Georgia"/>
                <a:ea typeface="Georgia"/>
                <a:cs typeface="Georgia"/>
              </a:defRPr>
            </a:lvl6pPr>
            <a:lvl7pPr algn="l">
              <a:defRPr sz="5250" b="0" i="0">
                <a:solidFill>
                  <a:srgbClr val="CF1727"/>
                </a:solidFill>
                <a:latin typeface="Georgia"/>
                <a:ea typeface="Georgia"/>
                <a:cs typeface="Georgia"/>
              </a:defRPr>
            </a:lvl7pPr>
            <a:lvl8pPr algn="l">
              <a:defRPr sz="5250" b="0" i="0">
                <a:solidFill>
                  <a:srgbClr val="CF1727"/>
                </a:solidFill>
                <a:latin typeface="Georgia"/>
                <a:ea typeface="Georgia"/>
                <a:cs typeface="Georgia"/>
              </a:defRPr>
            </a:lvl8pPr>
            <a:lvl9pPr algn="l">
              <a:defRPr sz="5250" b="0" i="0">
                <a:solidFill>
                  <a:srgbClr val="CF1727"/>
                </a:solidFill>
                <a:latin typeface="Georgia"/>
                <a:ea typeface="Georgia"/>
                <a:cs typeface="Georgia"/>
              </a:defRPr>
            </a:lvl9pPr>
          </a:lstStyle>
          <a:p xmlns:a="http://schemas.openxmlformats.org/drawingml/2006/main">
            <a:pPr algn="l">
              <a:lnSpc>
                <a:spcPct val="102000"/>
              </a:lnSpc>
              <a:buNone/>
              <a:defRPr sz="5250" b="0" i="0">
                <a:solidFill>
                  <a:srgbClr val="CF1727"/>
                </a:solidFill>
                <a:latin typeface="Georgia"/>
                <a:ea typeface="Georgia"/>
                <a:cs typeface="Georgia"/>
              </a:defRPr>
            </a:pPr>
            <a:r>
              <a:rPr sz="5250" b="0" i="0">
                <a:solidFill>
                  <a:srgbClr val="CF1727"/>
                </a:solidFill>
                <a:latin typeface="Georgia"/>
                <a:ea typeface="Georgia"/>
                <a:cs typeface="Georgia"/>
              </a:rPr>
              <a:t>Today</a:t>
            </a:r>
          </a:p>
        </p:txBody>
      </p:sp>
      <p:sp>
        <p:nvSpPr>
          <p:cNvPr id="16" name="">
            <a:extLst xmlns:a="http://schemas.openxmlformats.org/drawingml/2006/main">
              <a:ext uri="{FF2B5EF4-FFF2-40B4-BE49-F238E27FC236}">
                <a16:creationId xmlns:a16="http://schemas.microsoft.com/office/drawing/2014/main" id="{A6C9A056-75A7-4476-8D76-21C557215FFF}"/>
              </a:ext>
            </a:extLst>
          </p:cNvPr>
          <p:cNvSpPr>
            <a:spLocks xmlns:a="http://schemas.openxmlformats.org/drawingml/2006/main" noGrp="1"/>
          </p:cNvSpPr>
          <p:nvPr/>
        </p:nvSpPr>
        <p:spPr>
          <a:xfrm xmlns:a="http://schemas.openxmlformats.org/drawingml/2006/main">
            <a:off x="9048750" y="4876800"/>
            <a:ext cx="23336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Three logistics bases and operations in Spain, Portugal, France and Germany.</a:t>
            </a:r>
          </a:p>
        </p:txBody>
      </p:sp>
      <p:sp>
        <p:nvSpPr>
          <p:cNvPr id="17" name="">
            <a:extLst xmlns:a="http://schemas.openxmlformats.org/drawingml/2006/main">
              <a:ext uri="{FF2B5EF4-FFF2-40B4-BE49-F238E27FC236}">
                <a16:creationId xmlns:a16="http://schemas.microsoft.com/office/drawing/2014/main" id="{754D5470-0F62-486A-89A0-AA5C216016A8}"/>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A7BD399-B5BD-427A-AD4B-442315A26450}"/>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01 / ABOUT US</a:t>
            </a:r>
          </a:p>
        </p:txBody>
      </p:sp>
      <p:sp>
        <p:nvSpPr>
          <p:cNvPr id="19" name="">
            <a:extLst xmlns:a="http://schemas.openxmlformats.org/drawingml/2006/main">
              <a:ext uri="{FF2B5EF4-FFF2-40B4-BE49-F238E27FC236}">
                <a16:creationId xmlns:a16="http://schemas.microsoft.com/office/drawing/2014/main" id="{761879E8-4903-486D-80B3-45AD0562236B}"/>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16</a:t>
            </a:r>
          </a:p>
        </p:txBody>
      </p:sp>
    </p:spTree>
    <p:extLst>
      <p:ext uri="{BB962C8B-B14F-4D97-AF65-F5344CB8AC3E}">
        <p14:creationId xmlns:p14="http://schemas.microsoft.com/office/powerpoint/2010/main" val="1666189357"/>
      </p:ext>
    </p:extLst>
  </p:cSld>
</p:sld>
</file>

<file path=ppt/slides/slide3.xml><?xml version="1.0" encoding="utf-8"?>
<p:sld xmlns:p="http://schemas.openxmlformats.org/presentationml/2006/main">
  <p:cSld>
    <p:bg>
      <p:bgPr>
        <a:solidFill xmlns:a="http://schemas.openxmlformats.org/drawingml/2006/main">
          <a:srgbClr val="CF172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A2C0A50-93DF-4292-85E6-DA9D165EB6DF}"/>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D1F15B-876E-4954-9DE0-5774DDC5E01A}"/>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A5452153-4CB1-47DD-8503-D36DF6CA0F27}"/>
              </a:ext>
            </a:extLst>
          </p:cNvPr>
          <p:cNvSpPr>
            <a:spLocks xmlns:a="http://schemas.openxmlformats.org/drawingml/2006/main" noGrp="1"/>
          </p:cNvSpPr>
          <p:nvPr/>
        </p:nvSpPr>
        <p:spPr>
          <a:xfrm xmlns:a="http://schemas.openxmlformats.org/drawingml/2006/main">
            <a:off x="762000" y="1143000"/>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defPPr algn="l">
              <a:defRPr sz="6825" b="0" i="0">
                <a:solidFill>
                  <a:srgbClr val="FFFFFF"/>
                </a:solidFill>
                <a:latin typeface="Georgia"/>
                <a:ea typeface="Georgia"/>
                <a:cs typeface="Georgia"/>
              </a:defRPr>
            </a:defPPr>
            <a:lvl1pPr algn="l">
              <a:defRPr sz="6825" b="0" i="0">
                <a:solidFill>
                  <a:srgbClr val="FFFFFF"/>
                </a:solidFill>
                <a:latin typeface="Georgia"/>
                <a:ea typeface="Georgia"/>
                <a:cs typeface="Georgia"/>
              </a:defRPr>
            </a:lvl1pPr>
            <a:lvl2pPr algn="l">
              <a:defRPr sz="6825" b="0" i="0">
                <a:solidFill>
                  <a:srgbClr val="FFFFFF"/>
                </a:solidFill>
                <a:latin typeface="Georgia"/>
                <a:ea typeface="Georgia"/>
                <a:cs typeface="Georgia"/>
              </a:defRPr>
            </a:lvl2pPr>
            <a:lvl3pPr algn="l">
              <a:defRPr sz="6825" b="0" i="0">
                <a:solidFill>
                  <a:srgbClr val="FFFFFF"/>
                </a:solidFill>
                <a:latin typeface="Georgia"/>
                <a:ea typeface="Georgia"/>
                <a:cs typeface="Georgia"/>
              </a:defRPr>
            </a:lvl3pPr>
            <a:lvl4pPr algn="l">
              <a:defRPr sz="6825" b="0" i="0">
                <a:solidFill>
                  <a:srgbClr val="FFFFFF"/>
                </a:solidFill>
                <a:latin typeface="Georgia"/>
                <a:ea typeface="Georgia"/>
                <a:cs typeface="Georgia"/>
              </a:defRPr>
            </a:lvl4pPr>
            <a:lvl5pPr algn="l">
              <a:defRPr sz="6825" b="0" i="0">
                <a:solidFill>
                  <a:srgbClr val="FFFFFF"/>
                </a:solidFill>
                <a:latin typeface="Georgia"/>
                <a:ea typeface="Georgia"/>
                <a:cs typeface="Georgia"/>
              </a:defRPr>
            </a:lvl5pPr>
            <a:lvl6pPr algn="l">
              <a:defRPr sz="6825" b="0" i="0">
                <a:solidFill>
                  <a:srgbClr val="FFFFFF"/>
                </a:solidFill>
                <a:latin typeface="Georgia"/>
                <a:ea typeface="Georgia"/>
                <a:cs typeface="Georgia"/>
              </a:defRPr>
            </a:lvl6pPr>
            <a:lvl7pPr algn="l">
              <a:defRPr sz="6825" b="0" i="0">
                <a:solidFill>
                  <a:srgbClr val="FFFFFF"/>
                </a:solidFill>
                <a:latin typeface="Georgia"/>
                <a:ea typeface="Georgia"/>
                <a:cs typeface="Georgia"/>
              </a:defRPr>
            </a:lvl7pPr>
            <a:lvl8pPr algn="l">
              <a:defRPr sz="6825" b="0" i="0">
                <a:solidFill>
                  <a:srgbClr val="FFFFFF"/>
                </a:solidFill>
                <a:latin typeface="Georgia"/>
                <a:ea typeface="Georgia"/>
                <a:cs typeface="Georgia"/>
              </a:defRPr>
            </a:lvl8pPr>
            <a:lvl9pPr algn="l">
              <a:defRPr sz="6825" b="0" i="0">
                <a:solidFill>
                  <a:srgbClr val="FFFFFF"/>
                </a:solidFill>
                <a:latin typeface="Georgia"/>
                <a:ea typeface="Georgia"/>
                <a:cs typeface="Georgia"/>
              </a:defRPr>
            </a:lvl9pPr>
          </a:lstStyle>
          <a:p xmlns:a="http://schemas.openxmlformats.org/drawingml/2006/main">
            <a:pPr algn="l">
              <a:lnSpc>
                <a:spcPct val="102000"/>
              </a:lnSpc>
              <a:buNone/>
              <a:defRPr sz="6825" b="0" i="0">
                <a:solidFill>
                  <a:srgbClr val="FFFFFF"/>
                </a:solidFill>
                <a:latin typeface="Georgia"/>
                <a:ea typeface="Georgia"/>
                <a:cs typeface="Georgia"/>
              </a:defRPr>
            </a:pPr>
            <a:r>
              <a:rPr sz="6825" b="0" i="0">
                <a:solidFill>
                  <a:srgbClr val="FFFFFF"/>
                </a:solidFill>
                <a:latin typeface="Georgia"/>
                <a:ea typeface="Georgia"/>
                <a:cs typeface="Georgia"/>
              </a:rPr>
              <a:t>The full</a:t>
            </a:r>
          </a:p>
        </p:txBody>
      </p:sp>
      <p:sp>
        <p:nvSpPr>
          <p:cNvPr id="4" name="">
            <a:extLst xmlns:a="http://schemas.openxmlformats.org/drawingml/2006/main">
              <a:ext uri="{FF2B5EF4-FFF2-40B4-BE49-F238E27FC236}">
                <a16:creationId xmlns:a16="http://schemas.microsoft.com/office/drawing/2014/main" id="{264C3C22-6521-4B8C-AD33-354A60AD6F6D}"/>
              </a:ext>
            </a:extLst>
          </p:cNvPr>
          <p:cNvSpPr>
            <a:spLocks xmlns:a="http://schemas.openxmlformats.org/drawingml/2006/main" noGrp="1"/>
          </p:cNvSpPr>
          <p:nvPr/>
        </p:nvSpPr>
        <p:spPr>
          <a:xfrm xmlns:a="http://schemas.openxmlformats.org/drawingml/2006/main">
            <a:off x="762000" y="206692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480"/>
          </a:bodyPr>
          <a:lstStyle xmlns:a="http://schemas.openxmlformats.org/drawingml/2006/main">
            <a:defPPr algn="l">
              <a:defRPr sz="7875" b="0" i="1">
                <a:solidFill>
                  <a:srgbClr val="FFD8CD"/>
                </a:solidFill>
                <a:latin typeface="Georgia"/>
                <a:ea typeface="Georgia"/>
                <a:cs typeface="Georgia"/>
              </a:defRPr>
            </a:defPPr>
            <a:lvl1pPr algn="l">
              <a:defRPr sz="7875" b="0" i="1">
                <a:solidFill>
                  <a:srgbClr val="FFD8CD"/>
                </a:solidFill>
                <a:latin typeface="Georgia"/>
                <a:ea typeface="Georgia"/>
                <a:cs typeface="Georgia"/>
              </a:defRPr>
            </a:lvl1pPr>
            <a:lvl2pPr algn="l">
              <a:defRPr sz="7875" b="0" i="1">
                <a:solidFill>
                  <a:srgbClr val="FFD8CD"/>
                </a:solidFill>
                <a:latin typeface="Georgia"/>
                <a:ea typeface="Georgia"/>
                <a:cs typeface="Georgia"/>
              </a:defRPr>
            </a:lvl2pPr>
            <a:lvl3pPr algn="l">
              <a:defRPr sz="7875" b="0" i="1">
                <a:solidFill>
                  <a:srgbClr val="FFD8CD"/>
                </a:solidFill>
                <a:latin typeface="Georgia"/>
                <a:ea typeface="Georgia"/>
                <a:cs typeface="Georgia"/>
              </a:defRPr>
            </a:lvl3pPr>
            <a:lvl4pPr algn="l">
              <a:defRPr sz="7875" b="0" i="1">
                <a:solidFill>
                  <a:srgbClr val="FFD8CD"/>
                </a:solidFill>
                <a:latin typeface="Georgia"/>
                <a:ea typeface="Georgia"/>
                <a:cs typeface="Georgia"/>
              </a:defRPr>
            </a:lvl4pPr>
            <a:lvl5pPr algn="l">
              <a:defRPr sz="7875" b="0" i="1">
                <a:solidFill>
                  <a:srgbClr val="FFD8CD"/>
                </a:solidFill>
                <a:latin typeface="Georgia"/>
                <a:ea typeface="Georgia"/>
                <a:cs typeface="Georgia"/>
              </a:defRPr>
            </a:lvl5pPr>
            <a:lvl6pPr algn="l">
              <a:defRPr sz="7875" b="0" i="1">
                <a:solidFill>
                  <a:srgbClr val="FFD8CD"/>
                </a:solidFill>
                <a:latin typeface="Georgia"/>
                <a:ea typeface="Georgia"/>
                <a:cs typeface="Georgia"/>
              </a:defRPr>
            </a:lvl6pPr>
            <a:lvl7pPr algn="l">
              <a:defRPr sz="7875" b="0" i="1">
                <a:solidFill>
                  <a:srgbClr val="FFD8CD"/>
                </a:solidFill>
                <a:latin typeface="Georgia"/>
                <a:ea typeface="Georgia"/>
                <a:cs typeface="Georgia"/>
              </a:defRPr>
            </a:lvl7pPr>
            <a:lvl8pPr algn="l">
              <a:defRPr sz="7875" b="0" i="1">
                <a:solidFill>
                  <a:srgbClr val="FFD8CD"/>
                </a:solidFill>
                <a:latin typeface="Georgia"/>
                <a:ea typeface="Georgia"/>
                <a:cs typeface="Georgia"/>
              </a:defRPr>
            </a:lvl8pPr>
            <a:lvl9pPr algn="l">
              <a:defRPr sz="7875" b="0" i="1">
                <a:solidFill>
                  <a:srgbClr val="FFD8CD"/>
                </a:solidFill>
                <a:latin typeface="Georgia"/>
                <a:ea typeface="Georgia"/>
                <a:cs typeface="Georgia"/>
              </a:defRPr>
            </a:lvl9pPr>
          </a:lstStyle>
          <a:p xmlns:a="http://schemas.openxmlformats.org/drawingml/2006/main">
            <a:pPr algn="l">
              <a:lnSpc>
                <a:spcPct val="102000"/>
              </a:lnSpc>
              <a:buNone/>
              <a:defRPr sz="7875" b="0" i="1">
                <a:solidFill>
                  <a:srgbClr val="FFD8CD"/>
                </a:solidFill>
                <a:latin typeface="Georgia"/>
                <a:ea typeface="Georgia"/>
                <a:cs typeface="Georgia"/>
              </a:defRPr>
            </a:pPr>
            <a:r>
              <a:rPr sz="7875" b="0" i="1">
                <a:solidFill>
                  <a:srgbClr val="FFD8CD"/>
                </a:solidFill>
                <a:latin typeface="Georgia"/>
                <a:ea typeface="Georgia"/>
                <a:cs typeface="Georgia"/>
              </a:rPr>
              <a:t>goods journey</a:t>
            </a:r>
          </a:p>
        </p:txBody>
      </p:sp>
      <p:sp>
        <p:nvSpPr>
          <p:cNvPr id="5" name="">
            <a:extLst xmlns:a="http://schemas.openxmlformats.org/drawingml/2006/main">
              <a:ext uri="{FF2B5EF4-FFF2-40B4-BE49-F238E27FC236}">
                <a16:creationId xmlns:a16="http://schemas.microsoft.com/office/drawing/2014/main" id="{7C6F6881-A47F-4B99-895B-3BA8AECE104B}"/>
              </a:ext>
            </a:extLst>
          </p:cNvPr>
          <p:cNvSpPr>
            <a:spLocks xmlns:a="http://schemas.openxmlformats.org/drawingml/2006/main" noGrp="1"/>
          </p:cNvSpPr>
          <p:nvPr/>
        </p:nvSpPr>
        <p:spPr>
          <a:xfrm xmlns:a="http://schemas.openxmlformats.org/drawingml/2006/main">
            <a:off x="762000" y="3362325"/>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FFF4F1"/>
                </a:solidFill>
                <a:latin typeface="Arial"/>
                <a:ea typeface="Arial"/>
                <a:cs typeface="Arial"/>
              </a:defRPr>
            </a:defPPr>
            <a:lvl1pPr algn="l">
              <a:defRPr sz="1800" b="0" i="0">
                <a:solidFill>
                  <a:srgbClr val="FFF4F1"/>
                </a:solidFill>
                <a:latin typeface="Arial"/>
                <a:ea typeface="Arial"/>
                <a:cs typeface="Arial"/>
              </a:defRPr>
            </a:lvl1pPr>
            <a:lvl2pPr algn="l">
              <a:defRPr sz="1800" b="0" i="0">
                <a:solidFill>
                  <a:srgbClr val="FFF4F1"/>
                </a:solidFill>
                <a:latin typeface="Arial"/>
                <a:ea typeface="Arial"/>
                <a:cs typeface="Arial"/>
              </a:defRPr>
            </a:lvl2pPr>
            <a:lvl3pPr algn="l">
              <a:defRPr sz="1800" b="0" i="0">
                <a:solidFill>
                  <a:srgbClr val="FFF4F1"/>
                </a:solidFill>
                <a:latin typeface="Arial"/>
                <a:ea typeface="Arial"/>
                <a:cs typeface="Arial"/>
              </a:defRPr>
            </a:lvl3pPr>
            <a:lvl4pPr algn="l">
              <a:defRPr sz="1800" b="0" i="0">
                <a:solidFill>
                  <a:srgbClr val="FFF4F1"/>
                </a:solidFill>
                <a:latin typeface="Arial"/>
                <a:ea typeface="Arial"/>
                <a:cs typeface="Arial"/>
              </a:defRPr>
            </a:lvl4pPr>
            <a:lvl5pPr algn="l">
              <a:defRPr sz="1800" b="0" i="0">
                <a:solidFill>
                  <a:srgbClr val="FFF4F1"/>
                </a:solidFill>
                <a:latin typeface="Arial"/>
                <a:ea typeface="Arial"/>
                <a:cs typeface="Arial"/>
              </a:defRPr>
            </a:lvl5pPr>
            <a:lvl6pPr algn="l">
              <a:defRPr sz="1800" b="0" i="0">
                <a:solidFill>
                  <a:srgbClr val="FFF4F1"/>
                </a:solidFill>
                <a:latin typeface="Arial"/>
                <a:ea typeface="Arial"/>
                <a:cs typeface="Arial"/>
              </a:defRPr>
            </a:lvl6pPr>
            <a:lvl7pPr algn="l">
              <a:defRPr sz="1800" b="0" i="0">
                <a:solidFill>
                  <a:srgbClr val="FFF4F1"/>
                </a:solidFill>
                <a:latin typeface="Arial"/>
                <a:ea typeface="Arial"/>
                <a:cs typeface="Arial"/>
              </a:defRPr>
            </a:lvl7pPr>
            <a:lvl8pPr algn="l">
              <a:defRPr sz="1800" b="0" i="0">
                <a:solidFill>
                  <a:srgbClr val="FFF4F1"/>
                </a:solidFill>
                <a:latin typeface="Arial"/>
                <a:ea typeface="Arial"/>
                <a:cs typeface="Arial"/>
              </a:defRPr>
            </a:lvl8pPr>
            <a:lvl9pPr algn="l">
              <a:defRPr sz="1800" b="0" i="0">
                <a:solidFill>
                  <a:srgbClr val="FFF4F1"/>
                </a:solidFill>
                <a:latin typeface="Arial"/>
                <a:ea typeface="Arial"/>
                <a:cs typeface="Arial"/>
              </a:defRPr>
            </a:lvl9pPr>
          </a:lstStyle>
          <a:p xmlns:a="http://schemas.openxmlformats.org/drawingml/2006/main">
            <a:pPr algn="l">
              <a:lnSpc>
                <a:spcPct val="102000"/>
              </a:lnSpc>
              <a:buNone/>
              <a:defRPr sz="1800" b="0" i="0">
                <a:solidFill>
                  <a:srgbClr val="FFF4F1"/>
                </a:solidFill>
                <a:latin typeface="Arial"/>
                <a:ea typeface="Arial"/>
                <a:cs typeface="Arial"/>
              </a:defRPr>
            </a:pPr>
            <a:r>
              <a:rPr sz="1800" b="0" i="0">
                <a:solidFill>
                  <a:srgbClr val="FFF4F1"/>
                </a:solidFill>
                <a:latin typeface="Arial"/>
                <a:ea typeface="Arial"/>
                <a:cs typeface="Arial"/>
              </a:rPr>
              <a:t>From collection to final delivery, with warehousing and order preparation so customers can focus on their core business.</a:t>
            </a:r>
          </a:p>
        </p:txBody>
      </p:sp>
      <p:sp>
        <p:nvSpPr>
          <p:cNvPr id="6" name="">
            <a:extLst xmlns:a="http://schemas.openxmlformats.org/drawingml/2006/main">
              <a:ext uri="{FF2B5EF4-FFF2-40B4-BE49-F238E27FC236}">
                <a16:creationId xmlns:a16="http://schemas.microsoft.com/office/drawing/2014/main" id="{EC912129-429D-4844-B9DF-950CAC523C11}"/>
              </a:ext>
            </a:extLst>
          </p:cNvPr>
          <p:cNvSpPr>
            <a:spLocks xmlns:a="http://schemas.openxmlformats.org/drawingml/2006/main" noGrp="1"/>
          </p:cNvSpPr>
          <p:nvPr/>
        </p:nvSpPr>
        <p:spPr>
          <a:xfrm xmlns:a="http://schemas.openxmlformats.org/drawingml/2006/main">
            <a:off x="76200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65B5051-70B3-4B53-BD8B-50AFCDAD8D35}"/>
              </a:ext>
            </a:extLst>
          </p:cNvPr>
          <p:cNvSpPr>
            <a:spLocks xmlns:a="http://schemas.openxmlformats.org/drawingml/2006/main" noGrp="1"/>
          </p:cNvSpPr>
          <p:nvPr/>
        </p:nvSpPr>
        <p:spPr>
          <a:xfrm xmlns:a="http://schemas.openxmlformats.org/drawingml/2006/main">
            <a:off x="76200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DCCDEFA-A512-4181-9B39-A9543929E49E}"/>
              </a:ext>
            </a:extLst>
          </p:cNvPr>
          <p:cNvSpPr>
            <a:spLocks xmlns:a="http://schemas.openxmlformats.org/drawingml/2006/main" noGrp="1"/>
          </p:cNvSpPr>
          <p:nvPr/>
        </p:nvSpPr>
        <p:spPr>
          <a:xfrm xmlns:a="http://schemas.openxmlformats.org/drawingml/2006/main">
            <a:off x="76200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Collection</a:t>
            </a:r>
          </a:p>
        </p:txBody>
      </p:sp>
      <p:sp>
        <p:nvSpPr>
          <p:cNvPr id="9" name="">
            <a:extLst xmlns:a="http://schemas.openxmlformats.org/drawingml/2006/main">
              <a:ext uri="{FF2B5EF4-FFF2-40B4-BE49-F238E27FC236}">
                <a16:creationId xmlns:a16="http://schemas.microsoft.com/office/drawing/2014/main" id="{4A3277DA-CC21-4F50-A946-9348222B5484}"/>
              </a:ext>
            </a:extLst>
          </p:cNvPr>
          <p:cNvSpPr>
            <a:spLocks xmlns:a="http://schemas.openxmlformats.org/drawingml/2006/main" noGrp="1"/>
          </p:cNvSpPr>
          <p:nvPr/>
        </p:nvSpPr>
        <p:spPr>
          <a:xfrm xmlns:a="http://schemas.openxmlformats.org/drawingml/2006/main">
            <a:off x="2905125"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36E354-8041-4475-BFE5-4D5BFE6DC2F4}"/>
              </a:ext>
            </a:extLst>
          </p:cNvPr>
          <p:cNvSpPr>
            <a:spLocks xmlns:a="http://schemas.openxmlformats.org/drawingml/2006/main" noGrp="1"/>
          </p:cNvSpPr>
          <p:nvPr/>
        </p:nvSpPr>
        <p:spPr>
          <a:xfrm xmlns:a="http://schemas.openxmlformats.org/drawingml/2006/main">
            <a:off x="2905125"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8C38144-DB5D-4333-A1BE-E27BA566862B}"/>
              </a:ext>
            </a:extLst>
          </p:cNvPr>
          <p:cNvSpPr>
            <a:spLocks xmlns:a="http://schemas.openxmlformats.org/drawingml/2006/main" noGrp="1"/>
          </p:cNvSpPr>
          <p:nvPr/>
        </p:nvSpPr>
        <p:spPr>
          <a:xfrm xmlns:a="http://schemas.openxmlformats.org/drawingml/2006/main">
            <a:off x="2905125"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Transport</a:t>
            </a:r>
          </a:p>
        </p:txBody>
      </p:sp>
      <p:sp>
        <p:nvSpPr>
          <p:cNvPr id="12" name="">
            <a:extLst xmlns:a="http://schemas.openxmlformats.org/drawingml/2006/main">
              <a:ext uri="{FF2B5EF4-FFF2-40B4-BE49-F238E27FC236}">
                <a16:creationId xmlns:a16="http://schemas.microsoft.com/office/drawing/2014/main" id="{93DF6872-6F14-4DE7-8D37-DB8B7DA5B08D}"/>
              </a:ext>
            </a:extLst>
          </p:cNvPr>
          <p:cNvSpPr>
            <a:spLocks xmlns:a="http://schemas.openxmlformats.org/drawingml/2006/main" noGrp="1"/>
          </p:cNvSpPr>
          <p:nvPr/>
        </p:nvSpPr>
        <p:spPr>
          <a:xfrm xmlns:a="http://schemas.openxmlformats.org/drawingml/2006/main">
            <a:off x="504825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C31DB99-6AF2-4014-9A1E-315DC8D7F45A}"/>
              </a:ext>
            </a:extLst>
          </p:cNvPr>
          <p:cNvSpPr>
            <a:spLocks xmlns:a="http://schemas.openxmlformats.org/drawingml/2006/main" noGrp="1"/>
          </p:cNvSpPr>
          <p:nvPr/>
        </p:nvSpPr>
        <p:spPr>
          <a:xfrm xmlns:a="http://schemas.openxmlformats.org/drawingml/2006/main">
            <a:off x="504825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A7F0CFA-6136-4F85-BDF2-A2D04D7B565A}"/>
              </a:ext>
            </a:extLst>
          </p:cNvPr>
          <p:cNvSpPr>
            <a:spLocks xmlns:a="http://schemas.openxmlformats.org/drawingml/2006/main" noGrp="1"/>
          </p:cNvSpPr>
          <p:nvPr/>
        </p:nvSpPr>
        <p:spPr>
          <a:xfrm xmlns:a="http://schemas.openxmlformats.org/drawingml/2006/main">
            <a:off x="504825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Warehousing</a:t>
            </a:r>
          </a:p>
        </p:txBody>
      </p:sp>
      <p:sp>
        <p:nvSpPr>
          <p:cNvPr id="15" name="">
            <a:extLst xmlns:a="http://schemas.openxmlformats.org/drawingml/2006/main">
              <a:ext uri="{FF2B5EF4-FFF2-40B4-BE49-F238E27FC236}">
                <a16:creationId xmlns:a16="http://schemas.microsoft.com/office/drawing/2014/main" id="{C48BDEED-97A1-4A0C-87F3-94E31F5B96EB}"/>
              </a:ext>
            </a:extLst>
          </p:cNvPr>
          <p:cNvSpPr>
            <a:spLocks xmlns:a="http://schemas.openxmlformats.org/drawingml/2006/main" noGrp="1"/>
          </p:cNvSpPr>
          <p:nvPr/>
        </p:nvSpPr>
        <p:spPr>
          <a:xfrm xmlns:a="http://schemas.openxmlformats.org/drawingml/2006/main">
            <a:off x="7191375"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140842C-5C08-44F5-AE60-39BEFE477BB8}"/>
              </a:ext>
            </a:extLst>
          </p:cNvPr>
          <p:cNvSpPr>
            <a:spLocks xmlns:a="http://schemas.openxmlformats.org/drawingml/2006/main" noGrp="1"/>
          </p:cNvSpPr>
          <p:nvPr/>
        </p:nvSpPr>
        <p:spPr>
          <a:xfrm xmlns:a="http://schemas.openxmlformats.org/drawingml/2006/main">
            <a:off x="7191375"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78E42EA-B5A4-47E2-B299-B9D439189EDA}"/>
              </a:ext>
            </a:extLst>
          </p:cNvPr>
          <p:cNvSpPr>
            <a:spLocks xmlns:a="http://schemas.openxmlformats.org/drawingml/2006/main" noGrp="1"/>
          </p:cNvSpPr>
          <p:nvPr/>
        </p:nvSpPr>
        <p:spPr>
          <a:xfrm xmlns:a="http://schemas.openxmlformats.org/drawingml/2006/main">
            <a:off x="7191375"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Order preparation</a:t>
            </a:r>
          </a:p>
        </p:txBody>
      </p:sp>
      <p:sp>
        <p:nvSpPr>
          <p:cNvPr id="18" name="">
            <a:extLst xmlns:a="http://schemas.openxmlformats.org/drawingml/2006/main">
              <a:ext uri="{FF2B5EF4-FFF2-40B4-BE49-F238E27FC236}">
                <a16:creationId xmlns:a16="http://schemas.microsoft.com/office/drawing/2014/main" id="{0D15853C-8B94-4BE8-ADFA-0717699AB898}"/>
              </a:ext>
            </a:extLst>
          </p:cNvPr>
          <p:cNvSpPr>
            <a:spLocks xmlns:a="http://schemas.openxmlformats.org/drawingml/2006/main" noGrp="1"/>
          </p:cNvSpPr>
          <p:nvPr/>
        </p:nvSpPr>
        <p:spPr>
          <a:xfrm xmlns:a="http://schemas.openxmlformats.org/drawingml/2006/main">
            <a:off x="9334500" y="4610100"/>
            <a:ext cx="1857375" cy="9525"/>
          </a:xfrm>
          <a:prstGeom xmlns:a="http://schemas.openxmlformats.org/drawingml/2006/main" prst="rect">
            <a:avLst/>
          </a:prstGeom>
          <a:solidFill xmlns:a="http://schemas.openxmlformats.org/drawingml/2006/main">
            <a:srgbClr val="FFFFFF">
              <a:alpha val="70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FC234C8-2ABF-40D6-8CB2-D520D846BEF1}"/>
              </a:ext>
            </a:extLst>
          </p:cNvPr>
          <p:cNvSpPr>
            <a:spLocks xmlns:a="http://schemas.openxmlformats.org/drawingml/2006/main" noGrp="1"/>
          </p:cNvSpPr>
          <p:nvPr/>
        </p:nvSpPr>
        <p:spPr>
          <a:xfrm xmlns:a="http://schemas.openxmlformats.org/drawingml/2006/main">
            <a:off x="9334500" y="47910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E4DF"/>
                </a:solidFill>
                <a:latin typeface="Arial"/>
                <a:ea typeface="Arial"/>
                <a:cs typeface="Arial"/>
              </a:defRPr>
            </a:defPPr>
            <a:lvl1pPr algn="l">
              <a:defRPr sz="975" b="1" i="0">
                <a:solidFill>
                  <a:srgbClr val="FFE4DF"/>
                </a:solidFill>
                <a:latin typeface="Arial"/>
                <a:ea typeface="Arial"/>
                <a:cs typeface="Arial"/>
              </a:defRPr>
            </a:lvl1pPr>
            <a:lvl2pPr algn="l">
              <a:defRPr sz="975" b="1" i="0">
                <a:solidFill>
                  <a:srgbClr val="FFE4DF"/>
                </a:solidFill>
                <a:latin typeface="Arial"/>
                <a:ea typeface="Arial"/>
                <a:cs typeface="Arial"/>
              </a:defRPr>
            </a:lvl2pPr>
            <a:lvl3pPr algn="l">
              <a:defRPr sz="975" b="1" i="0">
                <a:solidFill>
                  <a:srgbClr val="FFE4DF"/>
                </a:solidFill>
                <a:latin typeface="Arial"/>
                <a:ea typeface="Arial"/>
                <a:cs typeface="Arial"/>
              </a:defRPr>
            </a:lvl3pPr>
            <a:lvl4pPr algn="l">
              <a:defRPr sz="975" b="1" i="0">
                <a:solidFill>
                  <a:srgbClr val="FFE4DF"/>
                </a:solidFill>
                <a:latin typeface="Arial"/>
                <a:ea typeface="Arial"/>
                <a:cs typeface="Arial"/>
              </a:defRPr>
            </a:lvl4pPr>
            <a:lvl5pPr algn="l">
              <a:defRPr sz="975" b="1" i="0">
                <a:solidFill>
                  <a:srgbClr val="FFE4DF"/>
                </a:solidFill>
                <a:latin typeface="Arial"/>
                <a:ea typeface="Arial"/>
                <a:cs typeface="Arial"/>
              </a:defRPr>
            </a:lvl5pPr>
            <a:lvl6pPr algn="l">
              <a:defRPr sz="975" b="1" i="0">
                <a:solidFill>
                  <a:srgbClr val="FFE4DF"/>
                </a:solidFill>
                <a:latin typeface="Arial"/>
                <a:ea typeface="Arial"/>
                <a:cs typeface="Arial"/>
              </a:defRPr>
            </a:lvl6pPr>
            <a:lvl7pPr algn="l">
              <a:defRPr sz="975" b="1" i="0">
                <a:solidFill>
                  <a:srgbClr val="FFE4DF"/>
                </a:solidFill>
                <a:latin typeface="Arial"/>
                <a:ea typeface="Arial"/>
                <a:cs typeface="Arial"/>
              </a:defRPr>
            </a:lvl7pPr>
            <a:lvl8pPr algn="l">
              <a:defRPr sz="975" b="1" i="0">
                <a:solidFill>
                  <a:srgbClr val="FFE4DF"/>
                </a:solidFill>
                <a:latin typeface="Arial"/>
                <a:ea typeface="Arial"/>
                <a:cs typeface="Arial"/>
              </a:defRPr>
            </a:lvl8pPr>
            <a:lvl9pPr algn="l">
              <a:defRPr sz="975" b="1" i="0">
                <a:solidFill>
                  <a:srgbClr val="FFE4DF"/>
                </a:solidFill>
                <a:latin typeface="Arial"/>
                <a:ea typeface="Arial"/>
                <a:cs typeface="Arial"/>
              </a:defRPr>
            </a:lvl9pPr>
          </a:lstStyle>
          <a:p xmlns:a="http://schemas.openxmlformats.org/drawingml/2006/main">
            <a:pPr algn="l">
              <a:lnSpc>
                <a:spcPct val="102000"/>
              </a:lnSpc>
              <a:buNone/>
              <a:defRPr sz="975" b="1" i="0">
                <a:solidFill>
                  <a:srgbClr val="FFE4DF"/>
                </a:solidFill>
                <a:latin typeface="Arial"/>
                <a:ea typeface="Arial"/>
                <a:cs typeface="Arial"/>
              </a:defRPr>
            </a:pPr>
            <a:r>
              <a:rPr sz="975" b="1" i="0">
                <a:solidFill>
                  <a:srgbClr val="FFE4DF"/>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B5DE8693-ECFD-44D2-BDA2-B1F8022C37C7}"/>
              </a:ext>
            </a:extLst>
          </p:cNvPr>
          <p:cNvSpPr>
            <a:spLocks xmlns:a="http://schemas.openxmlformats.org/drawingml/2006/main" noGrp="1"/>
          </p:cNvSpPr>
          <p:nvPr/>
        </p:nvSpPr>
        <p:spPr>
          <a:xfrm xmlns:a="http://schemas.openxmlformats.org/drawingml/2006/main">
            <a:off x="9334500" y="5095875"/>
            <a:ext cx="190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FFFFFF"/>
                </a:solidFill>
                <a:latin typeface="Georgia"/>
                <a:ea typeface="Georgia"/>
                <a:cs typeface="Georgia"/>
              </a:defRPr>
            </a:defPPr>
            <a:lvl1pPr algn="l">
              <a:defRPr sz="2400" b="0" i="0">
                <a:solidFill>
                  <a:srgbClr val="FFFFFF"/>
                </a:solidFill>
                <a:latin typeface="Georgia"/>
                <a:ea typeface="Georgia"/>
                <a:cs typeface="Georgia"/>
              </a:defRPr>
            </a:lvl1pPr>
            <a:lvl2pPr algn="l">
              <a:defRPr sz="2400" b="0" i="0">
                <a:solidFill>
                  <a:srgbClr val="FFFFFF"/>
                </a:solidFill>
                <a:latin typeface="Georgia"/>
                <a:ea typeface="Georgia"/>
                <a:cs typeface="Georgia"/>
              </a:defRPr>
            </a:lvl2pPr>
            <a:lvl3pPr algn="l">
              <a:defRPr sz="2400" b="0" i="0">
                <a:solidFill>
                  <a:srgbClr val="FFFFFF"/>
                </a:solidFill>
                <a:latin typeface="Georgia"/>
                <a:ea typeface="Georgia"/>
                <a:cs typeface="Georgia"/>
              </a:defRPr>
            </a:lvl3pPr>
            <a:lvl4pPr algn="l">
              <a:defRPr sz="2400" b="0" i="0">
                <a:solidFill>
                  <a:srgbClr val="FFFFFF"/>
                </a:solidFill>
                <a:latin typeface="Georgia"/>
                <a:ea typeface="Georgia"/>
                <a:cs typeface="Georgia"/>
              </a:defRPr>
            </a:lvl4pPr>
            <a:lvl5pPr algn="l">
              <a:defRPr sz="2400" b="0" i="0">
                <a:solidFill>
                  <a:srgbClr val="FFFFFF"/>
                </a:solidFill>
                <a:latin typeface="Georgia"/>
                <a:ea typeface="Georgia"/>
                <a:cs typeface="Georgia"/>
              </a:defRPr>
            </a:lvl5pPr>
            <a:lvl6pPr algn="l">
              <a:defRPr sz="2400" b="0" i="0">
                <a:solidFill>
                  <a:srgbClr val="FFFFFF"/>
                </a:solidFill>
                <a:latin typeface="Georgia"/>
                <a:ea typeface="Georgia"/>
                <a:cs typeface="Georgia"/>
              </a:defRPr>
            </a:lvl6pPr>
            <a:lvl7pPr algn="l">
              <a:defRPr sz="2400" b="0" i="0">
                <a:solidFill>
                  <a:srgbClr val="FFFFFF"/>
                </a:solidFill>
                <a:latin typeface="Georgia"/>
                <a:ea typeface="Georgia"/>
                <a:cs typeface="Georgia"/>
              </a:defRPr>
            </a:lvl7pPr>
            <a:lvl8pPr algn="l">
              <a:defRPr sz="2400" b="0" i="0">
                <a:solidFill>
                  <a:srgbClr val="FFFFFF"/>
                </a:solidFill>
                <a:latin typeface="Georgia"/>
                <a:ea typeface="Georgia"/>
                <a:cs typeface="Georgia"/>
              </a:defRPr>
            </a:lvl8pPr>
            <a:lvl9pPr algn="l">
              <a:defRPr sz="2400" b="0" i="0">
                <a:solidFill>
                  <a:srgbClr val="FFFFFF"/>
                </a:solidFill>
                <a:latin typeface="Georgia"/>
                <a:ea typeface="Georgia"/>
                <a:cs typeface="Georgia"/>
              </a:defRPr>
            </a:lvl9pPr>
          </a:lstStyle>
          <a:p xmlns:a="http://schemas.openxmlformats.org/drawingml/2006/main">
            <a:pPr algn="l">
              <a:lnSpc>
                <a:spcPct val="102000"/>
              </a:lnSpc>
              <a:buNone/>
              <a:defRPr sz="2400" b="0" i="0">
                <a:solidFill>
                  <a:srgbClr val="FFFFFF"/>
                </a:solidFill>
                <a:latin typeface="Georgia"/>
                <a:ea typeface="Georgia"/>
                <a:cs typeface="Georgia"/>
              </a:defRPr>
            </a:pPr>
            <a:r>
              <a:rPr sz="2400" b="0" i="0">
                <a:solidFill>
                  <a:srgbClr val="FFFFFF"/>
                </a:solidFill>
                <a:latin typeface="Georgia"/>
                <a:ea typeface="Georgia"/>
                <a:cs typeface="Georgia"/>
              </a:rPr>
              <a:t>Delivery</a:t>
            </a:r>
          </a:p>
        </p:txBody>
      </p:sp>
      <p:sp>
        <p:nvSpPr>
          <p:cNvPr id="21" name="">
            <a:extLst xmlns:a="http://schemas.openxmlformats.org/drawingml/2006/main">
              <a:ext uri="{FF2B5EF4-FFF2-40B4-BE49-F238E27FC236}">
                <a16:creationId xmlns:a16="http://schemas.microsoft.com/office/drawing/2014/main" id="{78D2F103-C812-406C-B5B6-6B6B396C3778}"/>
              </a:ext>
            </a:extLst>
          </p:cNvPr>
          <p:cNvSpPr>
            <a:spLocks xmlns:a="http://schemas.openxmlformats.org/drawingml/2006/main" noGrp="1"/>
          </p:cNvSpPr>
          <p:nvPr/>
        </p:nvSpPr>
        <p:spPr>
          <a:xfrm xmlns:a="http://schemas.openxmlformats.org/drawingml/2006/main">
            <a:off x="762000" y="60198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E4DF"/>
                </a:solidFill>
                <a:latin typeface="Arial"/>
                <a:ea typeface="Arial"/>
                <a:cs typeface="Arial"/>
              </a:defRPr>
            </a:defPPr>
            <a:lvl1pPr algn="l">
              <a:defRPr sz="1200" b="0" i="0">
                <a:solidFill>
                  <a:srgbClr val="FFE4DF"/>
                </a:solidFill>
                <a:latin typeface="Arial"/>
                <a:ea typeface="Arial"/>
                <a:cs typeface="Arial"/>
              </a:defRPr>
            </a:lvl1pPr>
            <a:lvl2pPr algn="l">
              <a:defRPr sz="1200" b="0" i="0">
                <a:solidFill>
                  <a:srgbClr val="FFE4DF"/>
                </a:solidFill>
                <a:latin typeface="Arial"/>
                <a:ea typeface="Arial"/>
                <a:cs typeface="Arial"/>
              </a:defRPr>
            </a:lvl2pPr>
            <a:lvl3pPr algn="l">
              <a:defRPr sz="1200" b="0" i="0">
                <a:solidFill>
                  <a:srgbClr val="FFE4DF"/>
                </a:solidFill>
                <a:latin typeface="Arial"/>
                <a:ea typeface="Arial"/>
                <a:cs typeface="Arial"/>
              </a:defRPr>
            </a:lvl3pPr>
            <a:lvl4pPr algn="l">
              <a:defRPr sz="1200" b="0" i="0">
                <a:solidFill>
                  <a:srgbClr val="FFE4DF"/>
                </a:solidFill>
                <a:latin typeface="Arial"/>
                <a:ea typeface="Arial"/>
                <a:cs typeface="Arial"/>
              </a:defRPr>
            </a:lvl4pPr>
            <a:lvl5pPr algn="l">
              <a:defRPr sz="1200" b="0" i="0">
                <a:solidFill>
                  <a:srgbClr val="FFE4DF"/>
                </a:solidFill>
                <a:latin typeface="Arial"/>
                <a:ea typeface="Arial"/>
                <a:cs typeface="Arial"/>
              </a:defRPr>
            </a:lvl5pPr>
            <a:lvl6pPr algn="l">
              <a:defRPr sz="1200" b="0" i="0">
                <a:solidFill>
                  <a:srgbClr val="FFE4DF"/>
                </a:solidFill>
                <a:latin typeface="Arial"/>
                <a:ea typeface="Arial"/>
                <a:cs typeface="Arial"/>
              </a:defRPr>
            </a:lvl6pPr>
            <a:lvl7pPr algn="l">
              <a:defRPr sz="1200" b="0" i="0">
                <a:solidFill>
                  <a:srgbClr val="FFE4DF"/>
                </a:solidFill>
                <a:latin typeface="Arial"/>
                <a:ea typeface="Arial"/>
                <a:cs typeface="Arial"/>
              </a:defRPr>
            </a:lvl7pPr>
            <a:lvl8pPr algn="l">
              <a:defRPr sz="1200" b="0" i="0">
                <a:solidFill>
                  <a:srgbClr val="FFE4DF"/>
                </a:solidFill>
                <a:latin typeface="Arial"/>
                <a:ea typeface="Arial"/>
                <a:cs typeface="Arial"/>
              </a:defRPr>
            </a:lvl8pPr>
            <a:lvl9pPr algn="l">
              <a:defRPr sz="1200" b="0" i="0">
                <a:solidFill>
                  <a:srgbClr val="FFE4DF"/>
                </a:solidFill>
                <a:latin typeface="Arial"/>
                <a:ea typeface="Arial"/>
                <a:cs typeface="Arial"/>
              </a:defRPr>
            </a:lvl9pPr>
          </a:lstStyle>
          <a:p xmlns:a="http://schemas.openxmlformats.org/drawingml/2006/main">
            <a:pPr algn="l">
              <a:lnSpc>
                <a:spcPct val="102000"/>
              </a:lnSpc>
              <a:buNone/>
              <a:defRPr sz="1200" b="0" i="0">
                <a:solidFill>
                  <a:srgbClr val="FFE4DF"/>
                </a:solidFill>
                <a:latin typeface="Arial"/>
                <a:ea typeface="Arial"/>
                <a:cs typeface="Arial"/>
              </a:defRPr>
            </a:pPr>
            <a:r>
              <a:rPr sz="1200" b="0" i="0">
                <a:solidFill>
                  <a:srgbClr val="FFE4DF"/>
                </a:solidFill>
                <a:latin typeface="Arial"/>
                <a:ea typeface="Arial"/>
                <a:cs typeface="Arial"/>
              </a:rPr>
              <a:t>Eight specialist services for different operations.</a:t>
            </a:r>
          </a:p>
        </p:txBody>
      </p:sp>
      <p:sp>
        <p:nvSpPr>
          <p:cNvPr id="22" name="">
            <a:extLst xmlns:a="http://schemas.openxmlformats.org/drawingml/2006/main">
              <a:ext uri="{FF2B5EF4-FFF2-40B4-BE49-F238E27FC236}">
                <a16:creationId xmlns:a16="http://schemas.microsoft.com/office/drawing/2014/main" id="{A35F14EA-0A89-4E09-B73F-B17BD2CC5F57}"/>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0D03364-9C44-4BD7-AF3D-C6B415C500D3}"/>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02 / WHAT WE DO</a:t>
            </a:r>
          </a:p>
        </p:txBody>
      </p:sp>
      <p:sp>
        <p:nvSpPr>
          <p:cNvPr id="24" name="">
            <a:extLst xmlns:a="http://schemas.openxmlformats.org/drawingml/2006/main">
              <a:ext uri="{FF2B5EF4-FFF2-40B4-BE49-F238E27FC236}">
                <a16:creationId xmlns:a16="http://schemas.microsoft.com/office/drawing/2014/main" id="{3BC88DBF-3F5A-4DBF-A55B-22329E6E6686}"/>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03 / 16</a:t>
            </a:r>
          </a:p>
        </p:txBody>
      </p:sp>
    </p:spTree>
    <p:extLst>
      <p:ext uri="{BB962C8B-B14F-4D97-AF65-F5344CB8AC3E}">
        <p14:creationId xmlns:p14="http://schemas.microsoft.com/office/powerpoint/2010/main" val="521387791"/>
      </p:ext>
    </p:extLst>
  </p:cSld>
</p:sld>
</file>

<file path=ppt/slides/slide4.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1B04179-981A-4560-BA5B-5B7FEE05EF42}"/>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EFCF55-6F0D-4AC3-BDCB-BEB8EF470D02}"/>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EDEB2668-6DB0-4743-80DF-1227C38B07A9}"/>
              </a:ext>
            </a:extLst>
          </p:cNvPr>
          <p:cNvSpPr>
            <a:spLocks xmlns:a="http://schemas.openxmlformats.org/drawingml/2006/main" noGrp="1"/>
          </p:cNvSpPr>
          <p:nvPr/>
        </p:nvSpPr>
        <p:spPr>
          <a:xfrm xmlns:a="http://schemas.openxmlformats.org/drawingml/2006/main">
            <a:off x="762000" y="102870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0" i="0">
                <a:solidFill>
                  <a:srgbClr val="211D1A"/>
                </a:solidFill>
                <a:latin typeface="Georgia"/>
                <a:ea typeface="Georgia"/>
                <a:cs typeface="Georgia"/>
              </a:defRPr>
            </a:defPPr>
            <a:lvl1pPr algn="l">
              <a:defRPr sz="4650" b="0" i="0">
                <a:solidFill>
                  <a:srgbClr val="211D1A"/>
                </a:solidFill>
                <a:latin typeface="Georgia"/>
                <a:ea typeface="Georgia"/>
                <a:cs typeface="Georgia"/>
              </a:defRPr>
            </a:lvl1pPr>
            <a:lvl2pPr algn="l">
              <a:defRPr sz="4650" b="0" i="0">
                <a:solidFill>
                  <a:srgbClr val="211D1A"/>
                </a:solidFill>
                <a:latin typeface="Georgia"/>
                <a:ea typeface="Georgia"/>
                <a:cs typeface="Georgia"/>
              </a:defRPr>
            </a:lvl2pPr>
            <a:lvl3pPr algn="l">
              <a:defRPr sz="4650" b="0" i="0">
                <a:solidFill>
                  <a:srgbClr val="211D1A"/>
                </a:solidFill>
                <a:latin typeface="Georgia"/>
                <a:ea typeface="Georgia"/>
                <a:cs typeface="Georgia"/>
              </a:defRPr>
            </a:lvl3pPr>
            <a:lvl4pPr algn="l">
              <a:defRPr sz="4650" b="0" i="0">
                <a:solidFill>
                  <a:srgbClr val="211D1A"/>
                </a:solidFill>
                <a:latin typeface="Georgia"/>
                <a:ea typeface="Georgia"/>
                <a:cs typeface="Georgia"/>
              </a:defRPr>
            </a:lvl4pPr>
            <a:lvl5pPr algn="l">
              <a:defRPr sz="4650" b="0" i="0">
                <a:solidFill>
                  <a:srgbClr val="211D1A"/>
                </a:solidFill>
                <a:latin typeface="Georgia"/>
                <a:ea typeface="Georgia"/>
                <a:cs typeface="Georgia"/>
              </a:defRPr>
            </a:lvl5pPr>
            <a:lvl6pPr algn="l">
              <a:defRPr sz="4650" b="0" i="0">
                <a:solidFill>
                  <a:srgbClr val="211D1A"/>
                </a:solidFill>
                <a:latin typeface="Georgia"/>
                <a:ea typeface="Georgia"/>
                <a:cs typeface="Georgia"/>
              </a:defRPr>
            </a:lvl6pPr>
            <a:lvl7pPr algn="l">
              <a:defRPr sz="4650" b="0" i="0">
                <a:solidFill>
                  <a:srgbClr val="211D1A"/>
                </a:solidFill>
                <a:latin typeface="Georgia"/>
                <a:ea typeface="Georgia"/>
                <a:cs typeface="Georgia"/>
              </a:defRPr>
            </a:lvl7pPr>
            <a:lvl8pPr algn="l">
              <a:defRPr sz="4650" b="0" i="0">
                <a:solidFill>
                  <a:srgbClr val="211D1A"/>
                </a:solidFill>
                <a:latin typeface="Georgia"/>
                <a:ea typeface="Georgia"/>
                <a:cs typeface="Georgia"/>
              </a:defRPr>
            </a:lvl8pPr>
            <a:lvl9pPr algn="l">
              <a:defRPr sz="4650" b="0" i="0">
                <a:solidFill>
                  <a:srgbClr val="211D1A"/>
                </a:solidFill>
                <a:latin typeface="Georgia"/>
                <a:ea typeface="Georgia"/>
                <a:cs typeface="Georgia"/>
              </a:defRPr>
            </a:lvl9pPr>
          </a:lstStyle>
          <a:p xmlns:a="http://schemas.openxmlformats.org/drawingml/2006/main">
            <a:pPr algn="l">
              <a:lnSpc>
                <a:spcPct val="98000"/>
              </a:lnSpc>
              <a:buNone/>
              <a:defRPr sz="4650" b="0" i="0">
                <a:solidFill>
                  <a:srgbClr val="211D1A"/>
                </a:solidFill>
                <a:latin typeface="Georgia"/>
                <a:ea typeface="Georgia"/>
                <a:cs typeface="Georgia"/>
              </a:defRPr>
            </a:pPr>
            <a:r>
              <a:rPr sz="4650" b="0" i="0">
                <a:solidFill>
                  <a:srgbClr val="211D1A"/>
                </a:solidFill>
                <a:latin typeface="Georgia"/>
                <a:ea typeface="Georgia"/>
                <a:cs typeface="Georgia"/>
              </a:rPr>
              <a:t>Eight specialist services. One group</a:t>
            </a:r>
          </a:p>
        </p:txBody>
      </p:sp>
      <p:sp>
        <p:nvSpPr>
          <p:cNvPr id="4" name="">
            <a:extLst xmlns:a="http://schemas.openxmlformats.org/drawingml/2006/main">
              <a:ext uri="{FF2B5EF4-FFF2-40B4-BE49-F238E27FC236}">
                <a16:creationId xmlns:a16="http://schemas.microsoft.com/office/drawing/2014/main" id="{B8727442-9F44-4EF2-AD91-2A88F95619C3}"/>
              </a:ext>
            </a:extLst>
          </p:cNvPr>
          <p:cNvSpPr>
            <a:spLocks xmlns:a="http://schemas.openxmlformats.org/drawingml/2006/main" noGrp="1"/>
          </p:cNvSpPr>
          <p:nvPr/>
        </p:nvSpPr>
        <p:spPr>
          <a:xfrm xmlns:a="http://schemas.openxmlformats.org/drawingml/2006/main">
            <a:off x="762000" y="235267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C625E"/>
                </a:solidFill>
                <a:latin typeface="Arial"/>
                <a:ea typeface="Arial"/>
                <a:cs typeface="Arial"/>
              </a:defRPr>
            </a:defPPr>
            <a:lvl1pPr algn="l">
              <a:defRPr sz="1575" b="0" i="0">
                <a:solidFill>
                  <a:srgbClr val="6C625E"/>
                </a:solidFill>
                <a:latin typeface="Arial"/>
                <a:ea typeface="Arial"/>
                <a:cs typeface="Arial"/>
              </a:defRPr>
            </a:lvl1pPr>
            <a:lvl2pPr algn="l">
              <a:defRPr sz="1575" b="0" i="0">
                <a:solidFill>
                  <a:srgbClr val="6C625E"/>
                </a:solidFill>
                <a:latin typeface="Arial"/>
                <a:ea typeface="Arial"/>
                <a:cs typeface="Arial"/>
              </a:defRPr>
            </a:lvl2pPr>
            <a:lvl3pPr algn="l">
              <a:defRPr sz="1575" b="0" i="0">
                <a:solidFill>
                  <a:srgbClr val="6C625E"/>
                </a:solidFill>
                <a:latin typeface="Arial"/>
                <a:ea typeface="Arial"/>
                <a:cs typeface="Arial"/>
              </a:defRPr>
            </a:lvl3pPr>
            <a:lvl4pPr algn="l">
              <a:defRPr sz="1575" b="0" i="0">
                <a:solidFill>
                  <a:srgbClr val="6C625E"/>
                </a:solidFill>
                <a:latin typeface="Arial"/>
                <a:ea typeface="Arial"/>
                <a:cs typeface="Arial"/>
              </a:defRPr>
            </a:lvl4pPr>
            <a:lvl5pPr algn="l">
              <a:defRPr sz="1575" b="0" i="0">
                <a:solidFill>
                  <a:srgbClr val="6C625E"/>
                </a:solidFill>
                <a:latin typeface="Arial"/>
                <a:ea typeface="Arial"/>
                <a:cs typeface="Arial"/>
              </a:defRPr>
            </a:lvl5pPr>
            <a:lvl6pPr algn="l">
              <a:defRPr sz="1575" b="0" i="0">
                <a:solidFill>
                  <a:srgbClr val="6C625E"/>
                </a:solidFill>
                <a:latin typeface="Arial"/>
                <a:ea typeface="Arial"/>
                <a:cs typeface="Arial"/>
              </a:defRPr>
            </a:lvl6pPr>
            <a:lvl7pPr algn="l">
              <a:defRPr sz="1575" b="0" i="0">
                <a:solidFill>
                  <a:srgbClr val="6C625E"/>
                </a:solidFill>
                <a:latin typeface="Arial"/>
                <a:ea typeface="Arial"/>
                <a:cs typeface="Arial"/>
              </a:defRPr>
            </a:lvl7pPr>
            <a:lvl8pPr algn="l">
              <a:defRPr sz="1575" b="0" i="0">
                <a:solidFill>
                  <a:srgbClr val="6C625E"/>
                </a:solidFill>
                <a:latin typeface="Arial"/>
                <a:ea typeface="Arial"/>
                <a:cs typeface="Arial"/>
              </a:defRPr>
            </a:lvl8pPr>
            <a:lvl9pPr algn="l">
              <a:defRPr sz="1575" b="0" i="0">
                <a:solidFill>
                  <a:srgbClr val="6C625E"/>
                </a:solidFill>
                <a:latin typeface="Arial"/>
                <a:ea typeface="Arial"/>
                <a:cs typeface="Arial"/>
              </a:defRPr>
            </a:lvl9pPr>
          </a:lstStyle>
          <a:p xmlns:a="http://schemas.openxmlformats.org/drawingml/2006/main">
            <a:pPr algn="l">
              <a:lnSpc>
                <a:spcPct val="102000"/>
              </a:lnSpc>
              <a:buNone/>
              <a:defRPr sz="1575" b="0" i="0">
                <a:solidFill>
                  <a:srgbClr val="6C625E"/>
                </a:solidFill>
                <a:latin typeface="Arial"/>
                <a:ea typeface="Arial"/>
                <a:cs typeface="Arial"/>
              </a:defRPr>
            </a:pPr>
            <a:r>
              <a:rPr sz="1575" b="0" i="0">
                <a:solidFill>
                  <a:srgbClr val="6C625E"/>
                </a:solidFill>
                <a:latin typeface="Arial"/>
                <a:ea typeface="Arial"/>
                <a:cs typeface="Arial"/>
              </a:rPr>
              <a:t>Each service has its own equipment and operational know-how.</a:t>
            </a:r>
          </a:p>
        </p:txBody>
      </p:sp>
      <p:sp>
        <p:nvSpPr>
          <p:cNvPr id="5" name="">
            <a:extLst xmlns:a="http://schemas.openxmlformats.org/drawingml/2006/main">
              <a:ext uri="{FF2B5EF4-FFF2-40B4-BE49-F238E27FC236}">
                <a16:creationId xmlns:a16="http://schemas.microsoft.com/office/drawing/2014/main" id="{9091C7F7-C50B-44E0-9949-9220055FDA41}"/>
              </a:ext>
            </a:extLst>
          </p:cNvPr>
          <p:cNvSpPr>
            <a:spLocks xmlns:a="http://schemas.openxmlformats.org/drawingml/2006/main" noGrp="1"/>
          </p:cNvSpPr>
          <p:nvPr/>
        </p:nvSpPr>
        <p:spPr>
          <a:xfrm xmlns:a="http://schemas.openxmlformats.org/drawingml/2006/main">
            <a:off x="762000" y="30670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163082C-90F7-495E-9857-C144E5F9EC00}"/>
              </a:ext>
            </a:extLst>
          </p:cNvPr>
          <p:cNvSpPr>
            <a:spLocks xmlns:a="http://schemas.openxmlformats.org/drawingml/2006/main" noGrp="1"/>
          </p:cNvSpPr>
          <p:nvPr/>
        </p:nvSpPr>
        <p:spPr>
          <a:xfrm xmlns:a="http://schemas.openxmlformats.org/drawingml/2006/main">
            <a:off x="762000" y="3257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B3E4A6F-7A24-44DD-BBB0-7F009057F365}"/>
              </a:ext>
            </a:extLst>
          </p:cNvPr>
          <p:cNvSpPr>
            <a:spLocks xmlns:a="http://schemas.openxmlformats.org/drawingml/2006/main" noGrp="1"/>
          </p:cNvSpPr>
          <p:nvPr/>
        </p:nvSpPr>
        <p:spPr>
          <a:xfrm xmlns:a="http://schemas.openxmlformats.org/drawingml/2006/main">
            <a:off x="1276350" y="31623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Bulk goods</a:t>
            </a:r>
          </a:p>
        </p:txBody>
      </p:sp>
      <p:sp>
        <p:nvSpPr>
          <p:cNvPr id="8" name="">
            <a:extLst xmlns:a="http://schemas.openxmlformats.org/drawingml/2006/main">
              <a:ext uri="{FF2B5EF4-FFF2-40B4-BE49-F238E27FC236}">
                <a16:creationId xmlns:a16="http://schemas.microsoft.com/office/drawing/2014/main" id="{140AF028-8A13-46DB-878B-51EE89FBB165}"/>
              </a:ext>
            </a:extLst>
          </p:cNvPr>
          <p:cNvSpPr>
            <a:spLocks xmlns:a="http://schemas.openxmlformats.org/drawingml/2006/main" noGrp="1"/>
          </p:cNvSpPr>
          <p:nvPr/>
        </p:nvSpPr>
        <p:spPr>
          <a:xfrm xmlns:a="http://schemas.openxmlformats.org/drawingml/2006/main">
            <a:off x="762000" y="38100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60050B-9CAA-465A-98A1-A1AC36EFC1A8}"/>
              </a:ext>
            </a:extLst>
          </p:cNvPr>
          <p:cNvSpPr>
            <a:spLocks xmlns:a="http://schemas.openxmlformats.org/drawingml/2006/main" noGrp="1"/>
          </p:cNvSpPr>
          <p:nvPr/>
        </p:nvSpPr>
        <p:spPr>
          <a:xfrm xmlns:a="http://schemas.openxmlformats.org/drawingml/2006/main">
            <a:off x="762000" y="4000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E9F2E97E-2FDD-4F27-9D9B-8C892BA8F494}"/>
              </a:ext>
            </a:extLst>
          </p:cNvPr>
          <p:cNvSpPr>
            <a:spLocks xmlns:a="http://schemas.openxmlformats.org/drawingml/2006/main" noGrp="1"/>
          </p:cNvSpPr>
          <p:nvPr/>
        </p:nvSpPr>
        <p:spPr>
          <a:xfrm xmlns:a="http://schemas.openxmlformats.org/drawingml/2006/main">
            <a:off x="1276350" y="39052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211D1A"/>
                </a:solidFill>
                <a:latin typeface="Georgia"/>
                <a:ea typeface="Georgia"/>
                <a:cs typeface="Georgia"/>
              </a:defRPr>
            </a:defPPr>
            <a:lvl1pPr algn="l">
              <a:defRPr sz="2100" b="0" i="0">
                <a:solidFill>
                  <a:srgbClr val="211D1A"/>
                </a:solidFill>
                <a:latin typeface="Georgia"/>
                <a:ea typeface="Georgia"/>
                <a:cs typeface="Georgia"/>
              </a:defRPr>
            </a:lvl1pPr>
            <a:lvl2pPr algn="l">
              <a:defRPr sz="2100" b="0" i="0">
                <a:solidFill>
                  <a:srgbClr val="211D1A"/>
                </a:solidFill>
                <a:latin typeface="Georgia"/>
                <a:ea typeface="Georgia"/>
                <a:cs typeface="Georgia"/>
              </a:defRPr>
            </a:lvl2pPr>
            <a:lvl3pPr algn="l">
              <a:defRPr sz="2100" b="0" i="0">
                <a:solidFill>
                  <a:srgbClr val="211D1A"/>
                </a:solidFill>
                <a:latin typeface="Georgia"/>
                <a:ea typeface="Georgia"/>
                <a:cs typeface="Georgia"/>
              </a:defRPr>
            </a:lvl3pPr>
            <a:lvl4pPr algn="l">
              <a:defRPr sz="2100" b="0" i="0">
                <a:solidFill>
                  <a:srgbClr val="211D1A"/>
                </a:solidFill>
                <a:latin typeface="Georgia"/>
                <a:ea typeface="Georgia"/>
                <a:cs typeface="Georgia"/>
              </a:defRPr>
            </a:lvl4pPr>
            <a:lvl5pPr algn="l">
              <a:defRPr sz="2100" b="0" i="0">
                <a:solidFill>
                  <a:srgbClr val="211D1A"/>
                </a:solidFill>
                <a:latin typeface="Georgia"/>
                <a:ea typeface="Georgia"/>
                <a:cs typeface="Georgia"/>
              </a:defRPr>
            </a:lvl5pPr>
            <a:lvl6pPr algn="l">
              <a:defRPr sz="2100" b="0" i="0">
                <a:solidFill>
                  <a:srgbClr val="211D1A"/>
                </a:solidFill>
                <a:latin typeface="Georgia"/>
                <a:ea typeface="Georgia"/>
                <a:cs typeface="Georgia"/>
              </a:defRPr>
            </a:lvl6pPr>
            <a:lvl7pPr algn="l">
              <a:defRPr sz="2100" b="0" i="0">
                <a:solidFill>
                  <a:srgbClr val="211D1A"/>
                </a:solidFill>
                <a:latin typeface="Georgia"/>
                <a:ea typeface="Georgia"/>
                <a:cs typeface="Georgia"/>
              </a:defRPr>
            </a:lvl7pPr>
            <a:lvl8pPr algn="l">
              <a:defRPr sz="2100" b="0" i="0">
                <a:solidFill>
                  <a:srgbClr val="211D1A"/>
                </a:solidFill>
                <a:latin typeface="Georgia"/>
                <a:ea typeface="Georgia"/>
                <a:cs typeface="Georgia"/>
              </a:defRPr>
            </a:lvl8pPr>
            <a:lvl9pPr algn="l">
              <a:defRPr sz="2100" b="0" i="0">
                <a:solidFill>
                  <a:srgbClr val="211D1A"/>
                </a:solidFill>
                <a:latin typeface="Georgia"/>
                <a:ea typeface="Georgia"/>
                <a:cs typeface="Georgia"/>
              </a:defRPr>
            </a:lvl9pPr>
          </a:lstStyle>
          <a:p xmlns:a="http://schemas.openxmlformats.org/drawingml/2006/main">
            <a:pPr algn="l">
              <a:lnSpc>
                <a:spcPct val="102000"/>
              </a:lnSpc>
              <a:buNone/>
              <a:defRPr sz="2100" b="0" i="0">
                <a:solidFill>
                  <a:srgbClr val="211D1A"/>
                </a:solidFill>
                <a:latin typeface="Georgia"/>
                <a:ea typeface="Georgia"/>
                <a:cs typeface="Georgia"/>
              </a:defRPr>
            </a:pPr>
            <a:r>
              <a:rPr sz="2100" b="0" i="0">
                <a:solidFill>
                  <a:srgbClr val="211D1A"/>
                </a:solidFill>
                <a:latin typeface="Georgia"/>
                <a:ea typeface="Georgia"/>
                <a:cs typeface="Georgia"/>
              </a:rPr>
              <a:t>Palletised goods and groupage</a:t>
            </a:r>
          </a:p>
        </p:txBody>
      </p:sp>
      <p:sp>
        <p:nvSpPr>
          <p:cNvPr id="11" name="">
            <a:extLst xmlns:a="http://schemas.openxmlformats.org/drawingml/2006/main">
              <a:ext uri="{FF2B5EF4-FFF2-40B4-BE49-F238E27FC236}">
                <a16:creationId xmlns:a16="http://schemas.microsoft.com/office/drawing/2014/main" id="{4957196B-9B1E-437A-A0F3-AAF92BB7F93D}"/>
              </a:ext>
            </a:extLst>
          </p:cNvPr>
          <p:cNvSpPr>
            <a:spLocks xmlns:a="http://schemas.openxmlformats.org/drawingml/2006/main" noGrp="1"/>
          </p:cNvSpPr>
          <p:nvPr/>
        </p:nvSpPr>
        <p:spPr>
          <a:xfrm xmlns:a="http://schemas.openxmlformats.org/drawingml/2006/main">
            <a:off x="762000" y="4552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2BBA6C-C2D3-4D66-B161-16B5EEF8BB4E}"/>
              </a:ext>
            </a:extLst>
          </p:cNvPr>
          <p:cNvSpPr>
            <a:spLocks xmlns:a="http://schemas.openxmlformats.org/drawingml/2006/main" noGrp="1"/>
          </p:cNvSpPr>
          <p:nvPr/>
        </p:nvSpPr>
        <p:spPr>
          <a:xfrm xmlns:a="http://schemas.openxmlformats.org/drawingml/2006/main">
            <a:off x="762000" y="47434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87EBF41-D2BD-4DD6-8867-EED7C34258EA}"/>
              </a:ext>
            </a:extLst>
          </p:cNvPr>
          <p:cNvSpPr>
            <a:spLocks xmlns:a="http://schemas.openxmlformats.org/drawingml/2006/main" noGrp="1"/>
          </p:cNvSpPr>
          <p:nvPr/>
        </p:nvSpPr>
        <p:spPr>
          <a:xfrm xmlns:a="http://schemas.openxmlformats.org/drawingml/2006/main">
            <a:off x="1276350" y="46482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Steel industry</a:t>
            </a:r>
          </a:p>
        </p:txBody>
      </p:sp>
      <p:sp>
        <p:nvSpPr>
          <p:cNvPr id="14" name="">
            <a:extLst xmlns:a="http://schemas.openxmlformats.org/drawingml/2006/main">
              <a:ext uri="{FF2B5EF4-FFF2-40B4-BE49-F238E27FC236}">
                <a16:creationId xmlns:a16="http://schemas.microsoft.com/office/drawing/2014/main" id="{A126ADFB-6E31-437B-A96E-0691FE8D6460}"/>
              </a:ext>
            </a:extLst>
          </p:cNvPr>
          <p:cNvSpPr>
            <a:spLocks xmlns:a="http://schemas.openxmlformats.org/drawingml/2006/main" noGrp="1"/>
          </p:cNvSpPr>
          <p:nvPr/>
        </p:nvSpPr>
        <p:spPr>
          <a:xfrm xmlns:a="http://schemas.openxmlformats.org/drawingml/2006/main">
            <a:off x="762000" y="52959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5176FF-C72B-47B6-A9B9-FCA23BEF6D9F}"/>
              </a:ext>
            </a:extLst>
          </p:cNvPr>
          <p:cNvSpPr>
            <a:spLocks xmlns:a="http://schemas.openxmlformats.org/drawingml/2006/main" noGrp="1"/>
          </p:cNvSpPr>
          <p:nvPr/>
        </p:nvSpPr>
        <p:spPr>
          <a:xfrm xmlns:a="http://schemas.openxmlformats.org/drawingml/2006/main">
            <a:off x="762000" y="54864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47536CC7-8ABF-4AD6-AB84-311A65586C1C}"/>
              </a:ext>
            </a:extLst>
          </p:cNvPr>
          <p:cNvSpPr>
            <a:spLocks xmlns:a="http://schemas.openxmlformats.org/drawingml/2006/main" noGrp="1"/>
          </p:cNvSpPr>
          <p:nvPr/>
        </p:nvSpPr>
        <p:spPr>
          <a:xfrm xmlns:a="http://schemas.openxmlformats.org/drawingml/2006/main">
            <a:off x="1276350" y="53911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ADR and waste</a:t>
            </a:r>
          </a:p>
        </p:txBody>
      </p:sp>
      <p:sp>
        <p:nvSpPr>
          <p:cNvPr id="17" name="">
            <a:extLst xmlns:a="http://schemas.openxmlformats.org/drawingml/2006/main">
              <a:ext uri="{FF2B5EF4-FFF2-40B4-BE49-F238E27FC236}">
                <a16:creationId xmlns:a16="http://schemas.microsoft.com/office/drawing/2014/main" id="{5ACABCDA-7235-45D5-AC7C-47A46B13A50F}"/>
              </a:ext>
            </a:extLst>
          </p:cNvPr>
          <p:cNvSpPr>
            <a:spLocks xmlns:a="http://schemas.openxmlformats.org/drawingml/2006/main" noGrp="1"/>
          </p:cNvSpPr>
          <p:nvPr/>
        </p:nvSpPr>
        <p:spPr>
          <a:xfrm xmlns:a="http://schemas.openxmlformats.org/drawingml/2006/main">
            <a:off x="6238875" y="30670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D72E47-A8BD-4B77-83F3-A5E0F63F24FE}"/>
              </a:ext>
            </a:extLst>
          </p:cNvPr>
          <p:cNvSpPr>
            <a:spLocks xmlns:a="http://schemas.openxmlformats.org/drawingml/2006/main" noGrp="1"/>
          </p:cNvSpPr>
          <p:nvPr/>
        </p:nvSpPr>
        <p:spPr>
          <a:xfrm xmlns:a="http://schemas.openxmlformats.org/drawingml/2006/main">
            <a:off x="6238875" y="32575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a:t>
            </a:r>
          </a:p>
        </p:txBody>
      </p:sp>
      <p:sp>
        <p:nvSpPr>
          <p:cNvPr id="19" name="">
            <a:extLst xmlns:a="http://schemas.openxmlformats.org/drawingml/2006/main">
              <a:ext uri="{FF2B5EF4-FFF2-40B4-BE49-F238E27FC236}">
                <a16:creationId xmlns:a16="http://schemas.microsoft.com/office/drawing/2014/main" id="{48E19217-1164-4FA3-93ED-0BCE6C3E7A73}"/>
              </a:ext>
            </a:extLst>
          </p:cNvPr>
          <p:cNvSpPr>
            <a:spLocks xmlns:a="http://schemas.openxmlformats.org/drawingml/2006/main" noGrp="1"/>
          </p:cNvSpPr>
          <p:nvPr/>
        </p:nvSpPr>
        <p:spPr>
          <a:xfrm xmlns:a="http://schemas.openxmlformats.org/drawingml/2006/main">
            <a:off x="6753225" y="31623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Fuel transport</a:t>
            </a:r>
          </a:p>
        </p:txBody>
      </p:sp>
      <p:sp>
        <p:nvSpPr>
          <p:cNvPr id="20" name="">
            <a:extLst xmlns:a="http://schemas.openxmlformats.org/drawingml/2006/main">
              <a:ext uri="{FF2B5EF4-FFF2-40B4-BE49-F238E27FC236}">
                <a16:creationId xmlns:a16="http://schemas.microsoft.com/office/drawing/2014/main" id="{0503238F-37D1-4CAC-A25B-C76D769184EC}"/>
              </a:ext>
            </a:extLst>
          </p:cNvPr>
          <p:cNvSpPr>
            <a:spLocks xmlns:a="http://schemas.openxmlformats.org/drawingml/2006/main" noGrp="1"/>
          </p:cNvSpPr>
          <p:nvPr/>
        </p:nvSpPr>
        <p:spPr>
          <a:xfrm xmlns:a="http://schemas.openxmlformats.org/drawingml/2006/main">
            <a:off x="6238875" y="38100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509BBD2-23DF-437C-A5E9-E7C2C361B810}"/>
              </a:ext>
            </a:extLst>
          </p:cNvPr>
          <p:cNvSpPr>
            <a:spLocks xmlns:a="http://schemas.openxmlformats.org/drawingml/2006/main" noGrp="1"/>
          </p:cNvSpPr>
          <p:nvPr/>
        </p:nvSpPr>
        <p:spPr>
          <a:xfrm xmlns:a="http://schemas.openxmlformats.org/drawingml/2006/main">
            <a:off x="6238875" y="40005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06</a:t>
            </a:r>
          </a:p>
        </p:txBody>
      </p:sp>
      <p:sp>
        <p:nvSpPr>
          <p:cNvPr id="22" name="">
            <a:extLst xmlns:a="http://schemas.openxmlformats.org/drawingml/2006/main">
              <a:ext uri="{FF2B5EF4-FFF2-40B4-BE49-F238E27FC236}">
                <a16:creationId xmlns:a16="http://schemas.microsoft.com/office/drawing/2014/main" id="{809E19D4-BE8D-4820-9A63-D6BCDB17E70A}"/>
              </a:ext>
            </a:extLst>
          </p:cNvPr>
          <p:cNvSpPr>
            <a:spLocks xmlns:a="http://schemas.openxmlformats.org/drawingml/2006/main" noGrp="1"/>
          </p:cNvSpPr>
          <p:nvPr/>
        </p:nvSpPr>
        <p:spPr>
          <a:xfrm xmlns:a="http://schemas.openxmlformats.org/drawingml/2006/main">
            <a:off x="6753225" y="39052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Special transport</a:t>
            </a:r>
          </a:p>
        </p:txBody>
      </p:sp>
      <p:sp>
        <p:nvSpPr>
          <p:cNvPr id="23" name="">
            <a:extLst xmlns:a="http://schemas.openxmlformats.org/drawingml/2006/main">
              <a:ext uri="{FF2B5EF4-FFF2-40B4-BE49-F238E27FC236}">
                <a16:creationId xmlns:a16="http://schemas.microsoft.com/office/drawing/2014/main" id="{BD3A9320-A056-4486-9C00-DD0D852758D8}"/>
              </a:ext>
            </a:extLst>
          </p:cNvPr>
          <p:cNvSpPr>
            <a:spLocks xmlns:a="http://schemas.openxmlformats.org/drawingml/2006/main" noGrp="1"/>
          </p:cNvSpPr>
          <p:nvPr/>
        </p:nvSpPr>
        <p:spPr>
          <a:xfrm xmlns:a="http://schemas.openxmlformats.org/drawingml/2006/main">
            <a:off x="6238875" y="4552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8A9602-0FE9-4A1B-884D-12C5E6D7C100}"/>
              </a:ext>
            </a:extLst>
          </p:cNvPr>
          <p:cNvSpPr>
            <a:spLocks xmlns:a="http://schemas.openxmlformats.org/drawingml/2006/main" noGrp="1"/>
          </p:cNvSpPr>
          <p:nvPr/>
        </p:nvSpPr>
        <p:spPr>
          <a:xfrm xmlns:a="http://schemas.openxmlformats.org/drawingml/2006/main">
            <a:off x="6238875" y="47434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a:t>
            </a:r>
          </a:p>
        </p:txBody>
      </p:sp>
      <p:sp>
        <p:nvSpPr>
          <p:cNvPr id="25" name="">
            <a:extLst xmlns:a="http://schemas.openxmlformats.org/drawingml/2006/main">
              <a:ext uri="{FF2B5EF4-FFF2-40B4-BE49-F238E27FC236}">
                <a16:creationId xmlns:a16="http://schemas.microsoft.com/office/drawing/2014/main" id="{5E7CB3F3-2729-435F-BFA3-706D5FD2E6F9}"/>
              </a:ext>
            </a:extLst>
          </p:cNvPr>
          <p:cNvSpPr>
            <a:spLocks xmlns:a="http://schemas.openxmlformats.org/drawingml/2006/main" noGrp="1"/>
          </p:cNvSpPr>
          <p:nvPr/>
        </p:nvSpPr>
        <p:spPr>
          <a:xfrm xmlns:a="http://schemas.openxmlformats.org/drawingml/2006/main">
            <a:off x="6753225" y="46482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211D1A"/>
                </a:solidFill>
                <a:latin typeface="Georgia"/>
                <a:ea typeface="Georgia"/>
                <a:cs typeface="Georgia"/>
              </a:defRPr>
            </a:defPPr>
            <a:lvl1pPr algn="l">
              <a:defRPr sz="2100" b="0" i="0">
                <a:solidFill>
                  <a:srgbClr val="211D1A"/>
                </a:solidFill>
                <a:latin typeface="Georgia"/>
                <a:ea typeface="Georgia"/>
                <a:cs typeface="Georgia"/>
              </a:defRPr>
            </a:lvl1pPr>
            <a:lvl2pPr algn="l">
              <a:defRPr sz="2100" b="0" i="0">
                <a:solidFill>
                  <a:srgbClr val="211D1A"/>
                </a:solidFill>
                <a:latin typeface="Georgia"/>
                <a:ea typeface="Georgia"/>
                <a:cs typeface="Georgia"/>
              </a:defRPr>
            </a:lvl2pPr>
            <a:lvl3pPr algn="l">
              <a:defRPr sz="2100" b="0" i="0">
                <a:solidFill>
                  <a:srgbClr val="211D1A"/>
                </a:solidFill>
                <a:latin typeface="Georgia"/>
                <a:ea typeface="Georgia"/>
                <a:cs typeface="Georgia"/>
              </a:defRPr>
            </a:lvl3pPr>
            <a:lvl4pPr algn="l">
              <a:defRPr sz="2100" b="0" i="0">
                <a:solidFill>
                  <a:srgbClr val="211D1A"/>
                </a:solidFill>
                <a:latin typeface="Georgia"/>
                <a:ea typeface="Georgia"/>
                <a:cs typeface="Georgia"/>
              </a:defRPr>
            </a:lvl4pPr>
            <a:lvl5pPr algn="l">
              <a:defRPr sz="2100" b="0" i="0">
                <a:solidFill>
                  <a:srgbClr val="211D1A"/>
                </a:solidFill>
                <a:latin typeface="Georgia"/>
                <a:ea typeface="Georgia"/>
                <a:cs typeface="Georgia"/>
              </a:defRPr>
            </a:lvl5pPr>
            <a:lvl6pPr algn="l">
              <a:defRPr sz="2100" b="0" i="0">
                <a:solidFill>
                  <a:srgbClr val="211D1A"/>
                </a:solidFill>
                <a:latin typeface="Georgia"/>
                <a:ea typeface="Georgia"/>
                <a:cs typeface="Georgia"/>
              </a:defRPr>
            </a:lvl6pPr>
            <a:lvl7pPr algn="l">
              <a:defRPr sz="2100" b="0" i="0">
                <a:solidFill>
                  <a:srgbClr val="211D1A"/>
                </a:solidFill>
                <a:latin typeface="Georgia"/>
                <a:ea typeface="Georgia"/>
                <a:cs typeface="Georgia"/>
              </a:defRPr>
            </a:lvl7pPr>
            <a:lvl8pPr algn="l">
              <a:defRPr sz="2100" b="0" i="0">
                <a:solidFill>
                  <a:srgbClr val="211D1A"/>
                </a:solidFill>
                <a:latin typeface="Georgia"/>
                <a:ea typeface="Georgia"/>
                <a:cs typeface="Georgia"/>
              </a:defRPr>
            </a:lvl8pPr>
            <a:lvl9pPr algn="l">
              <a:defRPr sz="2100" b="0" i="0">
                <a:solidFill>
                  <a:srgbClr val="211D1A"/>
                </a:solidFill>
                <a:latin typeface="Georgia"/>
                <a:ea typeface="Georgia"/>
                <a:cs typeface="Georgia"/>
              </a:defRPr>
            </a:lvl9pPr>
          </a:lstStyle>
          <a:p xmlns:a="http://schemas.openxmlformats.org/drawingml/2006/main">
            <a:pPr algn="l">
              <a:lnSpc>
                <a:spcPct val="102000"/>
              </a:lnSpc>
              <a:buNone/>
              <a:defRPr sz="2100" b="0" i="0">
                <a:solidFill>
                  <a:srgbClr val="211D1A"/>
                </a:solidFill>
                <a:latin typeface="Georgia"/>
                <a:ea typeface="Georgia"/>
                <a:cs typeface="Georgia"/>
              </a:defRPr>
            </a:pPr>
            <a:r>
              <a:rPr sz="2100" b="0" i="0">
                <a:solidFill>
                  <a:srgbClr val="211D1A"/>
                </a:solidFill>
                <a:latin typeface="Georgia"/>
                <a:ea typeface="Georgia"/>
                <a:cs typeface="Georgia"/>
              </a:rPr>
              <a:t>Containers and port services</a:t>
            </a:r>
          </a:p>
        </p:txBody>
      </p:sp>
      <p:sp>
        <p:nvSpPr>
          <p:cNvPr id="26" name="">
            <a:extLst xmlns:a="http://schemas.openxmlformats.org/drawingml/2006/main">
              <a:ext uri="{FF2B5EF4-FFF2-40B4-BE49-F238E27FC236}">
                <a16:creationId xmlns:a16="http://schemas.microsoft.com/office/drawing/2014/main" id="{7D1E462B-EA82-4D94-B7F7-D97A448A0529}"/>
              </a:ext>
            </a:extLst>
          </p:cNvPr>
          <p:cNvSpPr>
            <a:spLocks xmlns:a="http://schemas.openxmlformats.org/drawingml/2006/main" noGrp="1"/>
          </p:cNvSpPr>
          <p:nvPr/>
        </p:nvSpPr>
        <p:spPr>
          <a:xfrm xmlns:a="http://schemas.openxmlformats.org/drawingml/2006/main">
            <a:off x="6238875" y="52959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CAA3DAF-C47E-40A8-AB27-A195EBE987DD}"/>
              </a:ext>
            </a:extLst>
          </p:cNvPr>
          <p:cNvSpPr>
            <a:spLocks xmlns:a="http://schemas.openxmlformats.org/drawingml/2006/main" noGrp="1"/>
          </p:cNvSpPr>
          <p:nvPr/>
        </p:nvSpPr>
        <p:spPr>
          <a:xfrm xmlns:a="http://schemas.openxmlformats.org/drawingml/2006/main">
            <a:off x="6238875" y="54864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08</a:t>
            </a:r>
          </a:p>
        </p:txBody>
      </p:sp>
      <p:sp>
        <p:nvSpPr>
          <p:cNvPr id="28" name="">
            <a:extLst xmlns:a="http://schemas.openxmlformats.org/drawingml/2006/main">
              <a:ext uri="{FF2B5EF4-FFF2-40B4-BE49-F238E27FC236}">
                <a16:creationId xmlns:a16="http://schemas.microsoft.com/office/drawing/2014/main" id="{0B558B37-B0F3-42A6-B7DF-5B843F5CFCF5}"/>
              </a:ext>
            </a:extLst>
          </p:cNvPr>
          <p:cNvSpPr>
            <a:spLocks xmlns:a="http://schemas.openxmlformats.org/drawingml/2006/main" noGrp="1"/>
          </p:cNvSpPr>
          <p:nvPr/>
        </p:nvSpPr>
        <p:spPr>
          <a:xfrm xmlns:a="http://schemas.openxmlformats.org/drawingml/2006/main">
            <a:off x="6753225" y="53911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0" i="0">
                <a:solidFill>
                  <a:srgbClr val="211D1A"/>
                </a:solidFill>
                <a:latin typeface="Georgia"/>
                <a:ea typeface="Georgia"/>
                <a:cs typeface="Georgia"/>
              </a:defRPr>
            </a:defPPr>
            <a:lvl1pPr algn="l">
              <a:defRPr sz="2475" b="0" i="0">
                <a:solidFill>
                  <a:srgbClr val="211D1A"/>
                </a:solidFill>
                <a:latin typeface="Georgia"/>
                <a:ea typeface="Georgia"/>
                <a:cs typeface="Georgia"/>
              </a:defRPr>
            </a:lvl1pPr>
            <a:lvl2pPr algn="l">
              <a:defRPr sz="2475" b="0" i="0">
                <a:solidFill>
                  <a:srgbClr val="211D1A"/>
                </a:solidFill>
                <a:latin typeface="Georgia"/>
                <a:ea typeface="Georgia"/>
                <a:cs typeface="Georgia"/>
              </a:defRPr>
            </a:lvl2pPr>
            <a:lvl3pPr algn="l">
              <a:defRPr sz="2475" b="0" i="0">
                <a:solidFill>
                  <a:srgbClr val="211D1A"/>
                </a:solidFill>
                <a:latin typeface="Georgia"/>
                <a:ea typeface="Georgia"/>
                <a:cs typeface="Georgia"/>
              </a:defRPr>
            </a:lvl3pPr>
            <a:lvl4pPr algn="l">
              <a:defRPr sz="2475" b="0" i="0">
                <a:solidFill>
                  <a:srgbClr val="211D1A"/>
                </a:solidFill>
                <a:latin typeface="Georgia"/>
                <a:ea typeface="Georgia"/>
                <a:cs typeface="Georgia"/>
              </a:defRPr>
            </a:lvl4pPr>
            <a:lvl5pPr algn="l">
              <a:defRPr sz="2475" b="0" i="0">
                <a:solidFill>
                  <a:srgbClr val="211D1A"/>
                </a:solidFill>
                <a:latin typeface="Georgia"/>
                <a:ea typeface="Georgia"/>
                <a:cs typeface="Georgia"/>
              </a:defRPr>
            </a:lvl5pPr>
            <a:lvl6pPr algn="l">
              <a:defRPr sz="2475" b="0" i="0">
                <a:solidFill>
                  <a:srgbClr val="211D1A"/>
                </a:solidFill>
                <a:latin typeface="Georgia"/>
                <a:ea typeface="Georgia"/>
                <a:cs typeface="Georgia"/>
              </a:defRPr>
            </a:lvl6pPr>
            <a:lvl7pPr algn="l">
              <a:defRPr sz="2475" b="0" i="0">
                <a:solidFill>
                  <a:srgbClr val="211D1A"/>
                </a:solidFill>
                <a:latin typeface="Georgia"/>
                <a:ea typeface="Georgia"/>
                <a:cs typeface="Georgia"/>
              </a:defRPr>
            </a:lvl7pPr>
            <a:lvl8pPr algn="l">
              <a:defRPr sz="2475" b="0" i="0">
                <a:solidFill>
                  <a:srgbClr val="211D1A"/>
                </a:solidFill>
                <a:latin typeface="Georgia"/>
                <a:ea typeface="Georgia"/>
                <a:cs typeface="Georgia"/>
              </a:defRPr>
            </a:lvl8pPr>
            <a:lvl9pPr algn="l">
              <a:defRPr sz="2475" b="0" i="0">
                <a:solidFill>
                  <a:srgbClr val="211D1A"/>
                </a:solidFill>
                <a:latin typeface="Georgia"/>
                <a:ea typeface="Georgia"/>
                <a:cs typeface="Georgia"/>
              </a:defRPr>
            </a:lvl9pPr>
          </a:lstStyle>
          <a:p xmlns:a="http://schemas.openxmlformats.org/drawingml/2006/main">
            <a:pPr algn="l">
              <a:lnSpc>
                <a:spcPct val="102000"/>
              </a:lnSpc>
              <a:buNone/>
              <a:defRPr sz="2475" b="0" i="0">
                <a:solidFill>
                  <a:srgbClr val="211D1A"/>
                </a:solidFill>
                <a:latin typeface="Georgia"/>
                <a:ea typeface="Georgia"/>
                <a:cs typeface="Georgia"/>
              </a:defRPr>
            </a:pPr>
            <a:r>
              <a:rPr sz="2475" b="0" i="0">
                <a:solidFill>
                  <a:srgbClr val="211D1A"/>
                </a:solidFill>
                <a:latin typeface="Georgia"/>
                <a:ea typeface="Georgia"/>
                <a:cs typeface="Georgia"/>
              </a:rPr>
              <a:t>Stock management</a:t>
            </a:r>
          </a:p>
        </p:txBody>
      </p:sp>
      <p:sp>
        <p:nvSpPr>
          <p:cNvPr id="29" name="">
            <a:extLst xmlns:a="http://schemas.openxmlformats.org/drawingml/2006/main">
              <a:ext uri="{FF2B5EF4-FFF2-40B4-BE49-F238E27FC236}">
                <a16:creationId xmlns:a16="http://schemas.microsoft.com/office/drawing/2014/main" id="{7D27FB1A-3888-44CB-8661-778791D00F48}"/>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ACE52CC-4A66-4718-9C58-92DEF977F64C}"/>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WHAT WE DO</a:t>
            </a:r>
          </a:p>
        </p:txBody>
      </p:sp>
      <p:sp>
        <p:nvSpPr>
          <p:cNvPr id="31" name="">
            <a:extLst xmlns:a="http://schemas.openxmlformats.org/drawingml/2006/main">
              <a:ext uri="{FF2B5EF4-FFF2-40B4-BE49-F238E27FC236}">
                <a16:creationId xmlns:a16="http://schemas.microsoft.com/office/drawing/2014/main" id="{B88EAADD-C60F-4DE8-808A-3BB98AD85E86}"/>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04 / 16</a:t>
            </a:r>
          </a:p>
        </p:txBody>
      </p:sp>
    </p:spTree>
    <p:extLst>
      <p:ext uri="{BB962C8B-B14F-4D97-AF65-F5344CB8AC3E}">
        <p14:creationId xmlns:p14="http://schemas.microsoft.com/office/powerpoint/2010/main" val="1052439941"/>
      </p:ext>
    </p:extLst>
  </p:cSld>
</p:sld>
</file>

<file path=ppt/slides/slide5.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4B81D99-124C-4CFC-A1FB-C27558446813}"/>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340B64-B2F2-40F2-A831-44FB5A03B641}"/>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ACFA607E-4E2A-4219-B968-09948A4E7498}"/>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Specialist services in detail</a:t>
            </a:r>
          </a:p>
        </p:txBody>
      </p:sp>
      <p:sp>
        <p:nvSpPr>
          <p:cNvPr id="4" name="">
            <a:extLst xmlns:a="http://schemas.openxmlformats.org/drawingml/2006/main">
              <a:ext uri="{FF2B5EF4-FFF2-40B4-BE49-F238E27FC236}">
                <a16:creationId xmlns:a16="http://schemas.microsoft.com/office/drawing/2014/main" id="{C8836E46-6600-4C50-9EC0-965F7B526D85}"/>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01–02 / 08</a:t>
            </a:r>
          </a:p>
        </p:txBody>
      </p:sp>
      <p:pic>
        <p:nvPicPr>
          <p:cNvPr id="5" name="">
            <a:extLst xmlns:a="http://schemas.openxmlformats.org/drawingml/2006/main">
              <a:ext uri="{FF2B5EF4-FFF2-40B4-BE49-F238E27FC236}">
                <a16:creationId xmlns:a16="http://schemas.microsoft.com/office/drawing/2014/main" id="{B84763A8-2B1C-4ADF-8EA7-5DAD2838F322}"/>
              </a:ext>
            </a:extLst>
          </p:cNvPr>
          <p:cNvPicPr>
            <a:picLocks xmlns:a="http://schemas.openxmlformats.org/drawingml/2006/main" noChangeAspect="1"/>
          </p:cNvPicPr>
          <p:nvPr/>
        </p:nvPicPr>
        <p:blipFill>
          <a:blip xmlns:r="http://schemas.openxmlformats.org/officeDocument/2006/relationships" xmlns:a="http://schemas.openxmlformats.org/drawingml/2006/main" r:embed="Ra4eb844239fa4e27"/>
          <a:srcRect xmlns:a="http://schemas.openxmlformats.org/drawingml/2006/main" l="0" t="23962" r="0" b="23962"/>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4A29F5-C67B-4D90-928B-8BA354A50E9A}"/>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3FA3BD3-0C6B-4449-9BE5-3A83F6313010}"/>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CEB1503-CF13-46C4-B7CC-A6FCE7A9DCE0}"/>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Bulk goods</a:t>
            </a:r>
          </a:p>
        </p:txBody>
      </p:sp>
      <p:sp>
        <p:nvSpPr>
          <p:cNvPr id="9" name="">
            <a:extLst xmlns:a="http://schemas.openxmlformats.org/drawingml/2006/main">
              <a:ext uri="{FF2B5EF4-FFF2-40B4-BE49-F238E27FC236}">
                <a16:creationId xmlns:a16="http://schemas.microsoft.com/office/drawing/2014/main" id="{7FB4AB50-84BA-44EC-B351-1643A05D9AC3}"/>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Over 20 years transporting bulk goods with tipper trailers, including the loading and unloading of ships.</a:t>
            </a:r>
          </a:p>
        </p:txBody>
      </p:sp>
      <p:sp>
        <p:nvSpPr>
          <p:cNvPr id="10" name="">
            <a:extLst xmlns:a="http://schemas.openxmlformats.org/drawingml/2006/main">
              <a:ext uri="{FF2B5EF4-FFF2-40B4-BE49-F238E27FC236}">
                <a16:creationId xmlns:a16="http://schemas.microsoft.com/office/drawing/2014/main" id="{EA4D8D66-0570-45C6-A586-86F7EACFD6CC}"/>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Where the group began</a:t>
            </a:r>
          </a:p>
        </p:txBody>
      </p:sp>
      <p:pic>
        <p:nvPicPr>
          <p:cNvPr id="11" name="">
            <a:extLst xmlns:a="http://schemas.openxmlformats.org/drawingml/2006/main">
              <a:ext uri="{FF2B5EF4-FFF2-40B4-BE49-F238E27FC236}">
                <a16:creationId xmlns:a16="http://schemas.microsoft.com/office/drawing/2014/main" id="{3C72F329-0D8C-4C31-BCA3-3B225CF45615}"/>
              </a:ext>
            </a:extLst>
          </p:cNvPr>
          <p:cNvPicPr>
            <a:picLocks xmlns:a="http://schemas.openxmlformats.org/drawingml/2006/main" noChangeAspect="1"/>
          </p:cNvPicPr>
          <p:nvPr/>
        </p:nvPicPr>
        <p:blipFill>
          <a:blip xmlns:r="http://schemas.openxmlformats.org/officeDocument/2006/relationships" xmlns:a="http://schemas.openxmlformats.org/drawingml/2006/main" r:embed="Rda9c3c4d825a43b7"/>
          <a:srcRect xmlns:a="http://schemas.openxmlformats.org/drawingml/2006/main" l="0" t="23962" r="0" b="23962"/>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D91CBE1-FDDC-4761-A979-A80C8376BA24}"/>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857328-EBE8-4D5B-9F91-0170325F75F3}"/>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019716AA-96E1-49BE-BAA3-11E16397BE10}"/>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211D1A"/>
                </a:solidFill>
                <a:latin typeface="Georgia"/>
                <a:ea typeface="Georgia"/>
                <a:cs typeface="Georgia"/>
              </a:defRPr>
            </a:defPPr>
            <a:lvl1pPr algn="l">
              <a:defRPr sz="2400" b="0" i="0">
                <a:solidFill>
                  <a:srgbClr val="211D1A"/>
                </a:solidFill>
                <a:latin typeface="Georgia"/>
                <a:ea typeface="Georgia"/>
                <a:cs typeface="Georgia"/>
              </a:defRPr>
            </a:lvl1pPr>
            <a:lvl2pPr algn="l">
              <a:defRPr sz="2400" b="0" i="0">
                <a:solidFill>
                  <a:srgbClr val="211D1A"/>
                </a:solidFill>
                <a:latin typeface="Georgia"/>
                <a:ea typeface="Georgia"/>
                <a:cs typeface="Georgia"/>
              </a:defRPr>
            </a:lvl2pPr>
            <a:lvl3pPr algn="l">
              <a:defRPr sz="2400" b="0" i="0">
                <a:solidFill>
                  <a:srgbClr val="211D1A"/>
                </a:solidFill>
                <a:latin typeface="Georgia"/>
                <a:ea typeface="Georgia"/>
                <a:cs typeface="Georgia"/>
              </a:defRPr>
            </a:lvl3pPr>
            <a:lvl4pPr algn="l">
              <a:defRPr sz="2400" b="0" i="0">
                <a:solidFill>
                  <a:srgbClr val="211D1A"/>
                </a:solidFill>
                <a:latin typeface="Georgia"/>
                <a:ea typeface="Georgia"/>
                <a:cs typeface="Georgia"/>
              </a:defRPr>
            </a:lvl4pPr>
            <a:lvl5pPr algn="l">
              <a:defRPr sz="2400" b="0" i="0">
                <a:solidFill>
                  <a:srgbClr val="211D1A"/>
                </a:solidFill>
                <a:latin typeface="Georgia"/>
                <a:ea typeface="Georgia"/>
                <a:cs typeface="Georgia"/>
              </a:defRPr>
            </a:lvl5pPr>
            <a:lvl6pPr algn="l">
              <a:defRPr sz="2400" b="0" i="0">
                <a:solidFill>
                  <a:srgbClr val="211D1A"/>
                </a:solidFill>
                <a:latin typeface="Georgia"/>
                <a:ea typeface="Georgia"/>
                <a:cs typeface="Georgia"/>
              </a:defRPr>
            </a:lvl6pPr>
            <a:lvl7pPr algn="l">
              <a:defRPr sz="2400" b="0" i="0">
                <a:solidFill>
                  <a:srgbClr val="211D1A"/>
                </a:solidFill>
                <a:latin typeface="Georgia"/>
                <a:ea typeface="Georgia"/>
                <a:cs typeface="Georgia"/>
              </a:defRPr>
            </a:lvl7pPr>
            <a:lvl8pPr algn="l">
              <a:defRPr sz="2400" b="0" i="0">
                <a:solidFill>
                  <a:srgbClr val="211D1A"/>
                </a:solidFill>
                <a:latin typeface="Georgia"/>
                <a:ea typeface="Georgia"/>
                <a:cs typeface="Georgia"/>
              </a:defRPr>
            </a:lvl8pPr>
            <a:lvl9pPr algn="l">
              <a:defRPr sz="2400" b="0" i="0">
                <a:solidFill>
                  <a:srgbClr val="211D1A"/>
                </a:solidFill>
                <a:latin typeface="Georgia"/>
                <a:ea typeface="Georgia"/>
                <a:cs typeface="Georgia"/>
              </a:defRPr>
            </a:lvl9pPr>
          </a:lstStyle>
          <a:p xmlns:a="http://schemas.openxmlformats.org/drawingml/2006/main">
            <a:pPr algn="l">
              <a:lnSpc>
                <a:spcPct val="102000"/>
              </a:lnSpc>
              <a:buNone/>
              <a:defRPr sz="2400" b="0" i="0">
                <a:solidFill>
                  <a:srgbClr val="211D1A"/>
                </a:solidFill>
                <a:latin typeface="Georgia"/>
                <a:ea typeface="Georgia"/>
                <a:cs typeface="Georgia"/>
              </a:defRPr>
            </a:pPr>
            <a:r>
              <a:rPr sz="2400" b="0" i="0">
                <a:solidFill>
                  <a:srgbClr val="211D1A"/>
                </a:solidFill>
                <a:latin typeface="Georgia"/>
                <a:ea typeface="Georgia"/>
                <a:cs typeface="Georgia"/>
              </a:rPr>
              <a:t>Palletised goods and groupage</a:t>
            </a:r>
          </a:p>
        </p:txBody>
      </p:sp>
      <p:sp>
        <p:nvSpPr>
          <p:cNvPr id="15" name="">
            <a:extLst xmlns:a="http://schemas.openxmlformats.org/drawingml/2006/main">
              <a:ext uri="{FF2B5EF4-FFF2-40B4-BE49-F238E27FC236}">
                <a16:creationId xmlns:a16="http://schemas.microsoft.com/office/drawing/2014/main" id="{6A9C1379-1E11-4546-B528-B11109F34242}"/>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Groupage to every Spanish province, with fast delivery throughout the country.</a:t>
            </a:r>
          </a:p>
        </p:txBody>
      </p:sp>
      <p:sp>
        <p:nvSpPr>
          <p:cNvPr id="16" name="">
            <a:extLst xmlns:a="http://schemas.openxmlformats.org/drawingml/2006/main">
              <a:ext uri="{FF2B5EF4-FFF2-40B4-BE49-F238E27FC236}">
                <a16:creationId xmlns:a16="http://schemas.microsoft.com/office/drawing/2014/main" id="{7264F57A-4CA1-48AF-AEA6-7AE5C46D5BE4}"/>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Own fleet and two logistics bases</a:t>
            </a:r>
          </a:p>
        </p:txBody>
      </p:sp>
      <p:sp>
        <p:nvSpPr>
          <p:cNvPr id="17" name="">
            <a:extLst xmlns:a="http://schemas.openxmlformats.org/drawingml/2006/main">
              <a:ext uri="{FF2B5EF4-FFF2-40B4-BE49-F238E27FC236}">
                <a16:creationId xmlns:a16="http://schemas.microsoft.com/office/drawing/2014/main" id="{846C1E84-726B-488D-BFDE-0547F8C1CA51}"/>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011B120-A89D-4076-85CF-9FEDF8288BBF}"/>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WHAT WE DO</a:t>
            </a:r>
          </a:p>
        </p:txBody>
      </p:sp>
      <p:sp>
        <p:nvSpPr>
          <p:cNvPr id="19" name="">
            <a:extLst xmlns:a="http://schemas.openxmlformats.org/drawingml/2006/main">
              <a:ext uri="{FF2B5EF4-FFF2-40B4-BE49-F238E27FC236}">
                <a16:creationId xmlns:a16="http://schemas.microsoft.com/office/drawing/2014/main" id="{EE1C8090-CBA4-41E7-A96A-B8F659E71B01}"/>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05 / 16</a:t>
            </a:r>
          </a:p>
        </p:txBody>
      </p:sp>
    </p:spTree>
    <p:extLst>
      <p:ext uri="{BB962C8B-B14F-4D97-AF65-F5344CB8AC3E}">
        <p14:creationId xmlns:p14="http://schemas.microsoft.com/office/powerpoint/2010/main" val="718770710"/>
      </p:ext>
    </p:extLst>
  </p:cSld>
</p:sld>
</file>

<file path=ppt/slides/slide6.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A92762-9DCB-4CA3-8F1E-9B81429ED171}"/>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507D40-52F5-4088-B345-773800D21DBF}"/>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F7260778-93E7-43D7-A882-A615C5822D31}"/>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Specialist services in detail</a:t>
            </a:r>
          </a:p>
        </p:txBody>
      </p:sp>
      <p:sp>
        <p:nvSpPr>
          <p:cNvPr id="4" name="">
            <a:extLst xmlns:a="http://schemas.openxmlformats.org/drawingml/2006/main">
              <a:ext uri="{FF2B5EF4-FFF2-40B4-BE49-F238E27FC236}">
                <a16:creationId xmlns:a16="http://schemas.microsoft.com/office/drawing/2014/main" id="{C9FBA440-22BF-4F0D-8706-32BFF7E44161}"/>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03–04 / 08</a:t>
            </a:r>
          </a:p>
        </p:txBody>
      </p:sp>
      <p:pic>
        <p:nvPicPr>
          <p:cNvPr id="5" name="">
            <a:extLst xmlns:a="http://schemas.openxmlformats.org/drawingml/2006/main">
              <a:ext uri="{FF2B5EF4-FFF2-40B4-BE49-F238E27FC236}">
                <a16:creationId xmlns:a16="http://schemas.microsoft.com/office/drawing/2014/main" id="{BBD3A33F-1B8E-42AF-A4BB-3DCC26ECC91C}"/>
              </a:ext>
            </a:extLst>
          </p:cNvPr>
          <p:cNvPicPr>
            <a:picLocks xmlns:a="http://schemas.openxmlformats.org/drawingml/2006/main" noChangeAspect="1"/>
          </p:cNvPicPr>
          <p:nvPr/>
        </p:nvPicPr>
        <p:blipFill>
          <a:blip xmlns:r="http://schemas.openxmlformats.org/officeDocument/2006/relationships" xmlns:a="http://schemas.openxmlformats.org/drawingml/2006/main" r:embed="R432758abe8b1400a"/>
          <a:srcRect xmlns:a="http://schemas.openxmlformats.org/drawingml/2006/main" l="0" t="23962" r="0" b="23962"/>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FF46563-DE57-4307-B300-4E03B54773A7}"/>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619EB61-7F19-4F4C-AAAB-0AC62A94556A}"/>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D66E7DC-1879-41ED-AC3E-EC2FE568470A}"/>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Steel industry</a:t>
            </a:r>
          </a:p>
        </p:txBody>
      </p:sp>
      <p:sp>
        <p:nvSpPr>
          <p:cNvPr id="9" name="">
            <a:extLst xmlns:a="http://schemas.openxmlformats.org/drawingml/2006/main">
              <a:ext uri="{FF2B5EF4-FFF2-40B4-BE49-F238E27FC236}">
                <a16:creationId xmlns:a16="http://schemas.microsoft.com/office/drawing/2014/main" id="{5BE546A1-DC5B-4673-9115-A856BCF10BEB}"/>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From collecting scrap metal for steelworks to distributing heavy steel coils, beams and sections.</a:t>
            </a:r>
          </a:p>
        </p:txBody>
      </p:sp>
      <p:sp>
        <p:nvSpPr>
          <p:cNvPr id="10" name="">
            <a:extLst xmlns:a="http://schemas.openxmlformats.org/drawingml/2006/main">
              <a:ext uri="{FF2B5EF4-FFF2-40B4-BE49-F238E27FC236}">
                <a16:creationId xmlns:a16="http://schemas.microsoft.com/office/drawing/2014/main" id="{B2DA9FA2-EA32-4AB9-8C96-203DB7388493}"/>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Across the steel supply chain</a:t>
            </a:r>
          </a:p>
        </p:txBody>
      </p:sp>
      <p:pic>
        <p:nvPicPr>
          <p:cNvPr id="11" name="">
            <a:extLst xmlns:a="http://schemas.openxmlformats.org/drawingml/2006/main">
              <a:ext uri="{FF2B5EF4-FFF2-40B4-BE49-F238E27FC236}">
                <a16:creationId xmlns:a16="http://schemas.microsoft.com/office/drawing/2014/main" id="{EAD69029-87A8-406B-B57D-E035F70B85ED}"/>
              </a:ext>
            </a:extLst>
          </p:cNvPr>
          <p:cNvPicPr>
            <a:picLocks xmlns:a="http://schemas.openxmlformats.org/drawingml/2006/main" noChangeAspect="1"/>
          </p:cNvPicPr>
          <p:nvPr/>
        </p:nvPicPr>
        <p:blipFill>
          <a:blip xmlns:r="http://schemas.openxmlformats.org/officeDocument/2006/relationships" xmlns:a="http://schemas.openxmlformats.org/drawingml/2006/main" r:embed="R13b7014e5f694e93"/>
          <a:srcRect xmlns:a="http://schemas.openxmlformats.org/drawingml/2006/main" l="0" t="15334" r="0" b="15334"/>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167DEAD-CCA7-45BE-BA58-492438169B25}"/>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3B1A84C-8B65-40F3-BFFB-5D17D7B85199}"/>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C2AD9D01-2AC6-4065-B4C2-05CAB9E4B674}"/>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ADR and waste</a:t>
            </a:r>
          </a:p>
        </p:txBody>
      </p:sp>
      <p:sp>
        <p:nvSpPr>
          <p:cNvPr id="15" name="">
            <a:extLst xmlns:a="http://schemas.openxmlformats.org/drawingml/2006/main">
              <a:ext uri="{FF2B5EF4-FFF2-40B4-BE49-F238E27FC236}">
                <a16:creationId xmlns:a16="http://schemas.microsoft.com/office/drawing/2014/main" id="{76EAA7E6-F795-41FA-AF42-2BFA51E4E56A}"/>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Dangerous goods and both hazardous and non-hazardous waste, in bulk or on pallets. Sertranin states that it holds the necessary permits and uses ADR-equipped vehicles.</a:t>
            </a:r>
          </a:p>
        </p:txBody>
      </p:sp>
      <p:sp>
        <p:nvSpPr>
          <p:cNvPr id="16" name="">
            <a:extLst xmlns:a="http://schemas.openxmlformats.org/drawingml/2006/main">
              <a:ext uri="{FF2B5EF4-FFF2-40B4-BE49-F238E27FC236}">
                <a16:creationId xmlns:a16="http://schemas.microsoft.com/office/drawing/2014/main" id="{E9E9C666-7342-49E4-811F-70E2234BD383}"/>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Specialist operations</a:t>
            </a:r>
          </a:p>
        </p:txBody>
      </p:sp>
      <p:sp>
        <p:nvSpPr>
          <p:cNvPr id="17" name="">
            <a:extLst xmlns:a="http://schemas.openxmlformats.org/drawingml/2006/main">
              <a:ext uri="{FF2B5EF4-FFF2-40B4-BE49-F238E27FC236}">
                <a16:creationId xmlns:a16="http://schemas.microsoft.com/office/drawing/2014/main" id="{E723E2B6-2BB1-4307-9716-907B228E528D}"/>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736907-0C13-48AE-BC5D-3EE5648219D7}"/>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WHAT WE DO</a:t>
            </a:r>
          </a:p>
        </p:txBody>
      </p:sp>
      <p:sp>
        <p:nvSpPr>
          <p:cNvPr id="19" name="">
            <a:extLst xmlns:a="http://schemas.openxmlformats.org/drawingml/2006/main">
              <a:ext uri="{FF2B5EF4-FFF2-40B4-BE49-F238E27FC236}">
                <a16:creationId xmlns:a16="http://schemas.microsoft.com/office/drawing/2014/main" id="{3E8C5F2D-A3C2-4598-8D6F-08DBDE2C700A}"/>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06 / 16</a:t>
            </a:r>
          </a:p>
        </p:txBody>
      </p:sp>
    </p:spTree>
    <p:extLst>
      <p:ext uri="{BB962C8B-B14F-4D97-AF65-F5344CB8AC3E}">
        <p14:creationId xmlns:p14="http://schemas.microsoft.com/office/powerpoint/2010/main" val="1643716842"/>
      </p:ext>
    </p:extLst>
  </p:cSld>
</p:sld>
</file>

<file path=ppt/slides/slide7.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B68AB1A-85E4-4643-A2F2-A37CE15A6575}"/>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0420EE-0377-4755-8391-0C6EFA910C20}"/>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41B88E10-9DE7-4C66-AD16-213DF0A87524}"/>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Specialist services in detail</a:t>
            </a:r>
          </a:p>
        </p:txBody>
      </p:sp>
      <p:sp>
        <p:nvSpPr>
          <p:cNvPr id="4" name="">
            <a:extLst xmlns:a="http://schemas.openxmlformats.org/drawingml/2006/main">
              <a:ext uri="{FF2B5EF4-FFF2-40B4-BE49-F238E27FC236}">
                <a16:creationId xmlns:a16="http://schemas.microsoft.com/office/drawing/2014/main" id="{6E174752-5536-4A9C-8B4D-910DFA918CC8}"/>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05–06 / 08</a:t>
            </a:r>
          </a:p>
        </p:txBody>
      </p:sp>
      <p:pic>
        <p:nvPicPr>
          <p:cNvPr id="5" name="">
            <a:extLst xmlns:a="http://schemas.openxmlformats.org/drawingml/2006/main">
              <a:ext uri="{FF2B5EF4-FFF2-40B4-BE49-F238E27FC236}">
                <a16:creationId xmlns:a16="http://schemas.microsoft.com/office/drawing/2014/main" id="{18348656-9743-47E7-B316-7CEA9E7AE4C5}"/>
              </a:ext>
            </a:extLst>
          </p:cNvPr>
          <p:cNvPicPr>
            <a:picLocks xmlns:a="http://schemas.openxmlformats.org/drawingml/2006/main" noChangeAspect="1"/>
          </p:cNvPicPr>
          <p:nvPr/>
        </p:nvPicPr>
        <p:blipFill>
          <a:blip xmlns:r="http://schemas.openxmlformats.org/officeDocument/2006/relationships" xmlns:a="http://schemas.openxmlformats.org/drawingml/2006/main" r:embed="R20bab33b701a47db"/>
          <a:srcRect xmlns:a="http://schemas.openxmlformats.org/drawingml/2006/main" l="0" t="12154" r="0" b="12154"/>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BC1EBC1-B746-4D05-B6E0-4E0B0367E58B}"/>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06B387-ECC3-4C59-BB3E-ECAB308887BE}"/>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05</a:t>
            </a:r>
          </a:p>
        </p:txBody>
      </p:sp>
      <p:sp>
        <p:nvSpPr>
          <p:cNvPr id="8" name="">
            <a:extLst xmlns:a="http://schemas.openxmlformats.org/drawingml/2006/main">
              <a:ext uri="{FF2B5EF4-FFF2-40B4-BE49-F238E27FC236}">
                <a16:creationId xmlns:a16="http://schemas.microsoft.com/office/drawing/2014/main" id="{C20DA5E6-C69C-4D9C-B44F-CA63D275963C}"/>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Fuel transport</a:t>
            </a:r>
          </a:p>
        </p:txBody>
      </p:sp>
      <p:sp>
        <p:nvSpPr>
          <p:cNvPr id="9" name="">
            <a:extLst xmlns:a="http://schemas.openxmlformats.org/drawingml/2006/main">
              <a:ext uri="{FF2B5EF4-FFF2-40B4-BE49-F238E27FC236}">
                <a16:creationId xmlns:a16="http://schemas.microsoft.com/office/drawing/2014/main" id="{C921F73F-7EA2-4CD7-AAB7-1E266CA8A816}"/>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One of the group’s newer divisions, with dedicated equipment and a team focused on operational safety.</a:t>
            </a:r>
          </a:p>
        </p:txBody>
      </p:sp>
      <p:sp>
        <p:nvSpPr>
          <p:cNvPr id="10" name="">
            <a:extLst xmlns:a="http://schemas.openxmlformats.org/drawingml/2006/main">
              <a:ext uri="{FF2B5EF4-FFF2-40B4-BE49-F238E27FC236}">
                <a16:creationId xmlns:a16="http://schemas.microsoft.com/office/drawing/2014/main" id="{E5EDBE76-F05F-4017-BCF9-10C10FA9AC46}"/>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Specialist support, 24 hours a day, year-round</a:t>
            </a:r>
          </a:p>
        </p:txBody>
      </p:sp>
      <p:pic>
        <p:nvPicPr>
          <p:cNvPr id="11" name="">
            <a:extLst xmlns:a="http://schemas.openxmlformats.org/drawingml/2006/main">
              <a:ext uri="{FF2B5EF4-FFF2-40B4-BE49-F238E27FC236}">
                <a16:creationId xmlns:a16="http://schemas.microsoft.com/office/drawing/2014/main" id="{E838A90A-BE16-4322-BDD7-428038831A1F}"/>
              </a:ext>
            </a:extLst>
          </p:cNvPr>
          <p:cNvPicPr>
            <a:picLocks xmlns:a="http://schemas.openxmlformats.org/drawingml/2006/main" noChangeAspect="1"/>
          </p:cNvPicPr>
          <p:nvPr/>
        </p:nvPicPr>
        <p:blipFill>
          <a:blip xmlns:r="http://schemas.openxmlformats.org/officeDocument/2006/relationships" xmlns:a="http://schemas.openxmlformats.org/drawingml/2006/main" r:embed="R0307b60075ac4a66"/>
          <a:srcRect xmlns:a="http://schemas.openxmlformats.org/drawingml/2006/main" l="0" t="16331" r="0" b="16331"/>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A4E42CA-5C3E-4C36-AE0C-84DCC7F94AD0}"/>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C6C0261-3C12-452E-AC27-CBADF5E5FCC7}"/>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06</a:t>
            </a:r>
          </a:p>
        </p:txBody>
      </p:sp>
      <p:sp>
        <p:nvSpPr>
          <p:cNvPr id="14" name="">
            <a:extLst xmlns:a="http://schemas.openxmlformats.org/drawingml/2006/main">
              <a:ext uri="{FF2B5EF4-FFF2-40B4-BE49-F238E27FC236}">
                <a16:creationId xmlns:a16="http://schemas.microsoft.com/office/drawing/2014/main" id="{1936E605-5EA2-42C6-BD86-5946467665F6}"/>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Special transport</a:t>
            </a:r>
          </a:p>
        </p:txBody>
      </p:sp>
      <p:sp>
        <p:nvSpPr>
          <p:cNvPr id="15" name="">
            <a:extLst xmlns:a="http://schemas.openxmlformats.org/drawingml/2006/main">
              <a:ext uri="{FF2B5EF4-FFF2-40B4-BE49-F238E27FC236}">
                <a16:creationId xmlns:a16="http://schemas.microsoft.com/office/drawing/2014/main" id="{BB4275BC-FAF3-4B27-944F-CFC6D0742DF5}"/>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Machinery, vehicles and infrastructure. Low loaders carry oversized loads. The company PDF says 80% of vehicles can accommodate loads of up to 15 metres.</a:t>
            </a:r>
          </a:p>
        </p:txBody>
      </p:sp>
      <p:sp>
        <p:nvSpPr>
          <p:cNvPr id="16" name="">
            <a:extLst xmlns:a="http://schemas.openxmlformats.org/drawingml/2006/main">
              <a:ext uri="{FF2B5EF4-FFF2-40B4-BE49-F238E27FC236}">
                <a16:creationId xmlns:a16="http://schemas.microsoft.com/office/drawing/2014/main" id="{FB93A4A2-D8B9-470D-958F-F3F392B29BC3}"/>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Oversized loads</a:t>
            </a:r>
          </a:p>
        </p:txBody>
      </p:sp>
      <p:sp>
        <p:nvSpPr>
          <p:cNvPr id="17" name="">
            <a:extLst xmlns:a="http://schemas.openxmlformats.org/drawingml/2006/main">
              <a:ext uri="{FF2B5EF4-FFF2-40B4-BE49-F238E27FC236}">
                <a16:creationId xmlns:a16="http://schemas.microsoft.com/office/drawing/2014/main" id="{30172A75-3022-4D30-B482-286DD06D3BB7}"/>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16D22B0-27AE-4834-8A88-4A578AB27CCA}"/>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WHAT WE DO</a:t>
            </a:r>
          </a:p>
        </p:txBody>
      </p:sp>
      <p:sp>
        <p:nvSpPr>
          <p:cNvPr id="19" name="">
            <a:extLst xmlns:a="http://schemas.openxmlformats.org/drawingml/2006/main">
              <a:ext uri="{FF2B5EF4-FFF2-40B4-BE49-F238E27FC236}">
                <a16:creationId xmlns:a16="http://schemas.microsoft.com/office/drawing/2014/main" id="{9C839166-CCB8-4681-89B3-29CB6C7FF736}"/>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07 / 16</a:t>
            </a:r>
          </a:p>
        </p:txBody>
      </p:sp>
    </p:spTree>
    <p:extLst>
      <p:ext uri="{BB962C8B-B14F-4D97-AF65-F5344CB8AC3E}">
        <p14:creationId xmlns:p14="http://schemas.microsoft.com/office/powerpoint/2010/main" val="787737291"/>
      </p:ext>
    </p:extLst>
  </p:cSld>
</p:sld>
</file>

<file path=ppt/slides/slide8.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856351-C85F-4AAE-B90A-5CD99913235C}"/>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3A09A2-7D3C-4448-9002-D70FDF8A873E}"/>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 / WHAT WE DO</a:t>
            </a:r>
          </a:p>
        </p:txBody>
      </p:sp>
      <p:sp>
        <p:nvSpPr>
          <p:cNvPr id="3" name="">
            <a:extLst xmlns:a="http://schemas.openxmlformats.org/drawingml/2006/main">
              <a:ext uri="{FF2B5EF4-FFF2-40B4-BE49-F238E27FC236}">
                <a16:creationId xmlns:a16="http://schemas.microsoft.com/office/drawing/2014/main" id="{0BC76E14-18D4-441F-AC9F-79EBCF79852B}"/>
              </a:ext>
            </a:extLst>
          </p:cNvPr>
          <p:cNvSpPr>
            <a:spLocks xmlns:a="http://schemas.openxmlformats.org/drawingml/2006/main" noGrp="1"/>
          </p:cNvSpPr>
          <p:nvPr/>
        </p:nvSpPr>
        <p:spPr>
          <a:xfrm xmlns:a="http://schemas.openxmlformats.org/drawingml/2006/main">
            <a:off x="762000" y="10287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Specialist services in detail</a:t>
            </a:r>
          </a:p>
        </p:txBody>
      </p:sp>
      <p:sp>
        <p:nvSpPr>
          <p:cNvPr id="4" name="">
            <a:extLst xmlns:a="http://schemas.openxmlformats.org/drawingml/2006/main">
              <a:ext uri="{FF2B5EF4-FFF2-40B4-BE49-F238E27FC236}">
                <a16:creationId xmlns:a16="http://schemas.microsoft.com/office/drawing/2014/main" id="{5817E61B-85D8-4BA5-BF3E-87A130032E47}"/>
              </a:ext>
            </a:extLst>
          </p:cNvPr>
          <p:cNvSpPr>
            <a:spLocks xmlns:a="http://schemas.openxmlformats.org/drawingml/2006/main" noGrp="1"/>
          </p:cNvSpPr>
          <p:nvPr/>
        </p:nvSpPr>
        <p:spPr>
          <a:xfrm xmlns:a="http://schemas.openxmlformats.org/drawingml/2006/main">
            <a:off x="762000" y="1790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07–08 / 08</a:t>
            </a:r>
          </a:p>
        </p:txBody>
      </p:sp>
      <p:pic>
        <p:nvPicPr>
          <p:cNvPr id="5" name="">
            <a:extLst xmlns:a="http://schemas.openxmlformats.org/drawingml/2006/main">
              <a:ext uri="{FF2B5EF4-FFF2-40B4-BE49-F238E27FC236}">
                <a16:creationId xmlns:a16="http://schemas.microsoft.com/office/drawing/2014/main" id="{D7291166-1B56-4BAF-8021-43AAAE9F4C1E}"/>
              </a:ext>
            </a:extLst>
          </p:cNvPr>
          <p:cNvPicPr>
            <a:picLocks xmlns:a="http://schemas.openxmlformats.org/drawingml/2006/main" noChangeAspect="1"/>
          </p:cNvPicPr>
          <p:nvPr/>
        </p:nvPicPr>
        <p:blipFill>
          <a:blip xmlns:r="http://schemas.openxmlformats.org/officeDocument/2006/relationships" xmlns:a="http://schemas.openxmlformats.org/drawingml/2006/main" r:embed="R9f5bac010f8b403e"/>
          <a:srcRect xmlns:a="http://schemas.openxmlformats.org/drawingml/2006/main" l="0" t="16331" r="0" b="16331"/>
          <a:stretch xmlns:a="http://schemas.openxmlformats.org/drawingml/2006/main">
            <a:fillRect l="0" t="0" r="0" b="0"/>
          </a:stretch>
        </p:blipFill>
        <p:spPr>
          <a:xfrm xmlns:a="http://schemas.openxmlformats.org/drawingml/2006/main">
            <a:off x="762000" y="2171700"/>
            <a:ext cx="5048250" cy="1971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227E65-FF3A-4C9D-AF9F-E76042B87D60}"/>
              </a:ext>
            </a:extLst>
          </p:cNvPr>
          <p:cNvSpPr>
            <a:spLocks xmlns:a="http://schemas.openxmlformats.org/drawingml/2006/main" noGrp="1"/>
          </p:cNvSpPr>
          <p:nvPr/>
        </p:nvSpPr>
        <p:spPr>
          <a:xfrm xmlns:a="http://schemas.openxmlformats.org/drawingml/2006/main">
            <a:off x="76200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2A013A-C754-4FD3-A67C-66BA92EC5CCE}"/>
              </a:ext>
            </a:extLst>
          </p:cNvPr>
          <p:cNvSpPr>
            <a:spLocks xmlns:a="http://schemas.openxmlformats.org/drawingml/2006/main" noGrp="1"/>
          </p:cNvSpPr>
          <p:nvPr/>
        </p:nvSpPr>
        <p:spPr>
          <a:xfrm xmlns:a="http://schemas.openxmlformats.org/drawingml/2006/main">
            <a:off x="76200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07</a:t>
            </a:r>
          </a:p>
        </p:txBody>
      </p:sp>
      <p:sp>
        <p:nvSpPr>
          <p:cNvPr id="8" name="">
            <a:extLst xmlns:a="http://schemas.openxmlformats.org/drawingml/2006/main">
              <a:ext uri="{FF2B5EF4-FFF2-40B4-BE49-F238E27FC236}">
                <a16:creationId xmlns:a16="http://schemas.microsoft.com/office/drawing/2014/main" id="{784EE154-91EA-406E-8176-A6607B708646}"/>
              </a:ext>
            </a:extLst>
          </p:cNvPr>
          <p:cNvSpPr>
            <a:spLocks xmlns:a="http://schemas.openxmlformats.org/drawingml/2006/main" noGrp="1"/>
          </p:cNvSpPr>
          <p:nvPr/>
        </p:nvSpPr>
        <p:spPr>
          <a:xfrm xmlns:a="http://schemas.openxmlformats.org/drawingml/2006/main">
            <a:off x="119062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i="0">
                <a:solidFill>
                  <a:srgbClr val="211D1A"/>
                </a:solidFill>
                <a:latin typeface="Georgia"/>
                <a:ea typeface="Georgia"/>
                <a:cs typeface="Georgia"/>
              </a:defRPr>
            </a:defPPr>
            <a:lvl1pPr algn="l">
              <a:defRPr sz="2400" b="0" i="0">
                <a:solidFill>
                  <a:srgbClr val="211D1A"/>
                </a:solidFill>
                <a:latin typeface="Georgia"/>
                <a:ea typeface="Georgia"/>
                <a:cs typeface="Georgia"/>
              </a:defRPr>
            </a:lvl1pPr>
            <a:lvl2pPr algn="l">
              <a:defRPr sz="2400" b="0" i="0">
                <a:solidFill>
                  <a:srgbClr val="211D1A"/>
                </a:solidFill>
                <a:latin typeface="Georgia"/>
                <a:ea typeface="Georgia"/>
                <a:cs typeface="Georgia"/>
              </a:defRPr>
            </a:lvl2pPr>
            <a:lvl3pPr algn="l">
              <a:defRPr sz="2400" b="0" i="0">
                <a:solidFill>
                  <a:srgbClr val="211D1A"/>
                </a:solidFill>
                <a:latin typeface="Georgia"/>
                <a:ea typeface="Georgia"/>
                <a:cs typeface="Georgia"/>
              </a:defRPr>
            </a:lvl3pPr>
            <a:lvl4pPr algn="l">
              <a:defRPr sz="2400" b="0" i="0">
                <a:solidFill>
                  <a:srgbClr val="211D1A"/>
                </a:solidFill>
                <a:latin typeface="Georgia"/>
                <a:ea typeface="Georgia"/>
                <a:cs typeface="Georgia"/>
              </a:defRPr>
            </a:lvl4pPr>
            <a:lvl5pPr algn="l">
              <a:defRPr sz="2400" b="0" i="0">
                <a:solidFill>
                  <a:srgbClr val="211D1A"/>
                </a:solidFill>
                <a:latin typeface="Georgia"/>
                <a:ea typeface="Georgia"/>
                <a:cs typeface="Georgia"/>
              </a:defRPr>
            </a:lvl5pPr>
            <a:lvl6pPr algn="l">
              <a:defRPr sz="2400" b="0" i="0">
                <a:solidFill>
                  <a:srgbClr val="211D1A"/>
                </a:solidFill>
                <a:latin typeface="Georgia"/>
                <a:ea typeface="Georgia"/>
                <a:cs typeface="Georgia"/>
              </a:defRPr>
            </a:lvl6pPr>
            <a:lvl7pPr algn="l">
              <a:defRPr sz="2400" b="0" i="0">
                <a:solidFill>
                  <a:srgbClr val="211D1A"/>
                </a:solidFill>
                <a:latin typeface="Georgia"/>
                <a:ea typeface="Georgia"/>
                <a:cs typeface="Georgia"/>
              </a:defRPr>
            </a:lvl7pPr>
            <a:lvl8pPr algn="l">
              <a:defRPr sz="2400" b="0" i="0">
                <a:solidFill>
                  <a:srgbClr val="211D1A"/>
                </a:solidFill>
                <a:latin typeface="Georgia"/>
                <a:ea typeface="Georgia"/>
                <a:cs typeface="Georgia"/>
              </a:defRPr>
            </a:lvl8pPr>
            <a:lvl9pPr algn="l">
              <a:defRPr sz="2400" b="0" i="0">
                <a:solidFill>
                  <a:srgbClr val="211D1A"/>
                </a:solidFill>
                <a:latin typeface="Georgia"/>
                <a:ea typeface="Georgia"/>
                <a:cs typeface="Georgia"/>
              </a:defRPr>
            </a:lvl9pPr>
          </a:lstStyle>
          <a:p xmlns:a="http://schemas.openxmlformats.org/drawingml/2006/main">
            <a:pPr algn="l">
              <a:lnSpc>
                <a:spcPct val="102000"/>
              </a:lnSpc>
              <a:buNone/>
              <a:defRPr sz="2400" b="0" i="0">
                <a:solidFill>
                  <a:srgbClr val="211D1A"/>
                </a:solidFill>
                <a:latin typeface="Georgia"/>
                <a:ea typeface="Georgia"/>
                <a:cs typeface="Georgia"/>
              </a:defRPr>
            </a:pPr>
            <a:r>
              <a:rPr sz="2400" b="0" i="0">
                <a:solidFill>
                  <a:srgbClr val="211D1A"/>
                </a:solidFill>
                <a:latin typeface="Georgia"/>
                <a:ea typeface="Georgia"/>
                <a:cs typeface="Georgia"/>
              </a:rPr>
              <a:t>Containers and port services</a:t>
            </a:r>
          </a:p>
        </p:txBody>
      </p:sp>
      <p:sp>
        <p:nvSpPr>
          <p:cNvPr id="9" name="">
            <a:extLst xmlns:a="http://schemas.openxmlformats.org/drawingml/2006/main">
              <a:ext uri="{FF2B5EF4-FFF2-40B4-BE49-F238E27FC236}">
                <a16:creationId xmlns:a16="http://schemas.microsoft.com/office/drawing/2014/main" id="{99FE289B-CC77-49EF-8D28-54B80797562A}"/>
              </a:ext>
            </a:extLst>
          </p:cNvPr>
          <p:cNvSpPr>
            <a:spLocks xmlns:a="http://schemas.openxmlformats.org/drawingml/2006/main" noGrp="1"/>
          </p:cNvSpPr>
          <p:nvPr/>
        </p:nvSpPr>
        <p:spPr>
          <a:xfrm xmlns:a="http://schemas.openxmlformats.org/drawingml/2006/main">
            <a:off x="76200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From Picassent, near the Port of Valencia: containers, consolidation, cross-docking, loading and storage for imports and exports.</a:t>
            </a:r>
          </a:p>
        </p:txBody>
      </p:sp>
      <p:sp>
        <p:nvSpPr>
          <p:cNvPr id="10" name="">
            <a:extLst xmlns:a="http://schemas.openxmlformats.org/drawingml/2006/main">
              <a:ext uri="{FF2B5EF4-FFF2-40B4-BE49-F238E27FC236}">
                <a16:creationId xmlns:a16="http://schemas.microsoft.com/office/drawing/2014/main" id="{68A9E60E-636F-4F9C-9E1C-CFFF1A0856F2}"/>
              </a:ext>
            </a:extLst>
          </p:cNvPr>
          <p:cNvSpPr>
            <a:spLocks xmlns:a="http://schemas.openxmlformats.org/drawingml/2006/main" noGrp="1"/>
          </p:cNvSpPr>
          <p:nvPr/>
        </p:nvSpPr>
        <p:spPr>
          <a:xfrm xmlns:a="http://schemas.openxmlformats.org/drawingml/2006/main">
            <a:off x="76200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Own resources near the port</a:t>
            </a:r>
          </a:p>
        </p:txBody>
      </p:sp>
      <p:pic>
        <p:nvPicPr>
          <p:cNvPr id="11" name="">
            <a:extLst xmlns:a="http://schemas.openxmlformats.org/drawingml/2006/main">
              <a:ext uri="{FF2B5EF4-FFF2-40B4-BE49-F238E27FC236}">
                <a16:creationId xmlns:a16="http://schemas.microsoft.com/office/drawing/2014/main" id="{2CA4B072-4A8A-43B3-B8D1-B3D194466BB7}"/>
              </a:ext>
            </a:extLst>
          </p:cNvPr>
          <p:cNvPicPr>
            <a:picLocks xmlns:a="http://schemas.openxmlformats.org/drawingml/2006/main" noChangeAspect="1"/>
          </p:cNvPicPr>
          <p:nvPr/>
        </p:nvPicPr>
        <p:blipFill>
          <a:blip xmlns:r="http://schemas.openxmlformats.org/officeDocument/2006/relationships" xmlns:a="http://schemas.openxmlformats.org/drawingml/2006/main" r:embed="R84ae1e1e7e0c4964"/>
          <a:srcRect xmlns:a="http://schemas.openxmlformats.org/drawingml/2006/main" l="0" t="16331" r="0" b="16331"/>
          <a:stretch xmlns:a="http://schemas.openxmlformats.org/drawingml/2006/main">
            <a:fillRect l="0" t="0" r="0" b="0"/>
          </a:stretch>
        </p:blipFill>
        <p:spPr>
          <a:xfrm xmlns:a="http://schemas.openxmlformats.org/drawingml/2006/main">
            <a:off x="6191250" y="2171700"/>
            <a:ext cx="5048250" cy="19716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9D4CE06-BE19-4D6D-AA97-B6B89F459629}"/>
              </a:ext>
            </a:extLst>
          </p:cNvPr>
          <p:cNvSpPr>
            <a:spLocks xmlns:a="http://schemas.openxmlformats.org/drawingml/2006/main" noGrp="1"/>
          </p:cNvSpPr>
          <p:nvPr/>
        </p:nvSpPr>
        <p:spPr>
          <a:xfrm xmlns:a="http://schemas.openxmlformats.org/drawingml/2006/main">
            <a:off x="6191250" y="4286250"/>
            <a:ext cx="504825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771B20-C4C8-4655-B7C5-1DD15A4FF1BC}"/>
              </a:ext>
            </a:extLst>
          </p:cNvPr>
          <p:cNvSpPr>
            <a:spLocks xmlns:a="http://schemas.openxmlformats.org/drawingml/2006/main" noGrp="1"/>
          </p:cNvSpPr>
          <p:nvPr/>
        </p:nvSpPr>
        <p:spPr>
          <a:xfrm xmlns:a="http://schemas.openxmlformats.org/drawingml/2006/main">
            <a:off x="6191250" y="4429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08</a:t>
            </a:r>
          </a:p>
        </p:txBody>
      </p:sp>
      <p:sp>
        <p:nvSpPr>
          <p:cNvPr id="14" name="">
            <a:extLst xmlns:a="http://schemas.openxmlformats.org/drawingml/2006/main">
              <a:ext uri="{FF2B5EF4-FFF2-40B4-BE49-F238E27FC236}">
                <a16:creationId xmlns:a16="http://schemas.microsoft.com/office/drawing/2014/main" id="{E1A74AF4-3B35-4C4A-819F-DBDFFAFB44A7}"/>
              </a:ext>
            </a:extLst>
          </p:cNvPr>
          <p:cNvSpPr>
            <a:spLocks xmlns:a="http://schemas.openxmlformats.org/drawingml/2006/main" noGrp="1"/>
          </p:cNvSpPr>
          <p:nvPr/>
        </p:nvSpPr>
        <p:spPr>
          <a:xfrm xmlns:a="http://schemas.openxmlformats.org/drawingml/2006/main">
            <a:off x="6619875" y="4362450"/>
            <a:ext cx="46196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0" i="0">
                <a:solidFill>
                  <a:srgbClr val="211D1A"/>
                </a:solidFill>
                <a:latin typeface="Georgia"/>
                <a:ea typeface="Georgia"/>
                <a:cs typeface="Georgia"/>
              </a:defRPr>
            </a:defPPr>
            <a:lvl1pPr algn="l">
              <a:defRPr sz="2850" b="0" i="0">
                <a:solidFill>
                  <a:srgbClr val="211D1A"/>
                </a:solidFill>
                <a:latin typeface="Georgia"/>
                <a:ea typeface="Georgia"/>
                <a:cs typeface="Georgia"/>
              </a:defRPr>
            </a:lvl1pPr>
            <a:lvl2pPr algn="l">
              <a:defRPr sz="2850" b="0" i="0">
                <a:solidFill>
                  <a:srgbClr val="211D1A"/>
                </a:solidFill>
                <a:latin typeface="Georgia"/>
                <a:ea typeface="Georgia"/>
                <a:cs typeface="Georgia"/>
              </a:defRPr>
            </a:lvl2pPr>
            <a:lvl3pPr algn="l">
              <a:defRPr sz="2850" b="0" i="0">
                <a:solidFill>
                  <a:srgbClr val="211D1A"/>
                </a:solidFill>
                <a:latin typeface="Georgia"/>
                <a:ea typeface="Georgia"/>
                <a:cs typeface="Georgia"/>
              </a:defRPr>
            </a:lvl3pPr>
            <a:lvl4pPr algn="l">
              <a:defRPr sz="2850" b="0" i="0">
                <a:solidFill>
                  <a:srgbClr val="211D1A"/>
                </a:solidFill>
                <a:latin typeface="Georgia"/>
                <a:ea typeface="Georgia"/>
                <a:cs typeface="Georgia"/>
              </a:defRPr>
            </a:lvl4pPr>
            <a:lvl5pPr algn="l">
              <a:defRPr sz="2850" b="0" i="0">
                <a:solidFill>
                  <a:srgbClr val="211D1A"/>
                </a:solidFill>
                <a:latin typeface="Georgia"/>
                <a:ea typeface="Georgia"/>
                <a:cs typeface="Georgia"/>
              </a:defRPr>
            </a:lvl5pPr>
            <a:lvl6pPr algn="l">
              <a:defRPr sz="2850" b="0" i="0">
                <a:solidFill>
                  <a:srgbClr val="211D1A"/>
                </a:solidFill>
                <a:latin typeface="Georgia"/>
                <a:ea typeface="Georgia"/>
                <a:cs typeface="Georgia"/>
              </a:defRPr>
            </a:lvl6pPr>
            <a:lvl7pPr algn="l">
              <a:defRPr sz="2850" b="0" i="0">
                <a:solidFill>
                  <a:srgbClr val="211D1A"/>
                </a:solidFill>
                <a:latin typeface="Georgia"/>
                <a:ea typeface="Georgia"/>
                <a:cs typeface="Georgia"/>
              </a:defRPr>
            </a:lvl7pPr>
            <a:lvl8pPr algn="l">
              <a:defRPr sz="2850" b="0" i="0">
                <a:solidFill>
                  <a:srgbClr val="211D1A"/>
                </a:solidFill>
                <a:latin typeface="Georgia"/>
                <a:ea typeface="Georgia"/>
                <a:cs typeface="Georgia"/>
              </a:defRPr>
            </a:lvl8pPr>
            <a:lvl9pPr algn="l">
              <a:defRPr sz="2850" b="0" i="0">
                <a:solidFill>
                  <a:srgbClr val="211D1A"/>
                </a:solidFill>
                <a:latin typeface="Georgia"/>
                <a:ea typeface="Georgia"/>
                <a:cs typeface="Georgia"/>
              </a:defRPr>
            </a:lvl9pPr>
          </a:lstStyle>
          <a:p xmlns:a="http://schemas.openxmlformats.org/drawingml/2006/main">
            <a:pPr algn="l">
              <a:lnSpc>
                <a:spcPct val="102000"/>
              </a:lnSpc>
              <a:buNone/>
              <a:defRPr sz="2850" b="0" i="0">
                <a:solidFill>
                  <a:srgbClr val="211D1A"/>
                </a:solidFill>
                <a:latin typeface="Georgia"/>
                <a:ea typeface="Georgia"/>
                <a:cs typeface="Georgia"/>
              </a:defRPr>
            </a:pPr>
            <a:r>
              <a:rPr sz="2850" b="0" i="0">
                <a:solidFill>
                  <a:srgbClr val="211D1A"/>
                </a:solidFill>
                <a:latin typeface="Georgia"/>
                <a:ea typeface="Georgia"/>
                <a:cs typeface="Georgia"/>
              </a:rPr>
              <a:t>Stock management</a:t>
            </a:r>
          </a:p>
        </p:txBody>
      </p:sp>
      <p:sp>
        <p:nvSpPr>
          <p:cNvPr id="15" name="">
            <a:extLst xmlns:a="http://schemas.openxmlformats.org/drawingml/2006/main">
              <a:ext uri="{FF2B5EF4-FFF2-40B4-BE49-F238E27FC236}">
                <a16:creationId xmlns:a16="http://schemas.microsoft.com/office/drawing/2014/main" id="{DFA7B09F-3ADF-4E57-B101-2880A3826A21}"/>
              </a:ext>
            </a:extLst>
          </p:cNvPr>
          <p:cNvSpPr>
            <a:spLocks xmlns:a="http://schemas.openxmlformats.org/drawingml/2006/main" noGrp="1"/>
          </p:cNvSpPr>
          <p:nvPr/>
        </p:nvSpPr>
        <p:spPr>
          <a:xfrm xmlns:a="http://schemas.openxmlformats.org/drawingml/2006/main">
            <a:off x="6191250" y="4981575"/>
            <a:ext cx="5048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Sertranin teams work on customers’ premises, handling stock, orders, documentation and labelling.</a:t>
            </a:r>
          </a:p>
        </p:txBody>
      </p:sp>
      <p:sp>
        <p:nvSpPr>
          <p:cNvPr id="16" name="">
            <a:extLst xmlns:a="http://schemas.openxmlformats.org/drawingml/2006/main">
              <a:ext uri="{FF2B5EF4-FFF2-40B4-BE49-F238E27FC236}">
                <a16:creationId xmlns:a16="http://schemas.microsoft.com/office/drawing/2014/main" id="{D1614594-E99C-4C24-81F6-873712D28D1B}"/>
              </a:ext>
            </a:extLst>
          </p:cNvPr>
          <p:cNvSpPr>
            <a:spLocks xmlns:a="http://schemas.openxmlformats.org/drawingml/2006/main" noGrp="1"/>
          </p:cNvSpPr>
          <p:nvPr/>
        </p:nvSpPr>
        <p:spPr>
          <a:xfrm xmlns:a="http://schemas.openxmlformats.org/drawingml/2006/main">
            <a:off x="6191250" y="5943600"/>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F1727"/>
                </a:solidFill>
                <a:latin typeface="Arial"/>
                <a:ea typeface="Arial"/>
                <a:cs typeface="Arial"/>
              </a:defRPr>
            </a:defPPr>
            <a:lvl1pPr algn="l">
              <a:defRPr sz="1125" b="1" i="0">
                <a:solidFill>
                  <a:srgbClr val="CF1727"/>
                </a:solidFill>
                <a:latin typeface="Arial"/>
                <a:ea typeface="Arial"/>
                <a:cs typeface="Arial"/>
              </a:defRPr>
            </a:lvl1pPr>
            <a:lvl2pPr algn="l">
              <a:defRPr sz="1125" b="1" i="0">
                <a:solidFill>
                  <a:srgbClr val="CF1727"/>
                </a:solidFill>
                <a:latin typeface="Arial"/>
                <a:ea typeface="Arial"/>
                <a:cs typeface="Arial"/>
              </a:defRPr>
            </a:lvl2pPr>
            <a:lvl3pPr algn="l">
              <a:defRPr sz="1125" b="1" i="0">
                <a:solidFill>
                  <a:srgbClr val="CF1727"/>
                </a:solidFill>
                <a:latin typeface="Arial"/>
                <a:ea typeface="Arial"/>
                <a:cs typeface="Arial"/>
              </a:defRPr>
            </a:lvl3pPr>
            <a:lvl4pPr algn="l">
              <a:defRPr sz="1125" b="1" i="0">
                <a:solidFill>
                  <a:srgbClr val="CF1727"/>
                </a:solidFill>
                <a:latin typeface="Arial"/>
                <a:ea typeface="Arial"/>
                <a:cs typeface="Arial"/>
              </a:defRPr>
            </a:lvl4pPr>
            <a:lvl5pPr algn="l">
              <a:defRPr sz="1125" b="1" i="0">
                <a:solidFill>
                  <a:srgbClr val="CF1727"/>
                </a:solidFill>
                <a:latin typeface="Arial"/>
                <a:ea typeface="Arial"/>
                <a:cs typeface="Arial"/>
              </a:defRPr>
            </a:lvl5pPr>
            <a:lvl6pPr algn="l">
              <a:defRPr sz="1125" b="1" i="0">
                <a:solidFill>
                  <a:srgbClr val="CF1727"/>
                </a:solidFill>
                <a:latin typeface="Arial"/>
                <a:ea typeface="Arial"/>
                <a:cs typeface="Arial"/>
              </a:defRPr>
            </a:lvl6pPr>
            <a:lvl7pPr algn="l">
              <a:defRPr sz="1125" b="1" i="0">
                <a:solidFill>
                  <a:srgbClr val="CF1727"/>
                </a:solidFill>
                <a:latin typeface="Arial"/>
                <a:ea typeface="Arial"/>
                <a:cs typeface="Arial"/>
              </a:defRPr>
            </a:lvl7pPr>
            <a:lvl8pPr algn="l">
              <a:defRPr sz="1125" b="1" i="0">
                <a:solidFill>
                  <a:srgbClr val="CF1727"/>
                </a:solidFill>
                <a:latin typeface="Arial"/>
                <a:ea typeface="Arial"/>
                <a:cs typeface="Arial"/>
              </a:defRPr>
            </a:lvl8pPr>
            <a:lvl9pPr algn="l">
              <a:defRPr sz="1125" b="1" i="0">
                <a:solidFill>
                  <a:srgbClr val="CF1727"/>
                </a:solidFill>
                <a:latin typeface="Arial"/>
                <a:ea typeface="Arial"/>
                <a:cs typeface="Arial"/>
              </a:defRPr>
            </a:lvl9pPr>
          </a:lstStyle>
          <a:p xmlns:a="http://schemas.openxmlformats.org/drawingml/2006/main">
            <a:pPr algn="l">
              <a:lnSpc>
                <a:spcPct val="102000"/>
              </a:lnSpc>
              <a:buNone/>
              <a:defRPr sz="1125" b="1" i="0">
                <a:solidFill>
                  <a:srgbClr val="CF1727"/>
                </a:solidFill>
                <a:latin typeface="Arial"/>
                <a:ea typeface="Arial"/>
                <a:cs typeface="Arial"/>
              </a:defRPr>
            </a:pPr>
            <a:r>
              <a:rPr sz="1125" b="1" i="0">
                <a:solidFill>
                  <a:srgbClr val="CF1727"/>
                </a:solidFill>
                <a:latin typeface="Arial"/>
                <a:ea typeface="Arial"/>
                <a:cs typeface="Arial"/>
              </a:rPr>
              <a:t>Logistics integrated into customers’ operations</a:t>
            </a:r>
          </a:p>
        </p:txBody>
      </p:sp>
      <p:sp>
        <p:nvSpPr>
          <p:cNvPr id="17" name="">
            <a:extLst xmlns:a="http://schemas.openxmlformats.org/drawingml/2006/main">
              <a:ext uri="{FF2B5EF4-FFF2-40B4-BE49-F238E27FC236}">
                <a16:creationId xmlns:a16="http://schemas.microsoft.com/office/drawing/2014/main" id="{C2F91D60-63B4-4538-8DDD-0C4E1AE02273}"/>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B22399A-0B4D-4310-A9A4-FB3148EF7AAE}"/>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02 / WHAT WE DO</a:t>
            </a:r>
          </a:p>
        </p:txBody>
      </p:sp>
      <p:sp>
        <p:nvSpPr>
          <p:cNvPr id="19" name="">
            <a:extLst xmlns:a="http://schemas.openxmlformats.org/drawingml/2006/main">
              <a:ext uri="{FF2B5EF4-FFF2-40B4-BE49-F238E27FC236}">
                <a16:creationId xmlns:a16="http://schemas.microsoft.com/office/drawing/2014/main" id="{830ACFA6-A5CB-48D5-B775-823C3CD0E0F6}"/>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08 / 16</a:t>
            </a:r>
          </a:p>
        </p:txBody>
      </p:sp>
    </p:spTree>
    <p:extLst>
      <p:ext uri="{BB962C8B-B14F-4D97-AF65-F5344CB8AC3E}">
        <p14:creationId xmlns:p14="http://schemas.microsoft.com/office/powerpoint/2010/main" val="19631004"/>
      </p:ext>
    </p:extLst>
  </p:cSld>
</p:sld>
</file>

<file path=ppt/slides/slide9.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D0BD2CFF-4E67-4692-BF88-EF8789903097}"/>
              </a:ext>
            </a:extLst>
          </p:cNvPr>
          <p:cNvPicPr>
            <a:picLocks xmlns:a="http://schemas.openxmlformats.org/drawingml/2006/main" noChangeAspect="1"/>
          </p:cNvPicPr>
          <p:nvPr/>
        </p:nvPicPr>
        <p:blipFill>
          <a:blip xmlns:r="http://schemas.openxmlformats.org/officeDocument/2006/relationships" xmlns:a="http://schemas.openxmlformats.org/drawingml/2006/main" r:embed="R3f6f3465d3904d02"/>
          <a:srcRect xmlns:a="http://schemas.openxmlformats.org/drawingml/2006/main" l="15822" t="0" r="15822"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18262B-E045-4951-A3BF-0626C6A90E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A1B">
              <a:alpha val="79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63F1EC-BB55-4C99-8452-B9774D4D7445}"/>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C4B382-12E0-45F9-8CB3-4496228DBCDA}"/>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EQUIPMENT FOR DIFFERENT LOADS</a:t>
            </a:r>
          </a:p>
        </p:txBody>
      </p:sp>
      <p:sp>
        <p:nvSpPr>
          <p:cNvPr id="5" name="">
            <a:extLst xmlns:a="http://schemas.openxmlformats.org/drawingml/2006/main">
              <a:ext uri="{FF2B5EF4-FFF2-40B4-BE49-F238E27FC236}">
                <a16:creationId xmlns:a16="http://schemas.microsoft.com/office/drawing/2014/main" id="{3C3B8C70-0345-471E-AFB1-57C987559240}"/>
              </a:ext>
            </a:extLst>
          </p:cNvPr>
          <p:cNvSpPr>
            <a:spLocks xmlns:a="http://schemas.openxmlformats.org/drawingml/2006/main" noGrp="1"/>
          </p:cNvSpPr>
          <p:nvPr/>
        </p:nvSpPr>
        <p:spPr>
          <a:xfrm xmlns:a="http://schemas.openxmlformats.org/drawingml/2006/main">
            <a:off x="762000" y="1028700"/>
            <a:ext cx="10668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0" i="0">
                <a:solidFill>
                  <a:srgbClr val="FFFFFF"/>
                </a:solidFill>
                <a:latin typeface="Georgia"/>
                <a:ea typeface="Georgia"/>
                <a:cs typeface="Georgia"/>
              </a:defRPr>
            </a:defPPr>
            <a:lvl1pPr algn="l">
              <a:defRPr sz="5250" b="0" i="0">
                <a:solidFill>
                  <a:srgbClr val="FFFFFF"/>
                </a:solidFill>
                <a:latin typeface="Georgia"/>
                <a:ea typeface="Georgia"/>
                <a:cs typeface="Georgia"/>
              </a:defRPr>
            </a:lvl1pPr>
            <a:lvl2pPr algn="l">
              <a:defRPr sz="5250" b="0" i="0">
                <a:solidFill>
                  <a:srgbClr val="FFFFFF"/>
                </a:solidFill>
                <a:latin typeface="Georgia"/>
                <a:ea typeface="Georgia"/>
                <a:cs typeface="Georgia"/>
              </a:defRPr>
            </a:lvl2pPr>
            <a:lvl3pPr algn="l">
              <a:defRPr sz="5250" b="0" i="0">
                <a:solidFill>
                  <a:srgbClr val="FFFFFF"/>
                </a:solidFill>
                <a:latin typeface="Georgia"/>
                <a:ea typeface="Georgia"/>
                <a:cs typeface="Georgia"/>
              </a:defRPr>
            </a:lvl3pPr>
            <a:lvl4pPr algn="l">
              <a:defRPr sz="5250" b="0" i="0">
                <a:solidFill>
                  <a:srgbClr val="FFFFFF"/>
                </a:solidFill>
                <a:latin typeface="Georgia"/>
                <a:ea typeface="Georgia"/>
                <a:cs typeface="Georgia"/>
              </a:defRPr>
            </a:lvl4pPr>
            <a:lvl5pPr algn="l">
              <a:defRPr sz="5250" b="0" i="0">
                <a:solidFill>
                  <a:srgbClr val="FFFFFF"/>
                </a:solidFill>
                <a:latin typeface="Georgia"/>
                <a:ea typeface="Georgia"/>
                <a:cs typeface="Georgia"/>
              </a:defRPr>
            </a:lvl5pPr>
            <a:lvl6pPr algn="l">
              <a:defRPr sz="5250" b="0" i="0">
                <a:solidFill>
                  <a:srgbClr val="FFFFFF"/>
                </a:solidFill>
                <a:latin typeface="Georgia"/>
                <a:ea typeface="Georgia"/>
                <a:cs typeface="Georgia"/>
              </a:defRPr>
            </a:lvl6pPr>
            <a:lvl7pPr algn="l">
              <a:defRPr sz="5250" b="0" i="0">
                <a:solidFill>
                  <a:srgbClr val="FFFFFF"/>
                </a:solidFill>
                <a:latin typeface="Georgia"/>
                <a:ea typeface="Georgia"/>
                <a:cs typeface="Georgia"/>
              </a:defRPr>
            </a:lvl7pPr>
            <a:lvl8pPr algn="l">
              <a:defRPr sz="5250" b="0" i="0">
                <a:solidFill>
                  <a:srgbClr val="FFFFFF"/>
                </a:solidFill>
                <a:latin typeface="Georgia"/>
                <a:ea typeface="Georgia"/>
                <a:cs typeface="Georgia"/>
              </a:defRPr>
            </a:lvl8pPr>
            <a:lvl9pPr algn="l">
              <a:defRPr sz="5250" b="0" i="0">
                <a:solidFill>
                  <a:srgbClr val="FFFFFF"/>
                </a:solidFill>
                <a:latin typeface="Georgia"/>
                <a:ea typeface="Georgia"/>
                <a:cs typeface="Georgia"/>
              </a:defRPr>
            </a:lvl9pPr>
          </a:lstStyle>
          <a:p xmlns:a="http://schemas.openxmlformats.org/drawingml/2006/main">
            <a:pPr algn="l">
              <a:lnSpc>
                <a:spcPct val="98000"/>
              </a:lnSpc>
              <a:buNone/>
              <a:defRPr sz="5250" b="0" i="0">
                <a:solidFill>
                  <a:srgbClr val="FFFFFF"/>
                </a:solidFill>
                <a:latin typeface="Georgia"/>
                <a:ea typeface="Georgia"/>
                <a:cs typeface="Georgia"/>
              </a:defRPr>
            </a:pPr>
            <a:r>
              <a:rPr sz="5250" b="0" i="0">
                <a:solidFill>
                  <a:srgbClr val="FFFFFF"/>
                </a:solidFill>
                <a:latin typeface="Georgia"/>
                <a:ea typeface="Georgia"/>
                <a:cs typeface="Georgia"/>
              </a:rPr>
              <a:t>A fleet for different types of cargo</a:t>
            </a:r>
          </a:p>
        </p:txBody>
      </p:sp>
      <p:sp>
        <p:nvSpPr>
          <p:cNvPr id="6" name="">
            <a:extLst xmlns:a="http://schemas.openxmlformats.org/drawingml/2006/main">
              <a:ext uri="{FF2B5EF4-FFF2-40B4-BE49-F238E27FC236}">
                <a16:creationId xmlns:a16="http://schemas.microsoft.com/office/drawing/2014/main" id="{D7201392-684C-461E-95E1-F8A1CFDB949A}"/>
              </a:ext>
            </a:extLst>
          </p:cNvPr>
          <p:cNvSpPr>
            <a:spLocks xmlns:a="http://schemas.openxmlformats.org/drawingml/2006/main" noGrp="1"/>
          </p:cNvSpPr>
          <p:nvPr/>
        </p:nvSpPr>
        <p:spPr>
          <a:xfrm xmlns:a="http://schemas.openxmlformats.org/drawingml/2006/main">
            <a:off x="7620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8027F1-E14B-4443-9F8A-362AD31099B7}"/>
              </a:ext>
            </a:extLst>
          </p:cNvPr>
          <p:cNvSpPr>
            <a:spLocks xmlns:a="http://schemas.openxmlformats.org/drawingml/2006/main" noGrp="1"/>
          </p:cNvSpPr>
          <p:nvPr/>
        </p:nvSpPr>
        <p:spPr>
          <a:xfrm xmlns:a="http://schemas.openxmlformats.org/drawingml/2006/main">
            <a:off x="7620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C6E5E99-0F41-407D-A938-E33CE4D8B238}"/>
              </a:ext>
            </a:extLst>
          </p:cNvPr>
          <p:cNvSpPr>
            <a:spLocks xmlns:a="http://schemas.openxmlformats.org/drawingml/2006/main" noGrp="1"/>
          </p:cNvSpPr>
          <p:nvPr/>
        </p:nvSpPr>
        <p:spPr>
          <a:xfrm xmlns:a="http://schemas.openxmlformats.org/drawingml/2006/main">
            <a:off x="7620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FFFFFF"/>
                </a:solidFill>
                <a:latin typeface="Georgia"/>
                <a:ea typeface="Georgia"/>
                <a:cs typeface="Georgia"/>
              </a:defRPr>
            </a:defPPr>
            <a:lvl1pPr algn="l">
              <a:defRPr sz="3375" b="0" i="0">
                <a:solidFill>
                  <a:srgbClr val="FFFFFF"/>
                </a:solidFill>
                <a:latin typeface="Georgia"/>
                <a:ea typeface="Georgia"/>
                <a:cs typeface="Georgia"/>
              </a:defRPr>
            </a:lvl1pPr>
            <a:lvl2pPr algn="l">
              <a:defRPr sz="3375" b="0" i="0">
                <a:solidFill>
                  <a:srgbClr val="FFFFFF"/>
                </a:solidFill>
                <a:latin typeface="Georgia"/>
                <a:ea typeface="Georgia"/>
                <a:cs typeface="Georgia"/>
              </a:defRPr>
            </a:lvl2pPr>
            <a:lvl3pPr algn="l">
              <a:defRPr sz="3375" b="0" i="0">
                <a:solidFill>
                  <a:srgbClr val="FFFFFF"/>
                </a:solidFill>
                <a:latin typeface="Georgia"/>
                <a:ea typeface="Georgia"/>
                <a:cs typeface="Georgia"/>
              </a:defRPr>
            </a:lvl3pPr>
            <a:lvl4pPr algn="l">
              <a:defRPr sz="3375" b="0" i="0">
                <a:solidFill>
                  <a:srgbClr val="FFFFFF"/>
                </a:solidFill>
                <a:latin typeface="Georgia"/>
                <a:ea typeface="Georgia"/>
                <a:cs typeface="Georgia"/>
              </a:defRPr>
            </a:lvl4pPr>
            <a:lvl5pPr algn="l">
              <a:defRPr sz="3375" b="0" i="0">
                <a:solidFill>
                  <a:srgbClr val="FFFFFF"/>
                </a:solidFill>
                <a:latin typeface="Georgia"/>
                <a:ea typeface="Georgia"/>
                <a:cs typeface="Georgia"/>
              </a:defRPr>
            </a:lvl5pPr>
            <a:lvl6pPr algn="l">
              <a:defRPr sz="3375" b="0" i="0">
                <a:solidFill>
                  <a:srgbClr val="FFFFFF"/>
                </a:solidFill>
                <a:latin typeface="Georgia"/>
                <a:ea typeface="Georgia"/>
                <a:cs typeface="Georgia"/>
              </a:defRPr>
            </a:lvl6pPr>
            <a:lvl7pPr algn="l">
              <a:defRPr sz="3375" b="0" i="0">
                <a:solidFill>
                  <a:srgbClr val="FFFFFF"/>
                </a:solidFill>
                <a:latin typeface="Georgia"/>
                <a:ea typeface="Georgia"/>
                <a:cs typeface="Georgia"/>
              </a:defRPr>
            </a:lvl7pPr>
            <a:lvl8pPr algn="l">
              <a:defRPr sz="3375" b="0" i="0">
                <a:solidFill>
                  <a:srgbClr val="FFFFFF"/>
                </a:solidFill>
                <a:latin typeface="Georgia"/>
                <a:ea typeface="Georgia"/>
                <a:cs typeface="Georgia"/>
              </a:defRPr>
            </a:lvl8pPr>
            <a:lvl9pPr algn="l">
              <a:defRPr sz="3375" b="0" i="0">
                <a:solidFill>
                  <a:srgbClr val="FFFFFF"/>
                </a:solidFill>
                <a:latin typeface="Georgia"/>
                <a:ea typeface="Georgia"/>
                <a:cs typeface="Georgia"/>
              </a:defRPr>
            </a:lvl9pPr>
          </a:lstStyle>
          <a:p xmlns:a="http://schemas.openxmlformats.org/drawingml/2006/main">
            <a:pPr algn="l">
              <a:lnSpc>
                <a:spcPct val="102000"/>
              </a:lnSpc>
              <a:buNone/>
              <a:defRPr sz="3375" b="0" i="0">
                <a:solidFill>
                  <a:srgbClr val="FFFFFF"/>
                </a:solidFill>
                <a:latin typeface="Georgia"/>
                <a:ea typeface="Georgia"/>
                <a:cs typeface="Georgia"/>
              </a:defRPr>
            </a:pPr>
            <a:r>
              <a:rPr sz="3375" b="0" i="0">
                <a:solidFill>
                  <a:srgbClr val="FFFFFF"/>
                </a:solidFill>
                <a:latin typeface="Georgia"/>
                <a:ea typeface="Georgia"/>
                <a:cs typeface="Georgia"/>
              </a:rPr>
              <a:t>Tipper trailers</a:t>
            </a:r>
          </a:p>
        </p:txBody>
      </p:sp>
      <p:sp>
        <p:nvSpPr>
          <p:cNvPr id="9" name="">
            <a:extLst xmlns:a="http://schemas.openxmlformats.org/drawingml/2006/main">
              <a:ext uri="{FF2B5EF4-FFF2-40B4-BE49-F238E27FC236}">
                <a16:creationId xmlns:a16="http://schemas.microsoft.com/office/drawing/2014/main" id="{B84E4985-A840-44FE-94F9-6614E897CD6A}"/>
              </a:ext>
            </a:extLst>
          </p:cNvPr>
          <p:cNvSpPr>
            <a:spLocks xmlns:a="http://schemas.openxmlformats.org/drawingml/2006/main" noGrp="1"/>
          </p:cNvSpPr>
          <p:nvPr/>
        </p:nvSpPr>
        <p:spPr>
          <a:xfrm xmlns:a="http://schemas.openxmlformats.org/drawingml/2006/main">
            <a:off x="43815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80B1B1-E605-4452-9BB0-B567564D8AA0}"/>
              </a:ext>
            </a:extLst>
          </p:cNvPr>
          <p:cNvSpPr>
            <a:spLocks xmlns:a="http://schemas.openxmlformats.org/drawingml/2006/main" noGrp="1"/>
          </p:cNvSpPr>
          <p:nvPr/>
        </p:nvSpPr>
        <p:spPr>
          <a:xfrm xmlns:a="http://schemas.openxmlformats.org/drawingml/2006/main">
            <a:off x="43815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6855660-23C2-4427-93C8-0890CE19ACEF}"/>
              </a:ext>
            </a:extLst>
          </p:cNvPr>
          <p:cNvSpPr>
            <a:spLocks xmlns:a="http://schemas.openxmlformats.org/drawingml/2006/main" noGrp="1"/>
          </p:cNvSpPr>
          <p:nvPr/>
        </p:nvSpPr>
        <p:spPr>
          <a:xfrm xmlns:a="http://schemas.openxmlformats.org/drawingml/2006/main">
            <a:off x="43815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FFFFFF"/>
                </a:solidFill>
                <a:latin typeface="Georgia"/>
                <a:ea typeface="Georgia"/>
                <a:cs typeface="Georgia"/>
              </a:defRPr>
            </a:defPPr>
            <a:lvl1pPr algn="l">
              <a:defRPr sz="3375" b="0" i="0">
                <a:solidFill>
                  <a:srgbClr val="FFFFFF"/>
                </a:solidFill>
                <a:latin typeface="Georgia"/>
                <a:ea typeface="Georgia"/>
                <a:cs typeface="Georgia"/>
              </a:defRPr>
            </a:lvl1pPr>
            <a:lvl2pPr algn="l">
              <a:defRPr sz="3375" b="0" i="0">
                <a:solidFill>
                  <a:srgbClr val="FFFFFF"/>
                </a:solidFill>
                <a:latin typeface="Georgia"/>
                <a:ea typeface="Georgia"/>
                <a:cs typeface="Georgia"/>
              </a:defRPr>
            </a:lvl2pPr>
            <a:lvl3pPr algn="l">
              <a:defRPr sz="3375" b="0" i="0">
                <a:solidFill>
                  <a:srgbClr val="FFFFFF"/>
                </a:solidFill>
                <a:latin typeface="Georgia"/>
                <a:ea typeface="Georgia"/>
                <a:cs typeface="Georgia"/>
              </a:defRPr>
            </a:lvl3pPr>
            <a:lvl4pPr algn="l">
              <a:defRPr sz="3375" b="0" i="0">
                <a:solidFill>
                  <a:srgbClr val="FFFFFF"/>
                </a:solidFill>
                <a:latin typeface="Georgia"/>
                <a:ea typeface="Georgia"/>
                <a:cs typeface="Georgia"/>
              </a:defRPr>
            </a:lvl4pPr>
            <a:lvl5pPr algn="l">
              <a:defRPr sz="3375" b="0" i="0">
                <a:solidFill>
                  <a:srgbClr val="FFFFFF"/>
                </a:solidFill>
                <a:latin typeface="Georgia"/>
                <a:ea typeface="Georgia"/>
                <a:cs typeface="Georgia"/>
              </a:defRPr>
            </a:lvl5pPr>
            <a:lvl6pPr algn="l">
              <a:defRPr sz="3375" b="0" i="0">
                <a:solidFill>
                  <a:srgbClr val="FFFFFF"/>
                </a:solidFill>
                <a:latin typeface="Georgia"/>
                <a:ea typeface="Georgia"/>
                <a:cs typeface="Georgia"/>
              </a:defRPr>
            </a:lvl6pPr>
            <a:lvl7pPr algn="l">
              <a:defRPr sz="3375" b="0" i="0">
                <a:solidFill>
                  <a:srgbClr val="FFFFFF"/>
                </a:solidFill>
                <a:latin typeface="Georgia"/>
                <a:ea typeface="Georgia"/>
                <a:cs typeface="Georgia"/>
              </a:defRPr>
            </a:lvl7pPr>
            <a:lvl8pPr algn="l">
              <a:defRPr sz="3375" b="0" i="0">
                <a:solidFill>
                  <a:srgbClr val="FFFFFF"/>
                </a:solidFill>
                <a:latin typeface="Georgia"/>
                <a:ea typeface="Georgia"/>
                <a:cs typeface="Georgia"/>
              </a:defRPr>
            </a:lvl8pPr>
            <a:lvl9pPr algn="l">
              <a:defRPr sz="3375" b="0" i="0">
                <a:solidFill>
                  <a:srgbClr val="FFFFFF"/>
                </a:solidFill>
                <a:latin typeface="Georgia"/>
                <a:ea typeface="Georgia"/>
                <a:cs typeface="Georgia"/>
              </a:defRPr>
            </a:lvl9pPr>
          </a:lstStyle>
          <a:p xmlns:a="http://schemas.openxmlformats.org/drawingml/2006/main">
            <a:pPr algn="l">
              <a:lnSpc>
                <a:spcPct val="102000"/>
              </a:lnSpc>
              <a:buNone/>
              <a:defRPr sz="3375" b="0" i="0">
                <a:solidFill>
                  <a:srgbClr val="FFFFFF"/>
                </a:solidFill>
                <a:latin typeface="Georgia"/>
                <a:ea typeface="Georgia"/>
                <a:cs typeface="Georgia"/>
              </a:defRPr>
            </a:pPr>
            <a:r>
              <a:rPr sz="3375" b="0" i="0">
                <a:solidFill>
                  <a:srgbClr val="FFFFFF"/>
                </a:solidFill>
                <a:latin typeface="Georgia"/>
                <a:ea typeface="Georgia"/>
                <a:cs typeface="Georgia"/>
              </a:rPr>
              <a:t>Curtainsiders</a:t>
            </a:r>
          </a:p>
        </p:txBody>
      </p:sp>
      <p:sp>
        <p:nvSpPr>
          <p:cNvPr id="12" name="">
            <a:extLst xmlns:a="http://schemas.openxmlformats.org/drawingml/2006/main">
              <a:ext uri="{FF2B5EF4-FFF2-40B4-BE49-F238E27FC236}">
                <a16:creationId xmlns:a16="http://schemas.microsoft.com/office/drawing/2014/main" id="{9B7B3A4F-D7B3-4368-A664-FD469DDB01B9}"/>
              </a:ext>
            </a:extLst>
          </p:cNvPr>
          <p:cNvSpPr>
            <a:spLocks xmlns:a="http://schemas.openxmlformats.org/drawingml/2006/main" noGrp="1"/>
          </p:cNvSpPr>
          <p:nvPr/>
        </p:nvSpPr>
        <p:spPr>
          <a:xfrm xmlns:a="http://schemas.openxmlformats.org/drawingml/2006/main">
            <a:off x="8001000" y="3381375"/>
            <a:ext cx="3143250" cy="9525"/>
          </a:xfrm>
          <a:prstGeom xmlns:a="http://schemas.openxmlformats.org/drawingml/2006/main" prst="rect">
            <a:avLst/>
          </a:prstGeom>
          <a:solidFill xmlns:a="http://schemas.openxmlformats.org/drawingml/2006/main">
            <a:srgbClr val="FFFFFF">
              <a:alpha val="65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BCA0D57-0CD9-4BFD-A3D9-BCB101AF864E}"/>
              </a:ext>
            </a:extLst>
          </p:cNvPr>
          <p:cNvSpPr>
            <a:spLocks xmlns:a="http://schemas.openxmlformats.org/drawingml/2006/main" noGrp="1"/>
          </p:cNvSpPr>
          <p:nvPr/>
        </p:nvSpPr>
        <p:spPr>
          <a:xfrm xmlns:a="http://schemas.openxmlformats.org/drawingml/2006/main">
            <a:off x="8001000" y="35718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D96"/>
                </a:solidFill>
                <a:latin typeface="Arial"/>
                <a:ea typeface="Arial"/>
                <a:cs typeface="Arial"/>
              </a:defRPr>
            </a:defPPr>
            <a:lvl1pPr algn="l">
              <a:defRPr sz="1050" b="1" i="0">
                <a:solidFill>
                  <a:srgbClr val="FF8D96"/>
                </a:solidFill>
                <a:latin typeface="Arial"/>
                <a:ea typeface="Arial"/>
                <a:cs typeface="Arial"/>
              </a:defRPr>
            </a:lvl1pPr>
            <a:lvl2pPr algn="l">
              <a:defRPr sz="1050" b="1" i="0">
                <a:solidFill>
                  <a:srgbClr val="FF8D96"/>
                </a:solidFill>
                <a:latin typeface="Arial"/>
                <a:ea typeface="Arial"/>
                <a:cs typeface="Arial"/>
              </a:defRPr>
            </a:lvl2pPr>
            <a:lvl3pPr algn="l">
              <a:defRPr sz="1050" b="1" i="0">
                <a:solidFill>
                  <a:srgbClr val="FF8D96"/>
                </a:solidFill>
                <a:latin typeface="Arial"/>
                <a:ea typeface="Arial"/>
                <a:cs typeface="Arial"/>
              </a:defRPr>
            </a:lvl3pPr>
            <a:lvl4pPr algn="l">
              <a:defRPr sz="1050" b="1" i="0">
                <a:solidFill>
                  <a:srgbClr val="FF8D96"/>
                </a:solidFill>
                <a:latin typeface="Arial"/>
                <a:ea typeface="Arial"/>
                <a:cs typeface="Arial"/>
              </a:defRPr>
            </a:lvl4pPr>
            <a:lvl5pPr algn="l">
              <a:defRPr sz="1050" b="1" i="0">
                <a:solidFill>
                  <a:srgbClr val="FF8D96"/>
                </a:solidFill>
                <a:latin typeface="Arial"/>
                <a:ea typeface="Arial"/>
                <a:cs typeface="Arial"/>
              </a:defRPr>
            </a:lvl5pPr>
            <a:lvl6pPr algn="l">
              <a:defRPr sz="1050" b="1" i="0">
                <a:solidFill>
                  <a:srgbClr val="FF8D96"/>
                </a:solidFill>
                <a:latin typeface="Arial"/>
                <a:ea typeface="Arial"/>
                <a:cs typeface="Arial"/>
              </a:defRPr>
            </a:lvl6pPr>
            <a:lvl7pPr algn="l">
              <a:defRPr sz="1050" b="1" i="0">
                <a:solidFill>
                  <a:srgbClr val="FF8D96"/>
                </a:solidFill>
                <a:latin typeface="Arial"/>
                <a:ea typeface="Arial"/>
                <a:cs typeface="Arial"/>
              </a:defRPr>
            </a:lvl7pPr>
            <a:lvl8pPr algn="l">
              <a:defRPr sz="1050" b="1" i="0">
                <a:solidFill>
                  <a:srgbClr val="FF8D96"/>
                </a:solidFill>
                <a:latin typeface="Arial"/>
                <a:ea typeface="Arial"/>
                <a:cs typeface="Arial"/>
              </a:defRPr>
            </a:lvl8pPr>
            <a:lvl9pPr algn="l">
              <a:defRPr sz="1050" b="1" i="0">
                <a:solidFill>
                  <a:srgbClr val="FF8D96"/>
                </a:solidFill>
                <a:latin typeface="Arial"/>
                <a:ea typeface="Arial"/>
                <a:cs typeface="Arial"/>
              </a:defRPr>
            </a:lvl9pPr>
          </a:lstStyle>
          <a:p xmlns:a="http://schemas.openxmlformats.org/drawingml/2006/main">
            <a:pPr algn="l">
              <a:lnSpc>
                <a:spcPct val="102000"/>
              </a:lnSpc>
              <a:buNone/>
              <a:defRPr sz="1050" b="1" i="0">
                <a:solidFill>
                  <a:srgbClr val="FF8D96"/>
                </a:solidFill>
                <a:latin typeface="Arial"/>
                <a:ea typeface="Arial"/>
                <a:cs typeface="Arial"/>
              </a:defRPr>
            </a:pPr>
            <a:r>
              <a:rPr sz="1050" b="1" i="0">
                <a:solidFill>
                  <a:srgbClr val="FF8D96"/>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BC3BDC68-EFBE-4542-8F08-F72A9DD7418D}"/>
              </a:ext>
            </a:extLst>
          </p:cNvPr>
          <p:cNvSpPr>
            <a:spLocks xmlns:a="http://schemas.openxmlformats.org/drawingml/2006/main" noGrp="1"/>
          </p:cNvSpPr>
          <p:nvPr/>
        </p:nvSpPr>
        <p:spPr>
          <a:xfrm xmlns:a="http://schemas.openxmlformats.org/drawingml/2006/main">
            <a:off x="8001000" y="39719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0" i="0">
                <a:solidFill>
                  <a:srgbClr val="FFFFFF"/>
                </a:solidFill>
                <a:latin typeface="Georgia"/>
                <a:ea typeface="Georgia"/>
                <a:cs typeface="Georgia"/>
              </a:defRPr>
            </a:defPPr>
            <a:lvl1pPr algn="l">
              <a:defRPr sz="2925" b="0" i="0">
                <a:solidFill>
                  <a:srgbClr val="FFFFFF"/>
                </a:solidFill>
                <a:latin typeface="Georgia"/>
                <a:ea typeface="Georgia"/>
                <a:cs typeface="Georgia"/>
              </a:defRPr>
            </a:lvl1pPr>
            <a:lvl2pPr algn="l">
              <a:defRPr sz="2925" b="0" i="0">
                <a:solidFill>
                  <a:srgbClr val="FFFFFF"/>
                </a:solidFill>
                <a:latin typeface="Georgia"/>
                <a:ea typeface="Georgia"/>
                <a:cs typeface="Georgia"/>
              </a:defRPr>
            </a:lvl2pPr>
            <a:lvl3pPr algn="l">
              <a:defRPr sz="2925" b="0" i="0">
                <a:solidFill>
                  <a:srgbClr val="FFFFFF"/>
                </a:solidFill>
                <a:latin typeface="Georgia"/>
                <a:ea typeface="Georgia"/>
                <a:cs typeface="Georgia"/>
              </a:defRPr>
            </a:lvl3pPr>
            <a:lvl4pPr algn="l">
              <a:defRPr sz="2925" b="0" i="0">
                <a:solidFill>
                  <a:srgbClr val="FFFFFF"/>
                </a:solidFill>
                <a:latin typeface="Georgia"/>
                <a:ea typeface="Georgia"/>
                <a:cs typeface="Georgia"/>
              </a:defRPr>
            </a:lvl4pPr>
            <a:lvl5pPr algn="l">
              <a:defRPr sz="2925" b="0" i="0">
                <a:solidFill>
                  <a:srgbClr val="FFFFFF"/>
                </a:solidFill>
                <a:latin typeface="Georgia"/>
                <a:ea typeface="Georgia"/>
                <a:cs typeface="Georgia"/>
              </a:defRPr>
            </a:lvl5pPr>
            <a:lvl6pPr algn="l">
              <a:defRPr sz="2925" b="0" i="0">
                <a:solidFill>
                  <a:srgbClr val="FFFFFF"/>
                </a:solidFill>
                <a:latin typeface="Georgia"/>
                <a:ea typeface="Georgia"/>
                <a:cs typeface="Georgia"/>
              </a:defRPr>
            </a:lvl6pPr>
            <a:lvl7pPr algn="l">
              <a:defRPr sz="2925" b="0" i="0">
                <a:solidFill>
                  <a:srgbClr val="FFFFFF"/>
                </a:solidFill>
                <a:latin typeface="Georgia"/>
                <a:ea typeface="Georgia"/>
                <a:cs typeface="Georgia"/>
              </a:defRPr>
            </a:lvl7pPr>
            <a:lvl8pPr algn="l">
              <a:defRPr sz="2925" b="0" i="0">
                <a:solidFill>
                  <a:srgbClr val="FFFFFF"/>
                </a:solidFill>
                <a:latin typeface="Georgia"/>
                <a:ea typeface="Georgia"/>
                <a:cs typeface="Georgia"/>
              </a:defRPr>
            </a:lvl8pPr>
            <a:lvl9pPr algn="l">
              <a:defRPr sz="2925" b="0" i="0">
                <a:solidFill>
                  <a:srgbClr val="FFFFFF"/>
                </a:solidFill>
                <a:latin typeface="Georgia"/>
                <a:ea typeface="Georgia"/>
                <a:cs typeface="Georgia"/>
              </a:defRPr>
            </a:lvl9pPr>
          </a:lstStyle>
          <a:p xmlns:a="http://schemas.openxmlformats.org/drawingml/2006/main">
            <a:pPr algn="l">
              <a:lnSpc>
                <a:spcPct val="102000"/>
              </a:lnSpc>
              <a:buNone/>
              <a:defRPr sz="2925" b="0" i="0">
                <a:solidFill>
                  <a:srgbClr val="FFFFFF"/>
                </a:solidFill>
                <a:latin typeface="Georgia"/>
                <a:ea typeface="Georgia"/>
                <a:cs typeface="Georgia"/>
              </a:defRPr>
            </a:pPr>
            <a:r>
              <a:rPr sz="2925" b="0" i="0">
                <a:solidFill>
                  <a:srgbClr val="FFFFFF"/>
                </a:solidFill>
                <a:latin typeface="Georgia"/>
                <a:ea typeface="Georgia"/>
                <a:cs typeface="Georgia"/>
              </a:rPr>
              <a:t>Walking-floor trailers</a:t>
            </a:r>
          </a:p>
        </p:txBody>
      </p:sp>
      <p:sp>
        <p:nvSpPr>
          <p:cNvPr id="15" name="">
            <a:extLst xmlns:a="http://schemas.openxmlformats.org/drawingml/2006/main">
              <a:ext uri="{FF2B5EF4-FFF2-40B4-BE49-F238E27FC236}">
                <a16:creationId xmlns:a16="http://schemas.microsoft.com/office/drawing/2014/main" id="{35D2543B-3191-4BFB-8AA0-FA7D04B25231}"/>
              </a:ext>
            </a:extLst>
          </p:cNvPr>
          <p:cNvSpPr>
            <a:spLocks xmlns:a="http://schemas.openxmlformats.org/drawingml/2006/main" noGrp="1"/>
          </p:cNvSpPr>
          <p:nvPr/>
        </p:nvSpPr>
        <p:spPr>
          <a:xfrm xmlns:a="http://schemas.openxmlformats.org/drawingml/2006/main">
            <a:off x="762000" y="5343525"/>
            <a:ext cx="10668000" cy="9525"/>
          </a:xfrm>
          <a:prstGeom xmlns:a="http://schemas.openxmlformats.org/drawingml/2006/main" prst="rect">
            <a:avLst/>
          </a:prstGeom>
          <a:solidFill xmlns:a="http://schemas.openxmlformats.org/drawingml/2006/main">
            <a:srgbClr val="FFFFFF">
              <a:alpha val="50000"/>
            </a:srgbClr>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68474EC-7145-4CF8-8520-67DF515A6008}"/>
              </a:ext>
            </a:extLst>
          </p:cNvPr>
          <p:cNvSpPr>
            <a:spLocks xmlns:a="http://schemas.openxmlformats.org/drawingml/2006/main" noGrp="1"/>
          </p:cNvSpPr>
          <p:nvPr/>
        </p:nvSpPr>
        <p:spPr>
          <a:xfrm xmlns:a="http://schemas.openxmlformats.org/drawingml/2006/main">
            <a:off x="762000" y="5476875"/>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8D96"/>
                </a:solidFill>
                <a:latin typeface="Arial"/>
                <a:ea typeface="Arial"/>
                <a:cs typeface="Arial"/>
              </a:defRPr>
            </a:defPPr>
            <a:lvl1pPr algn="l">
              <a:defRPr sz="900" b="1" i="0">
                <a:solidFill>
                  <a:srgbClr val="FF8D96"/>
                </a:solidFill>
                <a:latin typeface="Arial"/>
                <a:ea typeface="Arial"/>
                <a:cs typeface="Arial"/>
              </a:defRPr>
            </a:lvl1pPr>
            <a:lvl2pPr algn="l">
              <a:defRPr sz="900" b="1" i="0">
                <a:solidFill>
                  <a:srgbClr val="FF8D96"/>
                </a:solidFill>
                <a:latin typeface="Arial"/>
                <a:ea typeface="Arial"/>
                <a:cs typeface="Arial"/>
              </a:defRPr>
            </a:lvl2pPr>
            <a:lvl3pPr algn="l">
              <a:defRPr sz="900" b="1" i="0">
                <a:solidFill>
                  <a:srgbClr val="FF8D96"/>
                </a:solidFill>
                <a:latin typeface="Arial"/>
                <a:ea typeface="Arial"/>
                <a:cs typeface="Arial"/>
              </a:defRPr>
            </a:lvl3pPr>
            <a:lvl4pPr algn="l">
              <a:defRPr sz="900" b="1" i="0">
                <a:solidFill>
                  <a:srgbClr val="FF8D96"/>
                </a:solidFill>
                <a:latin typeface="Arial"/>
                <a:ea typeface="Arial"/>
                <a:cs typeface="Arial"/>
              </a:defRPr>
            </a:lvl4pPr>
            <a:lvl5pPr algn="l">
              <a:defRPr sz="900" b="1" i="0">
                <a:solidFill>
                  <a:srgbClr val="FF8D96"/>
                </a:solidFill>
                <a:latin typeface="Arial"/>
                <a:ea typeface="Arial"/>
                <a:cs typeface="Arial"/>
              </a:defRPr>
            </a:lvl5pPr>
            <a:lvl6pPr algn="l">
              <a:defRPr sz="900" b="1" i="0">
                <a:solidFill>
                  <a:srgbClr val="FF8D96"/>
                </a:solidFill>
                <a:latin typeface="Arial"/>
                <a:ea typeface="Arial"/>
                <a:cs typeface="Arial"/>
              </a:defRPr>
            </a:lvl6pPr>
            <a:lvl7pPr algn="l">
              <a:defRPr sz="900" b="1" i="0">
                <a:solidFill>
                  <a:srgbClr val="FF8D96"/>
                </a:solidFill>
                <a:latin typeface="Arial"/>
                <a:ea typeface="Arial"/>
                <a:cs typeface="Arial"/>
              </a:defRPr>
            </a:lvl7pPr>
            <a:lvl8pPr algn="l">
              <a:defRPr sz="900" b="1" i="0">
                <a:solidFill>
                  <a:srgbClr val="FF8D96"/>
                </a:solidFill>
                <a:latin typeface="Arial"/>
                <a:ea typeface="Arial"/>
                <a:cs typeface="Arial"/>
              </a:defRPr>
            </a:lvl8pPr>
            <a:lvl9pPr algn="l">
              <a:defRPr sz="900" b="1" i="0">
                <a:solidFill>
                  <a:srgbClr val="FF8D96"/>
                </a:solidFill>
                <a:latin typeface="Arial"/>
                <a:ea typeface="Arial"/>
                <a:cs typeface="Arial"/>
              </a:defRPr>
            </a:lvl9pPr>
          </a:lstStyle>
          <a:p xmlns:a="http://schemas.openxmlformats.org/drawingml/2006/main">
            <a:pPr algn="l">
              <a:lnSpc>
                <a:spcPct val="102000"/>
              </a:lnSpc>
              <a:buNone/>
              <a:defRPr sz="900" b="1" i="0">
                <a:solidFill>
                  <a:srgbClr val="FF8D96"/>
                </a:solidFill>
                <a:latin typeface="Arial"/>
                <a:ea typeface="Arial"/>
                <a:cs typeface="Arial"/>
              </a:defRPr>
            </a:pPr>
            <a:r>
              <a:rPr sz="900" b="1" i="0">
                <a:solidFill>
                  <a:srgbClr val="FF8D96"/>
                </a:solidFill>
                <a:latin typeface="Arial"/>
                <a:ea typeface="Arial"/>
                <a:cs typeface="Arial"/>
              </a:rPr>
              <a:t>SECTORS WE WANT TO GROW IN</a:t>
            </a:r>
          </a:p>
        </p:txBody>
      </p:sp>
      <p:sp>
        <p:nvSpPr>
          <p:cNvPr id="17" name="">
            <a:extLst xmlns:a="http://schemas.openxmlformats.org/drawingml/2006/main">
              <a:ext uri="{FF2B5EF4-FFF2-40B4-BE49-F238E27FC236}">
                <a16:creationId xmlns:a16="http://schemas.microsoft.com/office/drawing/2014/main" id="{B5160E88-8B7E-4A0A-B819-9B11022B44D8}"/>
              </a:ext>
            </a:extLst>
          </p:cNvPr>
          <p:cNvSpPr>
            <a:spLocks xmlns:a="http://schemas.openxmlformats.org/drawingml/2006/main" noGrp="1"/>
          </p:cNvSpPr>
          <p:nvPr/>
        </p:nvSpPr>
        <p:spPr>
          <a:xfrm xmlns:a="http://schemas.openxmlformats.org/drawingml/2006/main">
            <a:off x="762000" y="5753100"/>
            <a:ext cx="10001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i="0">
                <a:solidFill>
                  <a:srgbClr val="FFFFFF"/>
                </a:solidFill>
                <a:latin typeface="Georgia"/>
                <a:ea typeface="Georgia"/>
                <a:cs typeface="Georgia"/>
              </a:defRPr>
            </a:defPPr>
            <a:lvl1pPr algn="l">
              <a:defRPr sz="2250" b="0" i="0">
                <a:solidFill>
                  <a:srgbClr val="FFFFFF"/>
                </a:solidFill>
                <a:latin typeface="Georgia"/>
                <a:ea typeface="Georgia"/>
                <a:cs typeface="Georgia"/>
              </a:defRPr>
            </a:lvl1pPr>
            <a:lvl2pPr algn="l">
              <a:defRPr sz="2250" b="0" i="0">
                <a:solidFill>
                  <a:srgbClr val="FFFFFF"/>
                </a:solidFill>
                <a:latin typeface="Georgia"/>
                <a:ea typeface="Georgia"/>
                <a:cs typeface="Georgia"/>
              </a:defRPr>
            </a:lvl2pPr>
            <a:lvl3pPr algn="l">
              <a:defRPr sz="2250" b="0" i="0">
                <a:solidFill>
                  <a:srgbClr val="FFFFFF"/>
                </a:solidFill>
                <a:latin typeface="Georgia"/>
                <a:ea typeface="Georgia"/>
                <a:cs typeface="Georgia"/>
              </a:defRPr>
            </a:lvl3pPr>
            <a:lvl4pPr algn="l">
              <a:defRPr sz="2250" b="0" i="0">
                <a:solidFill>
                  <a:srgbClr val="FFFFFF"/>
                </a:solidFill>
                <a:latin typeface="Georgia"/>
                <a:ea typeface="Georgia"/>
                <a:cs typeface="Georgia"/>
              </a:defRPr>
            </a:lvl4pPr>
            <a:lvl5pPr algn="l">
              <a:defRPr sz="2250" b="0" i="0">
                <a:solidFill>
                  <a:srgbClr val="FFFFFF"/>
                </a:solidFill>
                <a:latin typeface="Georgia"/>
                <a:ea typeface="Georgia"/>
                <a:cs typeface="Georgia"/>
              </a:defRPr>
            </a:lvl5pPr>
            <a:lvl6pPr algn="l">
              <a:defRPr sz="2250" b="0" i="0">
                <a:solidFill>
                  <a:srgbClr val="FFFFFF"/>
                </a:solidFill>
                <a:latin typeface="Georgia"/>
                <a:ea typeface="Georgia"/>
                <a:cs typeface="Georgia"/>
              </a:defRPr>
            </a:lvl6pPr>
            <a:lvl7pPr algn="l">
              <a:defRPr sz="2250" b="0" i="0">
                <a:solidFill>
                  <a:srgbClr val="FFFFFF"/>
                </a:solidFill>
                <a:latin typeface="Georgia"/>
                <a:ea typeface="Georgia"/>
                <a:cs typeface="Georgia"/>
              </a:defRPr>
            </a:lvl7pPr>
            <a:lvl8pPr algn="l">
              <a:defRPr sz="2250" b="0" i="0">
                <a:solidFill>
                  <a:srgbClr val="FFFFFF"/>
                </a:solidFill>
                <a:latin typeface="Georgia"/>
                <a:ea typeface="Georgia"/>
                <a:cs typeface="Georgia"/>
              </a:defRPr>
            </a:lvl8pPr>
            <a:lvl9pPr algn="l">
              <a:defRPr sz="2250" b="0" i="0">
                <a:solidFill>
                  <a:srgbClr val="FFFFFF"/>
                </a:solidFill>
                <a:latin typeface="Georgia"/>
                <a:ea typeface="Georgia"/>
                <a:cs typeface="Georgia"/>
              </a:defRPr>
            </a:lvl9pPr>
          </a:lstStyle>
          <a:p xmlns:a="http://schemas.openxmlformats.org/drawingml/2006/main">
            <a:pPr algn="l">
              <a:lnSpc>
                <a:spcPct val="102000"/>
              </a:lnSpc>
              <a:buNone/>
              <a:defRPr sz="2250" b="0" i="0">
                <a:solidFill>
                  <a:srgbClr val="FFFFFF"/>
                </a:solidFill>
                <a:latin typeface="Georgia"/>
                <a:ea typeface="Georgia"/>
                <a:cs typeface="Georgia"/>
              </a:defRPr>
            </a:pPr>
            <a:r>
              <a:rPr sz="2250" b="0" i="0">
                <a:solidFill>
                  <a:srgbClr val="FFFFFF"/>
                </a:solidFill>
                <a:latin typeface="Georgia"/>
                <a:ea typeface="Georgia"/>
                <a:cs typeface="Georgia"/>
              </a:rPr>
              <a:t>Automotive, chemicals and retail</a:t>
            </a:r>
          </a:p>
        </p:txBody>
      </p:sp>
      <p:sp>
        <p:nvSpPr>
          <p:cNvPr id="18" name="">
            <a:extLst xmlns:a="http://schemas.openxmlformats.org/drawingml/2006/main">
              <a:ext uri="{FF2B5EF4-FFF2-40B4-BE49-F238E27FC236}">
                <a16:creationId xmlns:a16="http://schemas.microsoft.com/office/drawing/2014/main" id="{1BF178E3-6ADD-4419-857E-18B3E2ED2D95}"/>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7DF2DF-5795-4FCF-995B-F098336FDA4B}"/>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EQUIPMENT FOR DIFFERENT LOADS</a:t>
            </a:r>
          </a:p>
        </p:txBody>
      </p:sp>
      <p:sp>
        <p:nvSpPr>
          <p:cNvPr id="20" name="">
            <a:extLst xmlns:a="http://schemas.openxmlformats.org/drawingml/2006/main">
              <a:ext uri="{FF2B5EF4-FFF2-40B4-BE49-F238E27FC236}">
                <a16:creationId xmlns:a16="http://schemas.microsoft.com/office/drawing/2014/main" id="{2D642833-35BE-46B0-9726-724BFBB68DFD}"/>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09 / 16</a:t>
            </a:r>
          </a:p>
        </p:txBody>
      </p:sp>
    </p:spTree>
    <p:extLst>
      <p:ext uri="{BB962C8B-B14F-4D97-AF65-F5344CB8AC3E}">
        <p14:creationId xmlns:p14="http://schemas.microsoft.com/office/powerpoint/2010/main" val="2135544480"/>
      </p:ext>
    </p:extLst>
  </p:cSld>
</p:sld>
</file>

<file path=ppt/slides/slide10.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D272164-C76D-4E80-9E43-19FCD99969A4}"/>
              </a:ext>
            </a:extLst>
          </p:cNvPr>
          <p:cNvPicPr>
            <a:picLocks xmlns:a="http://schemas.openxmlformats.org/drawingml/2006/main" noChangeAspect="1"/>
          </p:cNvPicPr>
          <p:nvPr/>
        </p:nvPicPr>
        <p:blipFill>
          <a:blip xmlns:r="http://schemas.openxmlformats.org/officeDocument/2006/relationships" xmlns:a="http://schemas.openxmlformats.org/drawingml/2006/main" r:embed="R69db703320b54362"/>
          <a:srcRect xmlns:a="http://schemas.openxmlformats.org/drawingml/2006/main" l="0" t="1509" r="0" b="150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88BEA6-05B8-402B-84CD-BBD5BCA9C4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D1A">
              <a:alpha val="7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4EF4A3-4629-47DB-B120-68D8BE9E29E7}"/>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3365699-2AB9-45D8-87BD-181751BBBC22}"/>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PICASSENT AND THE VALENCIA AREA</a:t>
            </a:r>
          </a:p>
        </p:txBody>
      </p:sp>
      <p:sp>
        <p:nvSpPr>
          <p:cNvPr id="5" name="">
            <a:extLst xmlns:a="http://schemas.openxmlformats.org/drawingml/2006/main">
              <a:ext uri="{FF2B5EF4-FFF2-40B4-BE49-F238E27FC236}">
                <a16:creationId xmlns:a16="http://schemas.microsoft.com/office/drawing/2014/main" id="{37924D42-9372-4AC1-A518-F5034216AD9E}"/>
              </a:ext>
            </a:extLst>
          </p:cNvPr>
          <p:cNvSpPr>
            <a:spLocks xmlns:a="http://schemas.openxmlformats.org/drawingml/2006/main" noGrp="1"/>
          </p:cNvSpPr>
          <p:nvPr/>
        </p:nvSpPr>
        <p:spPr>
          <a:xfrm xmlns:a="http://schemas.openxmlformats.org/drawingml/2006/main">
            <a:off x="762000" y="102870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625" b="0" i="0">
                <a:solidFill>
                  <a:srgbClr val="FFFFFF"/>
                </a:solidFill>
                <a:latin typeface="Georgia"/>
                <a:ea typeface="Georgia"/>
                <a:cs typeface="Georgia"/>
              </a:defRPr>
            </a:defPPr>
            <a:lvl1pPr algn="l">
              <a:defRPr sz="5625" b="0" i="0">
                <a:solidFill>
                  <a:srgbClr val="FFFFFF"/>
                </a:solidFill>
                <a:latin typeface="Georgia"/>
                <a:ea typeface="Georgia"/>
                <a:cs typeface="Georgia"/>
              </a:defRPr>
            </a:lvl1pPr>
            <a:lvl2pPr algn="l">
              <a:defRPr sz="5625" b="0" i="0">
                <a:solidFill>
                  <a:srgbClr val="FFFFFF"/>
                </a:solidFill>
                <a:latin typeface="Georgia"/>
                <a:ea typeface="Georgia"/>
                <a:cs typeface="Georgia"/>
              </a:defRPr>
            </a:lvl2pPr>
            <a:lvl3pPr algn="l">
              <a:defRPr sz="5625" b="0" i="0">
                <a:solidFill>
                  <a:srgbClr val="FFFFFF"/>
                </a:solidFill>
                <a:latin typeface="Georgia"/>
                <a:ea typeface="Georgia"/>
                <a:cs typeface="Georgia"/>
              </a:defRPr>
            </a:lvl3pPr>
            <a:lvl4pPr algn="l">
              <a:defRPr sz="5625" b="0" i="0">
                <a:solidFill>
                  <a:srgbClr val="FFFFFF"/>
                </a:solidFill>
                <a:latin typeface="Georgia"/>
                <a:ea typeface="Georgia"/>
                <a:cs typeface="Georgia"/>
              </a:defRPr>
            </a:lvl4pPr>
            <a:lvl5pPr algn="l">
              <a:defRPr sz="5625" b="0" i="0">
                <a:solidFill>
                  <a:srgbClr val="FFFFFF"/>
                </a:solidFill>
                <a:latin typeface="Georgia"/>
                <a:ea typeface="Georgia"/>
                <a:cs typeface="Georgia"/>
              </a:defRPr>
            </a:lvl5pPr>
            <a:lvl6pPr algn="l">
              <a:defRPr sz="5625" b="0" i="0">
                <a:solidFill>
                  <a:srgbClr val="FFFFFF"/>
                </a:solidFill>
                <a:latin typeface="Georgia"/>
                <a:ea typeface="Georgia"/>
                <a:cs typeface="Georgia"/>
              </a:defRPr>
            </a:lvl6pPr>
            <a:lvl7pPr algn="l">
              <a:defRPr sz="5625" b="0" i="0">
                <a:solidFill>
                  <a:srgbClr val="FFFFFF"/>
                </a:solidFill>
                <a:latin typeface="Georgia"/>
                <a:ea typeface="Georgia"/>
                <a:cs typeface="Georgia"/>
              </a:defRPr>
            </a:lvl7pPr>
            <a:lvl8pPr algn="l">
              <a:defRPr sz="5625" b="0" i="0">
                <a:solidFill>
                  <a:srgbClr val="FFFFFF"/>
                </a:solidFill>
                <a:latin typeface="Georgia"/>
                <a:ea typeface="Georgia"/>
                <a:cs typeface="Georgia"/>
              </a:defRPr>
            </a:lvl8pPr>
            <a:lvl9pPr algn="l">
              <a:defRPr sz="5625" b="0" i="0">
                <a:solidFill>
                  <a:srgbClr val="FFFFFF"/>
                </a:solidFill>
                <a:latin typeface="Georgia"/>
                <a:ea typeface="Georgia"/>
                <a:cs typeface="Georgia"/>
              </a:defRPr>
            </a:lvl9pPr>
          </a:lstStyle>
          <a:p xmlns:a="http://schemas.openxmlformats.org/drawingml/2006/main">
            <a:pPr algn="l">
              <a:lnSpc>
                <a:spcPct val="98000"/>
              </a:lnSpc>
              <a:buNone/>
              <a:defRPr sz="5625" b="0" i="0">
                <a:solidFill>
                  <a:srgbClr val="FFFFFF"/>
                </a:solidFill>
                <a:latin typeface="Georgia"/>
                <a:ea typeface="Georgia"/>
                <a:cs typeface="Georgia"/>
              </a:defRPr>
            </a:pPr>
            <a:r>
              <a:rPr sz="5625" b="0" i="0">
                <a:solidFill>
                  <a:srgbClr val="FFFFFF"/>
                </a:solidFill>
                <a:latin typeface="Georgia"/>
                <a:ea typeface="Georgia"/>
                <a:cs typeface="Georgia"/>
              </a:rPr>
              <a:t>Valencia, close to the port</a:t>
            </a:r>
          </a:p>
        </p:txBody>
      </p:sp>
      <p:sp>
        <p:nvSpPr>
          <p:cNvPr id="6" name="">
            <a:extLst xmlns:a="http://schemas.openxmlformats.org/drawingml/2006/main">
              <a:ext uri="{FF2B5EF4-FFF2-40B4-BE49-F238E27FC236}">
                <a16:creationId xmlns:a16="http://schemas.microsoft.com/office/drawing/2014/main" id="{E780632F-0E9D-4E05-80CA-46C3753A52F8}"/>
              </a:ext>
            </a:extLst>
          </p:cNvPr>
          <p:cNvSpPr>
            <a:spLocks xmlns:a="http://schemas.openxmlformats.org/drawingml/2006/main" noGrp="1"/>
          </p:cNvSpPr>
          <p:nvPr/>
        </p:nvSpPr>
        <p:spPr>
          <a:xfrm xmlns:a="http://schemas.openxmlformats.org/drawingml/2006/main">
            <a:off x="762000" y="2809875"/>
            <a:ext cx="904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i="0">
                <a:solidFill>
                  <a:srgbClr val="FFFFFF"/>
                </a:solidFill>
                <a:latin typeface="Arial"/>
                <a:ea typeface="Arial"/>
                <a:cs typeface="Arial"/>
              </a:defRPr>
            </a:defPPr>
            <a:lvl1pPr algn="l">
              <a:defRPr sz="1875" b="0" i="0">
                <a:solidFill>
                  <a:srgbClr val="FFFFFF"/>
                </a:solidFill>
                <a:latin typeface="Arial"/>
                <a:ea typeface="Arial"/>
                <a:cs typeface="Arial"/>
              </a:defRPr>
            </a:lvl1pPr>
            <a:lvl2pPr algn="l">
              <a:defRPr sz="1875" b="0" i="0">
                <a:solidFill>
                  <a:srgbClr val="FFFFFF"/>
                </a:solidFill>
                <a:latin typeface="Arial"/>
                <a:ea typeface="Arial"/>
                <a:cs typeface="Arial"/>
              </a:defRPr>
            </a:lvl2pPr>
            <a:lvl3pPr algn="l">
              <a:defRPr sz="1875" b="0" i="0">
                <a:solidFill>
                  <a:srgbClr val="FFFFFF"/>
                </a:solidFill>
                <a:latin typeface="Arial"/>
                <a:ea typeface="Arial"/>
                <a:cs typeface="Arial"/>
              </a:defRPr>
            </a:lvl3pPr>
            <a:lvl4pPr algn="l">
              <a:defRPr sz="1875" b="0" i="0">
                <a:solidFill>
                  <a:srgbClr val="FFFFFF"/>
                </a:solidFill>
                <a:latin typeface="Arial"/>
                <a:ea typeface="Arial"/>
                <a:cs typeface="Arial"/>
              </a:defRPr>
            </a:lvl4pPr>
            <a:lvl5pPr algn="l">
              <a:defRPr sz="1875" b="0" i="0">
                <a:solidFill>
                  <a:srgbClr val="FFFFFF"/>
                </a:solidFill>
                <a:latin typeface="Arial"/>
                <a:ea typeface="Arial"/>
                <a:cs typeface="Arial"/>
              </a:defRPr>
            </a:lvl5pPr>
            <a:lvl6pPr algn="l">
              <a:defRPr sz="1875" b="0" i="0">
                <a:solidFill>
                  <a:srgbClr val="FFFFFF"/>
                </a:solidFill>
                <a:latin typeface="Arial"/>
                <a:ea typeface="Arial"/>
                <a:cs typeface="Arial"/>
              </a:defRPr>
            </a:lvl6pPr>
            <a:lvl7pPr algn="l">
              <a:defRPr sz="1875" b="0" i="0">
                <a:solidFill>
                  <a:srgbClr val="FFFFFF"/>
                </a:solidFill>
                <a:latin typeface="Arial"/>
                <a:ea typeface="Arial"/>
                <a:cs typeface="Arial"/>
              </a:defRPr>
            </a:lvl7pPr>
            <a:lvl8pPr algn="l">
              <a:defRPr sz="1875" b="0" i="0">
                <a:solidFill>
                  <a:srgbClr val="FFFFFF"/>
                </a:solidFill>
                <a:latin typeface="Arial"/>
                <a:ea typeface="Arial"/>
                <a:cs typeface="Arial"/>
              </a:defRPr>
            </a:lvl8pPr>
            <a:lvl9pPr algn="l">
              <a:defRPr sz="1875" b="0" i="0">
                <a:solidFill>
                  <a:srgbClr val="FFFFFF"/>
                </a:solidFill>
                <a:latin typeface="Arial"/>
                <a:ea typeface="Arial"/>
                <a:cs typeface="Arial"/>
              </a:defRPr>
            </a:lvl9pPr>
          </a:lstStyle>
          <a:p xmlns:a="http://schemas.openxmlformats.org/drawingml/2006/main">
            <a:pPr algn="l">
              <a:lnSpc>
                <a:spcPct val="102000"/>
              </a:lnSpc>
              <a:buNone/>
              <a:defRPr sz="1875" b="0" i="0">
                <a:solidFill>
                  <a:srgbClr val="FFFFFF"/>
                </a:solidFill>
                <a:latin typeface="Arial"/>
                <a:ea typeface="Arial"/>
                <a:cs typeface="Arial"/>
              </a:defRPr>
            </a:pPr>
            <a:r>
              <a:rPr sz="1875" b="0" i="0">
                <a:solidFill>
                  <a:srgbClr val="FFFFFF"/>
                </a:solidFill>
                <a:latin typeface="Arial"/>
                <a:ea typeface="Arial"/>
                <a:cs typeface="Arial"/>
              </a:rPr>
              <a:t>Container transport for imports and exports. Sertranin can arrange customs clearance when customers need it.</a:t>
            </a:r>
          </a:p>
        </p:txBody>
      </p:sp>
      <p:sp>
        <p:nvSpPr>
          <p:cNvPr id="7" name="">
            <a:extLst xmlns:a="http://schemas.openxmlformats.org/drawingml/2006/main">
              <a:ext uri="{FF2B5EF4-FFF2-40B4-BE49-F238E27FC236}">
                <a16:creationId xmlns:a16="http://schemas.microsoft.com/office/drawing/2014/main" id="{B55ADAE0-9729-493E-83B2-8D7AEB3B79A4}"/>
              </a:ext>
            </a:extLst>
          </p:cNvPr>
          <p:cNvSpPr>
            <a:spLocks xmlns:a="http://schemas.openxmlformats.org/drawingml/2006/main" noGrp="1"/>
          </p:cNvSpPr>
          <p:nvPr/>
        </p:nvSpPr>
        <p:spPr>
          <a:xfrm xmlns:a="http://schemas.openxmlformats.org/drawingml/2006/main">
            <a:off x="762000" y="3848100"/>
            <a:ext cx="119062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9"/>
          </a:bodyPr>
          <a:lstStyle xmlns:a="http://schemas.openxmlformats.org/drawingml/2006/main">
            <a:defPPr algn="l">
              <a:defRPr sz="8550" b="0" i="0">
                <a:solidFill>
                  <a:srgbClr val="FF646D"/>
                </a:solidFill>
                <a:latin typeface="Georgia"/>
                <a:ea typeface="Georgia"/>
                <a:cs typeface="Georgia"/>
              </a:defRPr>
            </a:defPPr>
            <a:lvl1pPr algn="l">
              <a:defRPr sz="8550" b="0" i="0">
                <a:solidFill>
                  <a:srgbClr val="FF646D"/>
                </a:solidFill>
                <a:latin typeface="Georgia"/>
                <a:ea typeface="Georgia"/>
                <a:cs typeface="Georgia"/>
              </a:defRPr>
            </a:lvl1pPr>
            <a:lvl2pPr algn="l">
              <a:defRPr sz="8550" b="0" i="0">
                <a:solidFill>
                  <a:srgbClr val="FF646D"/>
                </a:solidFill>
                <a:latin typeface="Georgia"/>
                <a:ea typeface="Georgia"/>
                <a:cs typeface="Georgia"/>
              </a:defRPr>
            </a:lvl2pPr>
            <a:lvl3pPr algn="l">
              <a:defRPr sz="8550" b="0" i="0">
                <a:solidFill>
                  <a:srgbClr val="FF646D"/>
                </a:solidFill>
                <a:latin typeface="Georgia"/>
                <a:ea typeface="Georgia"/>
                <a:cs typeface="Georgia"/>
              </a:defRPr>
            </a:lvl3pPr>
            <a:lvl4pPr algn="l">
              <a:defRPr sz="8550" b="0" i="0">
                <a:solidFill>
                  <a:srgbClr val="FF646D"/>
                </a:solidFill>
                <a:latin typeface="Georgia"/>
                <a:ea typeface="Georgia"/>
                <a:cs typeface="Georgia"/>
              </a:defRPr>
            </a:lvl4pPr>
            <a:lvl5pPr algn="l">
              <a:defRPr sz="8550" b="0" i="0">
                <a:solidFill>
                  <a:srgbClr val="FF646D"/>
                </a:solidFill>
                <a:latin typeface="Georgia"/>
                <a:ea typeface="Georgia"/>
                <a:cs typeface="Georgia"/>
              </a:defRPr>
            </a:lvl5pPr>
            <a:lvl6pPr algn="l">
              <a:defRPr sz="8550" b="0" i="0">
                <a:solidFill>
                  <a:srgbClr val="FF646D"/>
                </a:solidFill>
                <a:latin typeface="Georgia"/>
                <a:ea typeface="Georgia"/>
                <a:cs typeface="Georgia"/>
              </a:defRPr>
            </a:lvl6pPr>
            <a:lvl7pPr algn="l">
              <a:defRPr sz="8550" b="0" i="0">
                <a:solidFill>
                  <a:srgbClr val="FF646D"/>
                </a:solidFill>
                <a:latin typeface="Georgia"/>
                <a:ea typeface="Georgia"/>
                <a:cs typeface="Georgia"/>
              </a:defRPr>
            </a:lvl7pPr>
            <a:lvl8pPr algn="l">
              <a:defRPr sz="8550" b="0" i="0">
                <a:solidFill>
                  <a:srgbClr val="FF646D"/>
                </a:solidFill>
                <a:latin typeface="Georgia"/>
                <a:ea typeface="Georgia"/>
                <a:cs typeface="Georgia"/>
              </a:defRPr>
            </a:lvl8pPr>
            <a:lvl9pPr algn="l">
              <a:defRPr sz="8550" b="0" i="0">
                <a:solidFill>
                  <a:srgbClr val="FF646D"/>
                </a:solidFill>
                <a:latin typeface="Georgia"/>
                <a:ea typeface="Georgia"/>
                <a:cs typeface="Georgia"/>
              </a:defRPr>
            </a:lvl9pPr>
          </a:lstStyle>
          <a:p xmlns:a="http://schemas.openxmlformats.org/drawingml/2006/main">
            <a:pPr algn="l">
              <a:lnSpc>
                <a:spcPct val="102000"/>
              </a:lnSpc>
              <a:buNone/>
              <a:defRPr sz="8550" b="0" i="0">
                <a:solidFill>
                  <a:srgbClr val="FF646D"/>
                </a:solidFill>
                <a:latin typeface="Georgia"/>
                <a:ea typeface="Georgia"/>
                <a:cs typeface="Georgia"/>
              </a:defRPr>
            </a:pPr>
            <a:r>
              <a:rPr sz="8550" b="0" i="0">
                <a:solidFill>
                  <a:srgbClr val="FF646D"/>
                </a:solidFill>
                <a:latin typeface="Georgia"/>
                <a:ea typeface="Georgia"/>
                <a:cs typeface="Georgia"/>
              </a:rPr>
              <a:t>2</a:t>
            </a:r>
          </a:p>
        </p:txBody>
      </p:sp>
      <p:sp>
        <p:nvSpPr>
          <p:cNvPr id="8" name="">
            <a:extLst xmlns:a="http://schemas.openxmlformats.org/drawingml/2006/main">
              <a:ext uri="{FF2B5EF4-FFF2-40B4-BE49-F238E27FC236}">
                <a16:creationId xmlns:a16="http://schemas.microsoft.com/office/drawing/2014/main" id="{316A38C8-C11D-4356-BE59-F584B887FA86}"/>
              </a:ext>
            </a:extLst>
          </p:cNvPr>
          <p:cNvSpPr>
            <a:spLocks xmlns:a="http://schemas.openxmlformats.org/drawingml/2006/main" noGrp="1"/>
          </p:cNvSpPr>
          <p:nvPr/>
        </p:nvSpPr>
        <p:spPr>
          <a:xfrm xmlns:a="http://schemas.openxmlformats.org/drawingml/2006/main">
            <a:off x="1952625" y="4143375"/>
            <a:ext cx="733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0" i="0">
                <a:solidFill>
                  <a:srgbClr val="FFFFFF"/>
                </a:solidFill>
                <a:latin typeface="Arial"/>
                <a:ea typeface="Arial"/>
                <a:cs typeface="Arial"/>
              </a:defRPr>
            </a:defPPr>
            <a:lvl1pPr algn="l">
              <a:defRPr sz="2100" b="0" i="0">
                <a:solidFill>
                  <a:srgbClr val="FFFFFF"/>
                </a:solidFill>
                <a:latin typeface="Arial"/>
                <a:ea typeface="Arial"/>
                <a:cs typeface="Arial"/>
              </a:defRPr>
            </a:lvl1pPr>
            <a:lvl2pPr algn="l">
              <a:defRPr sz="2100" b="0" i="0">
                <a:solidFill>
                  <a:srgbClr val="FFFFFF"/>
                </a:solidFill>
                <a:latin typeface="Arial"/>
                <a:ea typeface="Arial"/>
                <a:cs typeface="Arial"/>
              </a:defRPr>
            </a:lvl2pPr>
            <a:lvl3pPr algn="l">
              <a:defRPr sz="2100" b="0" i="0">
                <a:solidFill>
                  <a:srgbClr val="FFFFFF"/>
                </a:solidFill>
                <a:latin typeface="Arial"/>
                <a:ea typeface="Arial"/>
                <a:cs typeface="Arial"/>
              </a:defRPr>
            </a:lvl3pPr>
            <a:lvl4pPr algn="l">
              <a:defRPr sz="2100" b="0" i="0">
                <a:solidFill>
                  <a:srgbClr val="FFFFFF"/>
                </a:solidFill>
                <a:latin typeface="Arial"/>
                <a:ea typeface="Arial"/>
                <a:cs typeface="Arial"/>
              </a:defRPr>
            </a:lvl4pPr>
            <a:lvl5pPr algn="l">
              <a:defRPr sz="2100" b="0" i="0">
                <a:solidFill>
                  <a:srgbClr val="FFFFFF"/>
                </a:solidFill>
                <a:latin typeface="Arial"/>
                <a:ea typeface="Arial"/>
                <a:cs typeface="Arial"/>
              </a:defRPr>
            </a:lvl5pPr>
            <a:lvl6pPr algn="l">
              <a:defRPr sz="2100" b="0" i="0">
                <a:solidFill>
                  <a:srgbClr val="FFFFFF"/>
                </a:solidFill>
                <a:latin typeface="Arial"/>
                <a:ea typeface="Arial"/>
                <a:cs typeface="Arial"/>
              </a:defRPr>
            </a:lvl6pPr>
            <a:lvl7pPr algn="l">
              <a:defRPr sz="2100" b="0" i="0">
                <a:solidFill>
                  <a:srgbClr val="FFFFFF"/>
                </a:solidFill>
                <a:latin typeface="Arial"/>
                <a:ea typeface="Arial"/>
                <a:cs typeface="Arial"/>
              </a:defRPr>
            </a:lvl7pPr>
            <a:lvl8pPr algn="l">
              <a:defRPr sz="2100" b="0" i="0">
                <a:solidFill>
                  <a:srgbClr val="FFFFFF"/>
                </a:solidFill>
                <a:latin typeface="Arial"/>
                <a:ea typeface="Arial"/>
                <a:cs typeface="Arial"/>
              </a:defRPr>
            </a:lvl8pPr>
            <a:lvl9pPr algn="l">
              <a:defRPr sz="2100" b="0" i="0">
                <a:solidFill>
                  <a:srgbClr val="FFFFFF"/>
                </a:solidFill>
                <a:latin typeface="Arial"/>
                <a:ea typeface="Arial"/>
                <a:cs typeface="Arial"/>
              </a:defRPr>
            </a:lvl9pPr>
          </a:lstStyle>
          <a:p xmlns:a="http://schemas.openxmlformats.org/drawingml/2006/main">
            <a:pPr algn="l">
              <a:lnSpc>
                <a:spcPct val="102000"/>
              </a:lnSpc>
              <a:buNone/>
              <a:defRPr sz="2100" b="0" i="0">
                <a:solidFill>
                  <a:srgbClr val="FFFFFF"/>
                </a:solidFill>
                <a:latin typeface="Arial"/>
                <a:ea typeface="Arial"/>
                <a:cs typeface="Arial"/>
              </a:defRPr>
            </a:pPr>
            <a:r>
              <a:rPr sz="2100" b="0" i="0">
                <a:solidFill>
                  <a:srgbClr val="FFFFFF"/>
                </a:solidFill>
                <a:latin typeface="Arial"/>
                <a:ea typeface="Arial"/>
                <a:cs typeface="Arial"/>
              </a:rPr>
              <a:t>bonded warehouses in the Valencia area</a:t>
            </a:r>
          </a:p>
        </p:txBody>
      </p:sp>
      <p:sp>
        <p:nvSpPr>
          <p:cNvPr id="9" name="">
            <a:extLst xmlns:a="http://schemas.openxmlformats.org/drawingml/2006/main">
              <a:ext uri="{FF2B5EF4-FFF2-40B4-BE49-F238E27FC236}">
                <a16:creationId xmlns:a16="http://schemas.microsoft.com/office/drawing/2014/main" id="{78DDEE92-CA24-44E2-88EB-9C791CD19123}"/>
              </a:ext>
            </a:extLst>
          </p:cNvPr>
          <p:cNvSpPr>
            <a:spLocks xmlns:a="http://schemas.openxmlformats.org/drawingml/2006/main" noGrp="1"/>
          </p:cNvSpPr>
          <p:nvPr/>
        </p:nvSpPr>
        <p:spPr>
          <a:xfrm xmlns:a="http://schemas.openxmlformats.org/drawingml/2006/main">
            <a:off x="762000" y="5257800"/>
            <a:ext cx="10668000" cy="9525"/>
          </a:xfrm>
          <a:prstGeom xmlns:a="http://schemas.openxmlformats.org/drawingml/2006/main" prst="rect">
            <a:avLst/>
          </a:prstGeom>
          <a:solidFill xmlns:a="http://schemas.openxmlformats.org/drawingml/2006/main">
            <a:srgbClr val="FFFFFF">
              <a:alpha val="50000"/>
            </a:srgbClr>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FA4B91-C4DF-460F-ADCE-A73D398D5868}"/>
              </a:ext>
            </a:extLst>
          </p:cNvPr>
          <p:cNvSpPr>
            <a:spLocks xmlns:a="http://schemas.openxmlformats.org/drawingml/2006/main" noGrp="1"/>
          </p:cNvSpPr>
          <p:nvPr/>
        </p:nvSpPr>
        <p:spPr>
          <a:xfrm xmlns:a="http://schemas.openxmlformats.org/drawingml/2006/main">
            <a:off x="762000" y="54292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Storage</a:t>
            </a:r>
          </a:p>
        </p:txBody>
      </p:sp>
      <p:sp>
        <p:nvSpPr>
          <p:cNvPr id="11" name="">
            <a:extLst xmlns:a="http://schemas.openxmlformats.org/drawingml/2006/main">
              <a:ext uri="{FF2B5EF4-FFF2-40B4-BE49-F238E27FC236}">
                <a16:creationId xmlns:a16="http://schemas.microsoft.com/office/drawing/2014/main" id="{7D318B15-C0F6-4A3C-BEFC-C281335D9CAC}"/>
              </a:ext>
            </a:extLst>
          </p:cNvPr>
          <p:cNvSpPr>
            <a:spLocks xmlns:a="http://schemas.openxmlformats.org/drawingml/2006/main" noGrp="1"/>
          </p:cNvSpPr>
          <p:nvPr/>
        </p:nvSpPr>
        <p:spPr>
          <a:xfrm xmlns:a="http://schemas.openxmlformats.org/drawingml/2006/main">
            <a:off x="5905500" y="542925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Stock management</a:t>
            </a:r>
          </a:p>
        </p:txBody>
      </p:sp>
      <p:sp>
        <p:nvSpPr>
          <p:cNvPr id="12" name="">
            <a:extLst xmlns:a="http://schemas.openxmlformats.org/drawingml/2006/main">
              <a:ext uri="{FF2B5EF4-FFF2-40B4-BE49-F238E27FC236}">
                <a16:creationId xmlns:a16="http://schemas.microsoft.com/office/drawing/2014/main" id="{A79212AF-DADD-4AFF-89D8-2004C49262D0}"/>
              </a:ext>
            </a:extLst>
          </p:cNvPr>
          <p:cNvSpPr>
            <a:spLocks xmlns:a="http://schemas.openxmlformats.org/drawingml/2006/main" noGrp="1"/>
          </p:cNvSpPr>
          <p:nvPr/>
        </p:nvSpPr>
        <p:spPr>
          <a:xfrm xmlns:a="http://schemas.openxmlformats.org/drawingml/2006/main">
            <a:off x="762000" y="57531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Order preparation</a:t>
            </a:r>
          </a:p>
        </p:txBody>
      </p:sp>
      <p:sp>
        <p:nvSpPr>
          <p:cNvPr id="13" name="">
            <a:extLst xmlns:a="http://schemas.openxmlformats.org/drawingml/2006/main">
              <a:ext uri="{FF2B5EF4-FFF2-40B4-BE49-F238E27FC236}">
                <a16:creationId xmlns:a16="http://schemas.microsoft.com/office/drawing/2014/main" id="{922BD9FA-597E-4092-8AAE-AD17273B37A9}"/>
              </a:ext>
            </a:extLst>
          </p:cNvPr>
          <p:cNvSpPr>
            <a:spLocks xmlns:a="http://schemas.openxmlformats.org/drawingml/2006/main" noGrp="1"/>
          </p:cNvSpPr>
          <p:nvPr/>
        </p:nvSpPr>
        <p:spPr>
          <a:xfrm xmlns:a="http://schemas.openxmlformats.org/drawingml/2006/main">
            <a:off x="5905500" y="5753100"/>
            <a:ext cx="490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FFFFF"/>
                </a:solidFill>
                <a:latin typeface="Arial"/>
                <a:ea typeface="Arial"/>
                <a:cs typeface="Arial"/>
              </a:defRPr>
            </a:defPPr>
            <a:lvl1pPr algn="l">
              <a:defRPr sz="1275" b="0" i="0">
                <a:solidFill>
                  <a:srgbClr val="FFFFFF"/>
                </a:solidFill>
                <a:latin typeface="Arial"/>
                <a:ea typeface="Arial"/>
                <a:cs typeface="Arial"/>
              </a:defRPr>
            </a:lvl1pPr>
            <a:lvl2pPr algn="l">
              <a:defRPr sz="1275" b="0" i="0">
                <a:solidFill>
                  <a:srgbClr val="FFFFFF"/>
                </a:solidFill>
                <a:latin typeface="Arial"/>
                <a:ea typeface="Arial"/>
                <a:cs typeface="Arial"/>
              </a:defRPr>
            </a:lvl2pPr>
            <a:lvl3pPr algn="l">
              <a:defRPr sz="1275" b="0" i="0">
                <a:solidFill>
                  <a:srgbClr val="FFFFFF"/>
                </a:solidFill>
                <a:latin typeface="Arial"/>
                <a:ea typeface="Arial"/>
                <a:cs typeface="Arial"/>
              </a:defRPr>
            </a:lvl3pPr>
            <a:lvl4pPr algn="l">
              <a:defRPr sz="1275" b="0" i="0">
                <a:solidFill>
                  <a:srgbClr val="FFFFFF"/>
                </a:solidFill>
                <a:latin typeface="Arial"/>
                <a:ea typeface="Arial"/>
                <a:cs typeface="Arial"/>
              </a:defRPr>
            </a:lvl4pPr>
            <a:lvl5pPr algn="l">
              <a:defRPr sz="1275" b="0" i="0">
                <a:solidFill>
                  <a:srgbClr val="FFFFFF"/>
                </a:solidFill>
                <a:latin typeface="Arial"/>
                <a:ea typeface="Arial"/>
                <a:cs typeface="Arial"/>
              </a:defRPr>
            </a:lvl5pPr>
            <a:lvl6pPr algn="l">
              <a:defRPr sz="1275" b="0" i="0">
                <a:solidFill>
                  <a:srgbClr val="FFFFFF"/>
                </a:solidFill>
                <a:latin typeface="Arial"/>
                <a:ea typeface="Arial"/>
                <a:cs typeface="Arial"/>
              </a:defRPr>
            </a:lvl6pPr>
            <a:lvl7pPr algn="l">
              <a:defRPr sz="1275" b="0" i="0">
                <a:solidFill>
                  <a:srgbClr val="FFFFFF"/>
                </a:solidFill>
                <a:latin typeface="Arial"/>
                <a:ea typeface="Arial"/>
                <a:cs typeface="Arial"/>
              </a:defRPr>
            </a:lvl7pPr>
            <a:lvl8pPr algn="l">
              <a:defRPr sz="1275" b="0" i="0">
                <a:solidFill>
                  <a:srgbClr val="FFFFFF"/>
                </a:solidFill>
                <a:latin typeface="Arial"/>
                <a:ea typeface="Arial"/>
                <a:cs typeface="Arial"/>
              </a:defRPr>
            </a:lvl8pPr>
            <a:lvl9pPr algn="l">
              <a:defRPr sz="1275" b="0" i="0">
                <a:solidFill>
                  <a:srgbClr val="FFFFFF"/>
                </a:solidFill>
                <a:latin typeface="Arial"/>
                <a:ea typeface="Arial"/>
                <a:cs typeface="Arial"/>
              </a:defRPr>
            </a:lvl9pPr>
          </a:lstStyle>
          <a:p xmlns:a="http://schemas.openxmlformats.org/drawingml/2006/main">
            <a:pPr algn="l">
              <a:lnSpc>
                <a:spcPct val="102000"/>
              </a:lnSpc>
              <a:buNone/>
              <a:defRPr sz="1275" b="0" i="0">
                <a:solidFill>
                  <a:srgbClr val="FFFFFF"/>
                </a:solidFill>
                <a:latin typeface="Arial"/>
                <a:ea typeface="Arial"/>
                <a:cs typeface="Arial"/>
              </a:defRPr>
            </a:pPr>
            <a:r>
              <a:rPr sz="1275" b="0" i="0">
                <a:solidFill>
                  <a:srgbClr val="FFFFFF"/>
                </a:solidFill>
                <a:latin typeface="Arial"/>
                <a:ea typeface="Arial"/>
                <a:cs typeface="Arial"/>
              </a:rPr>
              <a:t>National and international distribution</a:t>
            </a:r>
          </a:p>
        </p:txBody>
      </p:sp>
      <p:sp>
        <p:nvSpPr>
          <p:cNvPr id="14" name="">
            <a:extLst xmlns:a="http://schemas.openxmlformats.org/drawingml/2006/main">
              <a:ext uri="{FF2B5EF4-FFF2-40B4-BE49-F238E27FC236}">
                <a16:creationId xmlns:a16="http://schemas.microsoft.com/office/drawing/2014/main" id="{F65ED0AB-5CF4-451C-9B2B-59C1A7EDA3A5}"/>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297821-D554-4E34-82F2-E3BFAC450CEF}"/>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PICASSENT AND THE VALENCIA AREA</a:t>
            </a:r>
          </a:p>
        </p:txBody>
      </p:sp>
      <p:sp>
        <p:nvSpPr>
          <p:cNvPr id="16" name="">
            <a:extLst xmlns:a="http://schemas.openxmlformats.org/drawingml/2006/main">
              <a:ext uri="{FF2B5EF4-FFF2-40B4-BE49-F238E27FC236}">
                <a16:creationId xmlns:a16="http://schemas.microsoft.com/office/drawing/2014/main" id="{5B3B981F-4FEB-45B1-BD41-F5AD8216EE2A}"/>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10 / 16</a:t>
            </a:r>
          </a:p>
        </p:txBody>
      </p:sp>
    </p:spTree>
    <p:extLst>
      <p:ext uri="{BB962C8B-B14F-4D97-AF65-F5344CB8AC3E}">
        <p14:creationId xmlns:p14="http://schemas.microsoft.com/office/powerpoint/2010/main" val="972503694"/>
      </p:ext>
    </p:extLst>
  </p:cSld>
</p:sld>
</file>

<file path=ppt/slides/slide11.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F01CAE0-6D9D-4AA4-92A8-FF1269D4F16F}"/>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1AE895-17BA-4A4C-BEBD-FF71CC254D61}"/>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 / HOW WE WORK</a:t>
            </a:r>
          </a:p>
        </p:txBody>
      </p:sp>
      <p:sp>
        <p:nvSpPr>
          <p:cNvPr id="3" name="">
            <a:extLst xmlns:a="http://schemas.openxmlformats.org/drawingml/2006/main">
              <a:ext uri="{FF2B5EF4-FFF2-40B4-BE49-F238E27FC236}">
                <a16:creationId xmlns:a16="http://schemas.microsoft.com/office/drawing/2014/main" id="{276CEB5A-9FC9-4310-89D4-9FC5F8F55F91}"/>
              </a:ext>
            </a:extLst>
          </p:cNvPr>
          <p:cNvSpPr>
            <a:spLocks xmlns:a="http://schemas.openxmlformats.org/drawingml/2006/main" noGrp="1"/>
          </p:cNvSpPr>
          <p:nvPr/>
        </p:nvSpPr>
        <p:spPr>
          <a:xfrm xmlns:a="http://schemas.openxmlformats.org/drawingml/2006/main">
            <a:off x="762000" y="1028700"/>
            <a:ext cx="10668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82"/>
          </a:bodyPr>
          <a:lstStyle xmlns:a="http://schemas.openxmlformats.org/drawingml/2006/main">
            <a:defPPr algn="l">
              <a:defRPr sz="4725" b="0" i="0">
                <a:solidFill>
                  <a:srgbClr val="211D1A"/>
                </a:solidFill>
                <a:latin typeface="Georgia"/>
                <a:ea typeface="Georgia"/>
                <a:cs typeface="Georgia"/>
              </a:defRPr>
            </a:defPPr>
            <a:lvl1pPr algn="l">
              <a:defRPr sz="4725" b="0" i="0">
                <a:solidFill>
                  <a:srgbClr val="211D1A"/>
                </a:solidFill>
                <a:latin typeface="Georgia"/>
                <a:ea typeface="Georgia"/>
                <a:cs typeface="Georgia"/>
              </a:defRPr>
            </a:lvl1pPr>
            <a:lvl2pPr algn="l">
              <a:defRPr sz="4725" b="0" i="0">
                <a:solidFill>
                  <a:srgbClr val="211D1A"/>
                </a:solidFill>
                <a:latin typeface="Georgia"/>
                <a:ea typeface="Georgia"/>
                <a:cs typeface="Georgia"/>
              </a:defRPr>
            </a:lvl2pPr>
            <a:lvl3pPr algn="l">
              <a:defRPr sz="4725" b="0" i="0">
                <a:solidFill>
                  <a:srgbClr val="211D1A"/>
                </a:solidFill>
                <a:latin typeface="Georgia"/>
                <a:ea typeface="Georgia"/>
                <a:cs typeface="Georgia"/>
              </a:defRPr>
            </a:lvl3pPr>
            <a:lvl4pPr algn="l">
              <a:defRPr sz="4725" b="0" i="0">
                <a:solidFill>
                  <a:srgbClr val="211D1A"/>
                </a:solidFill>
                <a:latin typeface="Georgia"/>
                <a:ea typeface="Georgia"/>
                <a:cs typeface="Georgia"/>
              </a:defRPr>
            </a:lvl4pPr>
            <a:lvl5pPr algn="l">
              <a:defRPr sz="4725" b="0" i="0">
                <a:solidFill>
                  <a:srgbClr val="211D1A"/>
                </a:solidFill>
                <a:latin typeface="Georgia"/>
                <a:ea typeface="Georgia"/>
                <a:cs typeface="Georgia"/>
              </a:defRPr>
            </a:lvl5pPr>
            <a:lvl6pPr algn="l">
              <a:defRPr sz="4725" b="0" i="0">
                <a:solidFill>
                  <a:srgbClr val="211D1A"/>
                </a:solidFill>
                <a:latin typeface="Georgia"/>
                <a:ea typeface="Georgia"/>
                <a:cs typeface="Georgia"/>
              </a:defRPr>
            </a:lvl6pPr>
            <a:lvl7pPr algn="l">
              <a:defRPr sz="4725" b="0" i="0">
                <a:solidFill>
                  <a:srgbClr val="211D1A"/>
                </a:solidFill>
                <a:latin typeface="Georgia"/>
                <a:ea typeface="Georgia"/>
                <a:cs typeface="Georgia"/>
              </a:defRPr>
            </a:lvl7pPr>
            <a:lvl8pPr algn="l">
              <a:defRPr sz="4725" b="0" i="0">
                <a:solidFill>
                  <a:srgbClr val="211D1A"/>
                </a:solidFill>
                <a:latin typeface="Georgia"/>
                <a:ea typeface="Georgia"/>
                <a:cs typeface="Georgia"/>
              </a:defRPr>
            </a:lvl8pPr>
            <a:lvl9pPr algn="l">
              <a:defRPr sz="4725" b="0" i="0">
                <a:solidFill>
                  <a:srgbClr val="211D1A"/>
                </a:solidFill>
                <a:latin typeface="Georgia"/>
                <a:ea typeface="Georgia"/>
                <a:cs typeface="Georgia"/>
              </a:defRPr>
            </a:lvl9pPr>
          </a:lstStyle>
          <a:p xmlns:a="http://schemas.openxmlformats.org/drawingml/2006/main">
            <a:pPr algn="l">
              <a:lnSpc>
                <a:spcPct val="98000"/>
              </a:lnSpc>
              <a:buNone/>
              <a:defRPr sz="4725" b="0" i="0">
                <a:solidFill>
                  <a:srgbClr val="211D1A"/>
                </a:solidFill>
                <a:latin typeface="Georgia"/>
                <a:ea typeface="Georgia"/>
                <a:cs typeface="Georgia"/>
              </a:defRPr>
            </a:pPr>
            <a:r>
              <a:rPr sz="4725" b="0" i="0">
                <a:solidFill>
                  <a:srgbClr val="211D1A"/>
                </a:solidFill>
                <a:latin typeface="Georgia"/>
                <a:ea typeface="Georgia"/>
                <a:cs typeface="Georgia"/>
              </a:rPr>
              <a:t>Capabilities and credentials you can verify</a:t>
            </a:r>
          </a:p>
        </p:txBody>
      </p:sp>
      <p:sp>
        <p:nvSpPr>
          <p:cNvPr id="4" name="">
            <a:extLst xmlns:a="http://schemas.openxmlformats.org/drawingml/2006/main">
              <a:ext uri="{FF2B5EF4-FFF2-40B4-BE49-F238E27FC236}">
                <a16:creationId xmlns:a16="http://schemas.microsoft.com/office/drawing/2014/main" id="{623909AF-6936-4776-9A21-62E37B6EB192}"/>
              </a:ext>
            </a:extLst>
          </p:cNvPr>
          <p:cNvSpPr>
            <a:spLocks xmlns:a="http://schemas.openxmlformats.org/drawingml/2006/main" noGrp="1"/>
          </p:cNvSpPr>
          <p:nvPr/>
        </p:nvSpPr>
        <p:spPr>
          <a:xfrm xmlns:a="http://schemas.openxmlformats.org/drawingml/2006/main">
            <a:off x="762000"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800280-76FA-4806-9470-EB55371670C3}"/>
              </a:ext>
            </a:extLst>
          </p:cNvPr>
          <p:cNvSpPr>
            <a:spLocks xmlns:a="http://schemas.openxmlformats.org/drawingml/2006/main" noGrp="1"/>
          </p:cNvSpPr>
          <p:nvPr/>
        </p:nvSpPr>
        <p:spPr>
          <a:xfrm xmlns:a="http://schemas.openxmlformats.org/drawingml/2006/main">
            <a:off x="762000"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1996</a:t>
            </a:r>
          </a:p>
        </p:txBody>
      </p:sp>
      <p:sp>
        <p:nvSpPr>
          <p:cNvPr id="6" name="">
            <a:extLst xmlns:a="http://schemas.openxmlformats.org/drawingml/2006/main">
              <a:ext uri="{FF2B5EF4-FFF2-40B4-BE49-F238E27FC236}">
                <a16:creationId xmlns:a16="http://schemas.microsoft.com/office/drawing/2014/main" id="{EC0C73B8-C7C8-4DE5-875F-0D68C68032C7}"/>
              </a:ext>
            </a:extLst>
          </p:cNvPr>
          <p:cNvSpPr>
            <a:spLocks xmlns:a="http://schemas.openxmlformats.org/drawingml/2006/main" noGrp="1"/>
          </p:cNvSpPr>
          <p:nvPr/>
        </p:nvSpPr>
        <p:spPr>
          <a:xfrm xmlns:a="http://schemas.openxmlformats.org/drawingml/2006/main">
            <a:off x="762000"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Year the group was founded</a:t>
            </a:r>
          </a:p>
        </p:txBody>
      </p:sp>
      <p:sp>
        <p:nvSpPr>
          <p:cNvPr id="7" name="">
            <a:extLst xmlns:a="http://schemas.openxmlformats.org/drawingml/2006/main">
              <a:ext uri="{FF2B5EF4-FFF2-40B4-BE49-F238E27FC236}">
                <a16:creationId xmlns:a16="http://schemas.microsoft.com/office/drawing/2014/main" id="{0338DF6D-869C-4273-9783-1363A7218AB8}"/>
              </a:ext>
            </a:extLst>
          </p:cNvPr>
          <p:cNvSpPr>
            <a:spLocks xmlns:a="http://schemas.openxmlformats.org/drawingml/2006/main" noGrp="1"/>
          </p:cNvSpPr>
          <p:nvPr/>
        </p:nvSpPr>
        <p:spPr>
          <a:xfrm xmlns:a="http://schemas.openxmlformats.org/drawingml/2006/main">
            <a:off x="3476625"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8F77C1-EB1C-41B6-9260-DE9A6029F67B}"/>
              </a:ext>
            </a:extLst>
          </p:cNvPr>
          <p:cNvSpPr>
            <a:spLocks xmlns:a="http://schemas.openxmlformats.org/drawingml/2006/main" noGrp="1"/>
          </p:cNvSpPr>
          <p:nvPr/>
        </p:nvSpPr>
        <p:spPr>
          <a:xfrm xmlns:a="http://schemas.openxmlformats.org/drawingml/2006/main">
            <a:off x="3476625"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2008</a:t>
            </a:r>
          </a:p>
        </p:txBody>
      </p:sp>
      <p:sp>
        <p:nvSpPr>
          <p:cNvPr id="9" name="">
            <a:extLst xmlns:a="http://schemas.openxmlformats.org/drawingml/2006/main">
              <a:ext uri="{FF2B5EF4-FFF2-40B4-BE49-F238E27FC236}">
                <a16:creationId xmlns:a16="http://schemas.microsoft.com/office/drawing/2014/main" id="{4DBC7BAA-521B-4893-B21E-A17BF078B891}"/>
              </a:ext>
            </a:extLst>
          </p:cNvPr>
          <p:cNvSpPr>
            <a:spLocks xmlns:a="http://schemas.openxmlformats.org/drawingml/2006/main" noGrp="1"/>
          </p:cNvSpPr>
          <p:nvPr/>
        </p:nvSpPr>
        <p:spPr>
          <a:xfrm xmlns:a="http://schemas.openxmlformats.org/drawingml/2006/main">
            <a:off x="3476625"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GPS across the fleet</a:t>
            </a:r>
          </a:p>
        </p:txBody>
      </p:sp>
      <p:sp>
        <p:nvSpPr>
          <p:cNvPr id="10" name="">
            <a:extLst xmlns:a="http://schemas.openxmlformats.org/drawingml/2006/main">
              <a:ext uri="{FF2B5EF4-FFF2-40B4-BE49-F238E27FC236}">
                <a16:creationId xmlns:a16="http://schemas.microsoft.com/office/drawing/2014/main" id="{2B1673EA-EACF-4772-9C2C-FD9A8119F63F}"/>
              </a:ext>
            </a:extLst>
          </p:cNvPr>
          <p:cNvSpPr>
            <a:spLocks xmlns:a="http://schemas.openxmlformats.org/drawingml/2006/main" noGrp="1"/>
          </p:cNvSpPr>
          <p:nvPr/>
        </p:nvSpPr>
        <p:spPr>
          <a:xfrm xmlns:a="http://schemas.openxmlformats.org/drawingml/2006/main">
            <a:off x="6191250"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BD990A-7D1A-46EF-BB28-8ED29333B62F}"/>
              </a:ext>
            </a:extLst>
          </p:cNvPr>
          <p:cNvSpPr>
            <a:spLocks xmlns:a="http://schemas.openxmlformats.org/drawingml/2006/main" noGrp="1"/>
          </p:cNvSpPr>
          <p:nvPr/>
        </p:nvSpPr>
        <p:spPr>
          <a:xfrm xmlns:a="http://schemas.openxmlformats.org/drawingml/2006/main">
            <a:off x="6191250"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24/365</a:t>
            </a:r>
          </a:p>
        </p:txBody>
      </p:sp>
      <p:sp>
        <p:nvSpPr>
          <p:cNvPr id="12" name="">
            <a:extLst xmlns:a="http://schemas.openxmlformats.org/drawingml/2006/main">
              <a:ext uri="{FF2B5EF4-FFF2-40B4-BE49-F238E27FC236}">
                <a16:creationId xmlns:a16="http://schemas.microsoft.com/office/drawing/2014/main" id="{63D3AF95-8400-4E5B-A58D-EB3BEE2E7017}"/>
              </a:ext>
            </a:extLst>
          </p:cNvPr>
          <p:cNvSpPr>
            <a:spLocks xmlns:a="http://schemas.openxmlformats.org/drawingml/2006/main" noGrp="1"/>
          </p:cNvSpPr>
          <p:nvPr/>
        </p:nvSpPr>
        <p:spPr>
          <a:xfrm xmlns:a="http://schemas.openxmlformats.org/drawingml/2006/main">
            <a:off x="6191250"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Support throughout the year</a:t>
            </a:r>
          </a:p>
        </p:txBody>
      </p:sp>
      <p:sp>
        <p:nvSpPr>
          <p:cNvPr id="13" name="">
            <a:extLst xmlns:a="http://schemas.openxmlformats.org/drawingml/2006/main">
              <a:ext uri="{FF2B5EF4-FFF2-40B4-BE49-F238E27FC236}">
                <a16:creationId xmlns:a16="http://schemas.microsoft.com/office/drawing/2014/main" id="{642D6CB3-8E9B-4045-8BA5-7187FA0F11B4}"/>
              </a:ext>
            </a:extLst>
          </p:cNvPr>
          <p:cNvSpPr>
            <a:spLocks xmlns:a="http://schemas.openxmlformats.org/drawingml/2006/main" noGrp="1"/>
          </p:cNvSpPr>
          <p:nvPr/>
        </p:nvSpPr>
        <p:spPr>
          <a:xfrm xmlns:a="http://schemas.openxmlformats.org/drawingml/2006/main">
            <a:off x="8905875" y="3067050"/>
            <a:ext cx="23336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440FC1-675A-42EE-A991-B2E2835CA543}"/>
              </a:ext>
            </a:extLst>
          </p:cNvPr>
          <p:cNvSpPr>
            <a:spLocks xmlns:a="http://schemas.openxmlformats.org/drawingml/2006/main" noGrp="1"/>
          </p:cNvSpPr>
          <p:nvPr/>
        </p:nvSpPr>
        <p:spPr>
          <a:xfrm xmlns:a="http://schemas.openxmlformats.org/drawingml/2006/main">
            <a:off x="8905875" y="32385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75" b="0" i="0">
                <a:solidFill>
                  <a:srgbClr val="CF1727"/>
                </a:solidFill>
                <a:latin typeface="Georgia"/>
                <a:ea typeface="Georgia"/>
                <a:cs typeface="Georgia"/>
              </a:defRPr>
            </a:defPPr>
            <a:lvl1pPr algn="l">
              <a:defRPr sz="5175" b="0" i="0">
                <a:solidFill>
                  <a:srgbClr val="CF1727"/>
                </a:solidFill>
                <a:latin typeface="Georgia"/>
                <a:ea typeface="Georgia"/>
                <a:cs typeface="Georgia"/>
              </a:defRPr>
            </a:lvl1pPr>
            <a:lvl2pPr algn="l">
              <a:defRPr sz="5175" b="0" i="0">
                <a:solidFill>
                  <a:srgbClr val="CF1727"/>
                </a:solidFill>
                <a:latin typeface="Georgia"/>
                <a:ea typeface="Georgia"/>
                <a:cs typeface="Georgia"/>
              </a:defRPr>
            </a:lvl2pPr>
            <a:lvl3pPr algn="l">
              <a:defRPr sz="5175" b="0" i="0">
                <a:solidFill>
                  <a:srgbClr val="CF1727"/>
                </a:solidFill>
                <a:latin typeface="Georgia"/>
                <a:ea typeface="Georgia"/>
                <a:cs typeface="Georgia"/>
              </a:defRPr>
            </a:lvl3pPr>
            <a:lvl4pPr algn="l">
              <a:defRPr sz="5175" b="0" i="0">
                <a:solidFill>
                  <a:srgbClr val="CF1727"/>
                </a:solidFill>
                <a:latin typeface="Georgia"/>
                <a:ea typeface="Georgia"/>
                <a:cs typeface="Georgia"/>
              </a:defRPr>
            </a:lvl4pPr>
            <a:lvl5pPr algn="l">
              <a:defRPr sz="5175" b="0" i="0">
                <a:solidFill>
                  <a:srgbClr val="CF1727"/>
                </a:solidFill>
                <a:latin typeface="Georgia"/>
                <a:ea typeface="Georgia"/>
                <a:cs typeface="Georgia"/>
              </a:defRPr>
            </a:lvl5pPr>
            <a:lvl6pPr algn="l">
              <a:defRPr sz="5175" b="0" i="0">
                <a:solidFill>
                  <a:srgbClr val="CF1727"/>
                </a:solidFill>
                <a:latin typeface="Georgia"/>
                <a:ea typeface="Georgia"/>
                <a:cs typeface="Georgia"/>
              </a:defRPr>
            </a:lvl6pPr>
            <a:lvl7pPr algn="l">
              <a:defRPr sz="5175" b="0" i="0">
                <a:solidFill>
                  <a:srgbClr val="CF1727"/>
                </a:solidFill>
                <a:latin typeface="Georgia"/>
                <a:ea typeface="Georgia"/>
                <a:cs typeface="Georgia"/>
              </a:defRPr>
            </a:lvl7pPr>
            <a:lvl8pPr algn="l">
              <a:defRPr sz="5175" b="0" i="0">
                <a:solidFill>
                  <a:srgbClr val="CF1727"/>
                </a:solidFill>
                <a:latin typeface="Georgia"/>
                <a:ea typeface="Georgia"/>
                <a:cs typeface="Georgia"/>
              </a:defRPr>
            </a:lvl8pPr>
            <a:lvl9pPr algn="l">
              <a:defRPr sz="5175" b="0" i="0">
                <a:solidFill>
                  <a:srgbClr val="CF1727"/>
                </a:solidFill>
                <a:latin typeface="Georgia"/>
                <a:ea typeface="Georgia"/>
                <a:cs typeface="Georgia"/>
              </a:defRPr>
            </a:lvl9pPr>
          </a:lstStyle>
          <a:p xmlns:a="http://schemas.openxmlformats.org/drawingml/2006/main">
            <a:pPr algn="l">
              <a:lnSpc>
                <a:spcPct val="102000"/>
              </a:lnSpc>
              <a:buNone/>
              <a:defRPr sz="5175" b="0" i="0">
                <a:solidFill>
                  <a:srgbClr val="CF1727"/>
                </a:solidFill>
                <a:latin typeface="Georgia"/>
                <a:ea typeface="Georgia"/>
                <a:cs typeface="Georgia"/>
              </a:defRPr>
            </a:pPr>
            <a:r>
              <a:rPr sz="5175" b="0" i="0">
                <a:solidFill>
                  <a:srgbClr val="CF1727"/>
                </a:solidFill>
                <a:latin typeface="Georgia"/>
                <a:ea typeface="Georgia"/>
                <a:cs typeface="Georgia"/>
              </a:rPr>
              <a:t>3</a:t>
            </a:r>
          </a:p>
        </p:txBody>
      </p:sp>
      <p:sp>
        <p:nvSpPr>
          <p:cNvPr id="15" name="">
            <a:extLst xmlns:a="http://schemas.openxmlformats.org/drawingml/2006/main">
              <a:ext uri="{FF2B5EF4-FFF2-40B4-BE49-F238E27FC236}">
                <a16:creationId xmlns:a16="http://schemas.microsoft.com/office/drawing/2014/main" id="{B71B2253-008F-46EB-AFDD-2E2367E264E5}"/>
              </a:ext>
            </a:extLst>
          </p:cNvPr>
          <p:cNvSpPr>
            <a:spLocks xmlns:a="http://schemas.openxmlformats.org/drawingml/2006/main" noGrp="1"/>
          </p:cNvSpPr>
          <p:nvPr/>
        </p:nvSpPr>
        <p:spPr>
          <a:xfrm xmlns:a="http://schemas.openxmlformats.org/drawingml/2006/main">
            <a:off x="8905875" y="4286250"/>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211D1A"/>
                </a:solidFill>
                <a:latin typeface="Arial"/>
                <a:ea typeface="Arial"/>
                <a:cs typeface="Arial"/>
              </a:defRPr>
            </a:defPPr>
            <a:lvl1pPr algn="l">
              <a:defRPr sz="1500" b="0" i="0">
                <a:solidFill>
                  <a:srgbClr val="211D1A"/>
                </a:solidFill>
                <a:latin typeface="Arial"/>
                <a:ea typeface="Arial"/>
                <a:cs typeface="Arial"/>
              </a:defRPr>
            </a:lvl1pPr>
            <a:lvl2pPr algn="l">
              <a:defRPr sz="1500" b="0" i="0">
                <a:solidFill>
                  <a:srgbClr val="211D1A"/>
                </a:solidFill>
                <a:latin typeface="Arial"/>
                <a:ea typeface="Arial"/>
                <a:cs typeface="Arial"/>
              </a:defRPr>
            </a:lvl2pPr>
            <a:lvl3pPr algn="l">
              <a:defRPr sz="1500" b="0" i="0">
                <a:solidFill>
                  <a:srgbClr val="211D1A"/>
                </a:solidFill>
                <a:latin typeface="Arial"/>
                <a:ea typeface="Arial"/>
                <a:cs typeface="Arial"/>
              </a:defRPr>
            </a:lvl3pPr>
            <a:lvl4pPr algn="l">
              <a:defRPr sz="1500" b="0" i="0">
                <a:solidFill>
                  <a:srgbClr val="211D1A"/>
                </a:solidFill>
                <a:latin typeface="Arial"/>
                <a:ea typeface="Arial"/>
                <a:cs typeface="Arial"/>
              </a:defRPr>
            </a:lvl4pPr>
            <a:lvl5pPr algn="l">
              <a:defRPr sz="1500" b="0" i="0">
                <a:solidFill>
                  <a:srgbClr val="211D1A"/>
                </a:solidFill>
                <a:latin typeface="Arial"/>
                <a:ea typeface="Arial"/>
                <a:cs typeface="Arial"/>
              </a:defRPr>
            </a:lvl5pPr>
            <a:lvl6pPr algn="l">
              <a:defRPr sz="1500" b="0" i="0">
                <a:solidFill>
                  <a:srgbClr val="211D1A"/>
                </a:solidFill>
                <a:latin typeface="Arial"/>
                <a:ea typeface="Arial"/>
                <a:cs typeface="Arial"/>
              </a:defRPr>
            </a:lvl6pPr>
            <a:lvl7pPr algn="l">
              <a:defRPr sz="1500" b="0" i="0">
                <a:solidFill>
                  <a:srgbClr val="211D1A"/>
                </a:solidFill>
                <a:latin typeface="Arial"/>
                <a:ea typeface="Arial"/>
                <a:cs typeface="Arial"/>
              </a:defRPr>
            </a:lvl7pPr>
            <a:lvl8pPr algn="l">
              <a:defRPr sz="1500" b="0" i="0">
                <a:solidFill>
                  <a:srgbClr val="211D1A"/>
                </a:solidFill>
                <a:latin typeface="Arial"/>
                <a:ea typeface="Arial"/>
                <a:cs typeface="Arial"/>
              </a:defRPr>
            </a:lvl8pPr>
            <a:lvl9pPr algn="l">
              <a:defRPr sz="1500" b="0" i="0">
                <a:solidFill>
                  <a:srgbClr val="211D1A"/>
                </a:solidFill>
                <a:latin typeface="Arial"/>
                <a:ea typeface="Arial"/>
                <a:cs typeface="Arial"/>
              </a:defRPr>
            </a:lvl9pPr>
          </a:lstStyle>
          <a:p xmlns:a="http://schemas.openxmlformats.org/drawingml/2006/main">
            <a:pPr algn="l">
              <a:lnSpc>
                <a:spcPct val="102000"/>
              </a:lnSpc>
              <a:buNone/>
              <a:defRPr sz="1500" b="0" i="0">
                <a:solidFill>
                  <a:srgbClr val="211D1A"/>
                </a:solidFill>
                <a:latin typeface="Arial"/>
                <a:ea typeface="Arial"/>
                <a:cs typeface="Arial"/>
              </a:defRPr>
            </a:pPr>
            <a:r>
              <a:rPr sz="1500" b="0" i="0">
                <a:solidFill>
                  <a:srgbClr val="211D1A"/>
                </a:solidFill>
                <a:latin typeface="Arial"/>
                <a:ea typeface="Arial"/>
                <a:cs typeface="Arial"/>
              </a:rPr>
              <a:t>Own logistics bases</a:t>
            </a:r>
          </a:p>
        </p:txBody>
      </p:sp>
      <p:sp>
        <p:nvSpPr>
          <p:cNvPr id="16" name="">
            <a:extLst xmlns:a="http://schemas.openxmlformats.org/drawingml/2006/main">
              <a:ext uri="{FF2B5EF4-FFF2-40B4-BE49-F238E27FC236}">
                <a16:creationId xmlns:a16="http://schemas.microsoft.com/office/drawing/2014/main" id="{61F43E5B-0CEC-41E8-91A8-9F43E389429F}"/>
              </a:ext>
            </a:extLst>
          </p:cNvPr>
          <p:cNvSpPr>
            <a:spLocks xmlns:a="http://schemas.openxmlformats.org/drawingml/2006/main" noGrp="1"/>
          </p:cNvSpPr>
          <p:nvPr/>
        </p:nvSpPr>
        <p:spPr>
          <a:xfrm xmlns:a="http://schemas.openxmlformats.org/drawingml/2006/main">
            <a:off x="762000" y="5276850"/>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1362CDB-20D2-464F-8D85-9B286AFA325A}"/>
              </a:ext>
            </a:extLst>
          </p:cNvPr>
          <p:cNvSpPr>
            <a:spLocks xmlns:a="http://schemas.openxmlformats.org/drawingml/2006/main" noGrp="1"/>
          </p:cNvSpPr>
          <p:nvPr/>
        </p:nvSpPr>
        <p:spPr>
          <a:xfrm xmlns:a="http://schemas.openxmlformats.org/drawingml/2006/main">
            <a:off x="7620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ISO 9001:2015</a:t>
            </a:r>
          </a:p>
        </p:txBody>
      </p:sp>
      <p:sp>
        <p:nvSpPr>
          <p:cNvPr id="18" name="">
            <a:extLst xmlns:a="http://schemas.openxmlformats.org/drawingml/2006/main">
              <a:ext uri="{FF2B5EF4-FFF2-40B4-BE49-F238E27FC236}">
                <a16:creationId xmlns:a16="http://schemas.microsoft.com/office/drawing/2014/main" id="{28C14C7B-A665-460D-8053-A1C90FF4E920}"/>
              </a:ext>
            </a:extLst>
          </p:cNvPr>
          <p:cNvSpPr>
            <a:spLocks xmlns:a="http://schemas.openxmlformats.org/drawingml/2006/main" noGrp="1"/>
          </p:cNvSpPr>
          <p:nvPr/>
        </p:nvSpPr>
        <p:spPr>
          <a:xfrm xmlns:a="http://schemas.openxmlformats.org/drawingml/2006/main">
            <a:off x="7620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Quality management</a:t>
            </a:r>
          </a:p>
        </p:txBody>
      </p:sp>
      <p:sp>
        <p:nvSpPr>
          <p:cNvPr id="19" name="">
            <a:extLst xmlns:a="http://schemas.openxmlformats.org/drawingml/2006/main">
              <a:ext uri="{FF2B5EF4-FFF2-40B4-BE49-F238E27FC236}">
                <a16:creationId xmlns:a16="http://schemas.microsoft.com/office/drawing/2014/main" id="{A24131E3-2680-411A-9B20-C70CE1008772}"/>
              </a:ext>
            </a:extLst>
          </p:cNvPr>
          <p:cNvSpPr>
            <a:spLocks xmlns:a="http://schemas.openxmlformats.org/drawingml/2006/main" noGrp="1"/>
          </p:cNvSpPr>
          <p:nvPr/>
        </p:nvSpPr>
        <p:spPr>
          <a:xfrm xmlns:a="http://schemas.openxmlformats.org/drawingml/2006/main">
            <a:off x="43815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ISO 14001:2015</a:t>
            </a:r>
          </a:p>
        </p:txBody>
      </p:sp>
      <p:sp>
        <p:nvSpPr>
          <p:cNvPr id="20" name="">
            <a:extLst xmlns:a="http://schemas.openxmlformats.org/drawingml/2006/main">
              <a:ext uri="{FF2B5EF4-FFF2-40B4-BE49-F238E27FC236}">
                <a16:creationId xmlns:a16="http://schemas.microsoft.com/office/drawing/2014/main" id="{E715213A-0B2A-46F3-9174-1F0878D9EF1F}"/>
              </a:ext>
            </a:extLst>
          </p:cNvPr>
          <p:cNvSpPr>
            <a:spLocks xmlns:a="http://schemas.openxmlformats.org/drawingml/2006/main" noGrp="1"/>
          </p:cNvSpPr>
          <p:nvPr/>
        </p:nvSpPr>
        <p:spPr>
          <a:xfrm xmlns:a="http://schemas.openxmlformats.org/drawingml/2006/main">
            <a:off x="43815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Environmental management</a:t>
            </a:r>
          </a:p>
        </p:txBody>
      </p:sp>
      <p:sp>
        <p:nvSpPr>
          <p:cNvPr id="21" name="">
            <a:extLst xmlns:a="http://schemas.openxmlformats.org/drawingml/2006/main">
              <a:ext uri="{FF2B5EF4-FFF2-40B4-BE49-F238E27FC236}">
                <a16:creationId xmlns:a16="http://schemas.microsoft.com/office/drawing/2014/main" id="{40B79705-EA0B-47E2-ABB2-E64C5C5CC378}"/>
              </a:ext>
            </a:extLst>
          </p:cNvPr>
          <p:cNvSpPr>
            <a:spLocks xmlns:a="http://schemas.openxmlformats.org/drawingml/2006/main" noGrp="1"/>
          </p:cNvSpPr>
          <p:nvPr/>
        </p:nvSpPr>
        <p:spPr>
          <a:xfrm xmlns:a="http://schemas.openxmlformats.org/drawingml/2006/main">
            <a:off x="8001000" y="54102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CF1727"/>
                </a:solidFill>
                <a:latin typeface="Arial"/>
                <a:ea typeface="Arial"/>
                <a:cs typeface="Arial"/>
              </a:defRPr>
            </a:defPPr>
            <a:lvl1pPr algn="l">
              <a:defRPr sz="1275" b="1" i="0">
                <a:solidFill>
                  <a:srgbClr val="CF1727"/>
                </a:solidFill>
                <a:latin typeface="Arial"/>
                <a:ea typeface="Arial"/>
                <a:cs typeface="Arial"/>
              </a:defRPr>
            </a:lvl1pPr>
            <a:lvl2pPr algn="l">
              <a:defRPr sz="1275" b="1" i="0">
                <a:solidFill>
                  <a:srgbClr val="CF1727"/>
                </a:solidFill>
                <a:latin typeface="Arial"/>
                <a:ea typeface="Arial"/>
                <a:cs typeface="Arial"/>
              </a:defRPr>
            </a:lvl2pPr>
            <a:lvl3pPr algn="l">
              <a:defRPr sz="1275" b="1" i="0">
                <a:solidFill>
                  <a:srgbClr val="CF1727"/>
                </a:solidFill>
                <a:latin typeface="Arial"/>
                <a:ea typeface="Arial"/>
                <a:cs typeface="Arial"/>
              </a:defRPr>
            </a:lvl3pPr>
            <a:lvl4pPr algn="l">
              <a:defRPr sz="1275" b="1" i="0">
                <a:solidFill>
                  <a:srgbClr val="CF1727"/>
                </a:solidFill>
                <a:latin typeface="Arial"/>
                <a:ea typeface="Arial"/>
                <a:cs typeface="Arial"/>
              </a:defRPr>
            </a:lvl4pPr>
            <a:lvl5pPr algn="l">
              <a:defRPr sz="1275" b="1" i="0">
                <a:solidFill>
                  <a:srgbClr val="CF1727"/>
                </a:solidFill>
                <a:latin typeface="Arial"/>
                <a:ea typeface="Arial"/>
                <a:cs typeface="Arial"/>
              </a:defRPr>
            </a:lvl5pPr>
            <a:lvl6pPr algn="l">
              <a:defRPr sz="1275" b="1" i="0">
                <a:solidFill>
                  <a:srgbClr val="CF1727"/>
                </a:solidFill>
                <a:latin typeface="Arial"/>
                <a:ea typeface="Arial"/>
                <a:cs typeface="Arial"/>
              </a:defRPr>
            </a:lvl6pPr>
            <a:lvl7pPr algn="l">
              <a:defRPr sz="1275" b="1" i="0">
                <a:solidFill>
                  <a:srgbClr val="CF1727"/>
                </a:solidFill>
                <a:latin typeface="Arial"/>
                <a:ea typeface="Arial"/>
                <a:cs typeface="Arial"/>
              </a:defRPr>
            </a:lvl7pPr>
            <a:lvl8pPr algn="l">
              <a:defRPr sz="1275" b="1" i="0">
                <a:solidFill>
                  <a:srgbClr val="CF1727"/>
                </a:solidFill>
                <a:latin typeface="Arial"/>
                <a:ea typeface="Arial"/>
                <a:cs typeface="Arial"/>
              </a:defRPr>
            </a:lvl8pPr>
            <a:lvl9pPr algn="l">
              <a:defRPr sz="1275" b="1" i="0">
                <a:solidFill>
                  <a:srgbClr val="CF1727"/>
                </a:solidFill>
                <a:latin typeface="Arial"/>
                <a:ea typeface="Arial"/>
                <a:cs typeface="Arial"/>
              </a:defRPr>
            </a:lvl9pPr>
          </a:lstStyle>
          <a:p xmlns:a="http://schemas.openxmlformats.org/drawingml/2006/main">
            <a:pPr algn="l">
              <a:lnSpc>
                <a:spcPct val="102000"/>
              </a:lnSpc>
              <a:buNone/>
              <a:defRPr sz="1275" b="1" i="0">
                <a:solidFill>
                  <a:srgbClr val="CF1727"/>
                </a:solidFill>
                <a:latin typeface="Arial"/>
                <a:ea typeface="Arial"/>
                <a:cs typeface="Arial"/>
              </a:defRPr>
            </a:pPr>
            <a:r>
              <a:rPr sz="1275" b="1" i="0">
                <a:solidFill>
                  <a:srgbClr val="CF1727"/>
                </a:solidFill>
                <a:latin typeface="Arial"/>
                <a:ea typeface="Arial"/>
                <a:cs typeface="Arial"/>
              </a:rPr>
              <a:t>GPS tracking</a:t>
            </a:r>
          </a:p>
        </p:txBody>
      </p:sp>
      <p:sp>
        <p:nvSpPr>
          <p:cNvPr id="22" name="">
            <a:extLst xmlns:a="http://schemas.openxmlformats.org/drawingml/2006/main">
              <a:ext uri="{FF2B5EF4-FFF2-40B4-BE49-F238E27FC236}">
                <a16:creationId xmlns:a16="http://schemas.microsoft.com/office/drawing/2014/main" id="{5B616550-EB42-4840-AEFE-BD4507C1BD48}"/>
              </a:ext>
            </a:extLst>
          </p:cNvPr>
          <p:cNvSpPr>
            <a:spLocks xmlns:a="http://schemas.openxmlformats.org/drawingml/2006/main" noGrp="1"/>
          </p:cNvSpPr>
          <p:nvPr/>
        </p:nvSpPr>
        <p:spPr>
          <a:xfrm xmlns:a="http://schemas.openxmlformats.org/drawingml/2006/main">
            <a:off x="8001000" y="5686425"/>
            <a:ext cx="3333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211D1A"/>
                </a:solidFill>
                <a:latin typeface="Arial"/>
                <a:ea typeface="Arial"/>
                <a:cs typeface="Arial"/>
              </a:defRPr>
            </a:defPPr>
            <a:lvl1pPr algn="l">
              <a:defRPr sz="1200" b="0" i="0">
                <a:solidFill>
                  <a:srgbClr val="211D1A"/>
                </a:solidFill>
                <a:latin typeface="Arial"/>
                <a:ea typeface="Arial"/>
                <a:cs typeface="Arial"/>
              </a:defRPr>
            </a:lvl1pPr>
            <a:lvl2pPr algn="l">
              <a:defRPr sz="1200" b="0" i="0">
                <a:solidFill>
                  <a:srgbClr val="211D1A"/>
                </a:solidFill>
                <a:latin typeface="Arial"/>
                <a:ea typeface="Arial"/>
                <a:cs typeface="Arial"/>
              </a:defRPr>
            </a:lvl2pPr>
            <a:lvl3pPr algn="l">
              <a:defRPr sz="1200" b="0" i="0">
                <a:solidFill>
                  <a:srgbClr val="211D1A"/>
                </a:solidFill>
                <a:latin typeface="Arial"/>
                <a:ea typeface="Arial"/>
                <a:cs typeface="Arial"/>
              </a:defRPr>
            </a:lvl3pPr>
            <a:lvl4pPr algn="l">
              <a:defRPr sz="1200" b="0" i="0">
                <a:solidFill>
                  <a:srgbClr val="211D1A"/>
                </a:solidFill>
                <a:latin typeface="Arial"/>
                <a:ea typeface="Arial"/>
                <a:cs typeface="Arial"/>
              </a:defRPr>
            </a:lvl4pPr>
            <a:lvl5pPr algn="l">
              <a:defRPr sz="1200" b="0" i="0">
                <a:solidFill>
                  <a:srgbClr val="211D1A"/>
                </a:solidFill>
                <a:latin typeface="Arial"/>
                <a:ea typeface="Arial"/>
                <a:cs typeface="Arial"/>
              </a:defRPr>
            </a:lvl5pPr>
            <a:lvl6pPr algn="l">
              <a:defRPr sz="1200" b="0" i="0">
                <a:solidFill>
                  <a:srgbClr val="211D1A"/>
                </a:solidFill>
                <a:latin typeface="Arial"/>
                <a:ea typeface="Arial"/>
                <a:cs typeface="Arial"/>
              </a:defRPr>
            </a:lvl6pPr>
            <a:lvl7pPr algn="l">
              <a:defRPr sz="1200" b="0" i="0">
                <a:solidFill>
                  <a:srgbClr val="211D1A"/>
                </a:solidFill>
                <a:latin typeface="Arial"/>
                <a:ea typeface="Arial"/>
                <a:cs typeface="Arial"/>
              </a:defRPr>
            </a:lvl7pPr>
            <a:lvl8pPr algn="l">
              <a:defRPr sz="1200" b="0" i="0">
                <a:solidFill>
                  <a:srgbClr val="211D1A"/>
                </a:solidFill>
                <a:latin typeface="Arial"/>
                <a:ea typeface="Arial"/>
                <a:cs typeface="Arial"/>
              </a:defRPr>
            </a:lvl8pPr>
            <a:lvl9pPr algn="l">
              <a:defRPr sz="1200" b="0" i="0">
                <a:solidFill>
                  <a:srgbClr val="211D1A"/>
                </a:solidFill>
                <a:latin typeface="Arial"/>
                <a:ea typeface="Arial"/>
                <a:cs typeface="Arial"/>
              </a:defRPr>
            </a:lvl9pPr>
          </a:lstStyle>
          <a:p xmlns:a="http://schemas.openxmlformats.org/drawingml/2006/main">
            <a:pPr algn="l">
              <a:lnSpc>
                <a:spcPct val="102000"/>
              </a:lnSpc>
              <a:buNone/>
              <a:defRPr sz="1200" b="0" i="0">
                <a:solidFill>
                  <a:srgbClr val="211D1A"/>
                </a:solidFill>
                <a:latin typeface="Arial"/>
                <a:ea typeface="Arial"/>
                <a:cs typeface="Arial"/>
              </a:defRPr>
            </a:pPr>
            <a:r>
              <a:rPr sz="1200" b="0" i="0">
                <a:solidFill>
                  <a:srgbClr val="211D1A"/>
                </a:solidFill>
                <a:latin typeface="Arial"/>
                <a:ea typeface="Arial"/>
                <a:cs typeface="Arial"/>
              </a:rPr>
              <a:t>Shipment location visible to customers</a:t>
            </a:r>
          </a:p>
        </p:txBody>
      </p:sp>
      <p:sp>
        <p:nvSpPr>
          <p:cNvPr id="23" name="">
            <a:extLst xmlns:a="http://schemas.openxmlformats.org/drawingml/2006/main">
              <a:ext uri="{FF2B5EF4-FFF2-40B4-BE49-F238E27FC236}">
                <a16:creationId xmlns:a16="http://schemas.microsoft.com/office/drawing/2014/main" id="{F51F7725-4C3F-4D58-84C7-2B477CC1E856}"/>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41CC83-1FE1-4C71-B3F3-DDEC22BF57FD}"/>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03 / HOW WE WORK</a:t>
            </a:r>
          </a:p>
        </p:txBody>
      </p:sp>
      <p:sp>
        <p:nvSpPr>
          <p:cNvPr id="25" name="">
            <a:extLst xmlns:a="http://schemas.openxmlformats.org/drawingml/2006/main">
              <a:ext uri="{FF2B5EF4-FFF2-40B4-BE49-F238E27FC236}">
                <a16:creationId xmlns:a16="http://schemas.microsoft.com/office/drawing/2014/main" id="{FC3608B8-5C39-4D1C-9CF2-F4143D142CB9}"/>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11 / 16</a:t>
            </a:r>
          </a:p>
        </p:txBody>
      </p:sp>
    </p:spTree>
    <p:extLst>
      <p:ext uri="{BB962C8B-B14F-4D97-AF65-F5344CB8AC3E}">
        <p14:creationId xmlns:p14="http://schemas.microsoft.com/office/powerpoint/2010/main" val="1895099243"/>
      </p:ext>
    </p:extLst>
  </p:cSld>
</p:sld>
</file>

<file path=ppt/slides/slide12.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B4511B0-FE46-4A91-BFF0-E8FA52C8993B}"/>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31A413-6D08-4408-867F-ABDAB41A7B64}"/>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04 / OUR LOCATIONS</a:t>
            </a:r>
          </a:p>
        </p:txBody>
      </p:sp>
      <p:sp>
        <p:nvSpPr>
          <p:cNvPr id="3" name="">
            <a:extLst xmlns:a="http://schemas.openxmlformats.org/drawingml/2006/main">
              <a:ext uri="{FF2B5EF4-FFF2-40B4-BE49-F238E27FC236}">
                <a16:creationId xmlns:a16="http://schemas.microsoft.com/office/drawing/2014/main" id="{143FAEAC-9ACB-4A35-B1AF-2F10E57F5B05}"/>
              </a:ext>
            </a:extLst>
          </p:cNvPr>
          <p:cNvSpPr>
            <a:spLocks xmlns:a="http://schemas.openxmlformats.org/drawingml/2006/main" noGrp="1"/>
          </p:cNvSpPr>
          <p:nvPr/>
        </p:nvSpPr>
        <p:spPr>
          <a:xfrm xmlns:a="http://schemas.openxmlformats.org/drawingml/2006/main">
            <a:off x="762000" y="102870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75" b="0" i="0">
                <a:solidFill>
                  <a:srgbClr val="211D1A"/>
                </a:solidFill>
                <a:latin typeface="Georgia"/>
                <a:ea typeface="Georgia"/>
                <a:cs typeface="Georgia"/>
              </a:defRPr>
            </a:defPPr>
            <a:lvl1pPr algn="l">
              <a:defRPr sz="4575" b="0" i="0">
                <a:solidFill>
                  <a:srgbClr val="211D1A"/>
                </a:solidFill>
                <a:latin typeface="Georgia"/>
                <a:ea typeface="Georgia"/>
                <a:cs typeface="Georgia"/>
              </a:defRPr>
            </a:lvl1pPr>
            <a:lvl2pPr algn="l">
              <a:defRPr sz="4575" b="0" i="0">
                <a:solidFill>
                  <a:srgbClr val="211D1A"/>
                </a:solidFill>
                <a:latin typeface="Georgia"/>
                <a:ea typeface="Georgia"/>
                <a:cs typeface="Georgia"/>
              </a:defRPr>
            </a:lvl2pPr>
            <a:lvl3pPr algn="l">
              <a:defRPr sz="4575" b="0" i="0">
                <a:solidFill>
                  <a:srgbClr val="211D1A"/>
                </a:solidFill>
                <a:latin typeface="Georgia"/>
                <a:ea typeface="Georgia"/>
                <a:cs typeface="Georgia"/>
              </a:defRPr>
            </a:lvl3pPr>
            <a:lvl4pPr algn="l">
              <a:defRPr sz="4575" b="0" i="0">
                <a:solidFill>
                  <a:srgbClr val="211D1A"/>
                </a:solidFill>
                <a:latin typeface="Georgia"/>
                <a:ea typeface="Georgia"/>
                <a:cs typeface="Georgia"/>
              </a:defRPr>
            </a:lvl4pPr>
            <a:lvl5pPr algn="l">
              <a:defRPr sz="4575" b="0" i="0">
                <a:solidFill>
                  <a:srgbClr val="211D1A"/>
                </a:solidFill>
                <a:latin typeface="Georgia"/>
                <a:ea typeface="Georgia"/>
                <a:cs typeface="Georgia"/>
              </a:defRPr>
            </a:lvl5pPr>
            <a:lvl6pPr algn="l">
              <a:defRPr sz="4575" b="0" i="0">
                <a:solidFill>
                  <a:srgbClr val="211D1A"/>
                </a:solidFill>
                <a:latin typeface="Georgia"/>
                <a:ea typeface="Georgia"/>
                <a:cs typeface="Georgia"/>
              </a:defRPr>
            </a:lvl6pPr>
            <a:lvl7pPr algn="l">
              <a:defRPr sz="4575" b="0" i="0">
                <a:solidFill>
                  <a:srgbClr val="211D1A"/>
                </a:solidFill>
                <a:latin typeface="Georgia"/>
                <a:ea typeface="Georgia"/>
                <a:cs typeface="Georgia"/>
              </a:defRPr>
            </a:lvl7pPr>
            <a:lvl8pPr algn="l">
              <a:defRPr sz="4575" b="0" i="0">
                <a:solidFill>
                  <a:srgbClr val="211D1A"/>
                </a:solidFill>
                <a:latin typeface="Georgia"/>
                <a:ea typeface="Georgia"/>
                <a:cs typeface="Georgia"/>
              </a:defRPr>
            </a:lvl8pPr>
            <a:lvl9pPr algn="l">
              <a:defRPr sz="4575" b="0" i="0">
                <a:solidFill>
                  <a:srgbClr val="211D1A"/>
                </a:solidFill>
                <a:latin typeface="Georgia"/>
                <a:ea typeface="Georgia"/>
                <a:cs typeface="Georgia"/>
              </a:defRPr>
            </a:lvl9pPr>
          </a:lstStyle>
          <a:p xmlns:a="http://schemas.openxmlformats.org/drawingml/2006/main">
            <a:pPr algn="l">
              <a:lnSpc>
                <a:spcPct val="98000"/>
              </a:lnSpc>
              <a:buNone/>
              <a:defRPr sz="4575" b="0" i="0">
                <a:solidFill>
                  <a:srgbClr val="211D1A"/>
                </a:solidFill>
                <a:latin typeface="Georgia"/>
                <a:ea typeface="Georgia"/>
                <a:cs typeface="Georgia"/>
              </a:defRPr>
            </a:pPr>
            <a:r>
              <a:rPr sz="4575" b="0" i="0">
                <a:solidFill>
                  <a:srgbClr val="211D1A"/>
                </a:solidFill>
                <a:latin typeface="Georgia"/>
                <a:ea typeface="Georgia"/>
                <a:cs typeface="Georgia"/>
              </a:rPr>
              <a:t>In Cuenca and Valencia, close to the port</a:t>
            </a:r>
          </a:p>
        </p:txBody>
      </p:sp>
      <p:sp>
        <p:nvSpPr>
          <p:cNvPr id="4" name="">
            <a:extLst xmlns:a="http://schemas.openxmlformats.org/drawingml/2006/main">
              <a:ext uri="{FF2B5EF4-FFF2-40B4-BE49-F238E27FC236}">
                <a16:creationId xmlns:a16="http://schemas.microsoft.com/office/drawing/2014/main" id="{9E7C7A19-C3A1-49AE-A1EC-149E6CE25DD6}"/>
              </a:ext>
            </a:extLst>
          </p:cNvPr>
          <p:cNvSpPr>
            <a:spLocks xmlns:a="http://schemas.openxmlformats.org/drawingml/2006/main" noGrp="1"/>
          </p:cNvSpPr>
          <p:nvPr/>
        </p:nvSpPr>
        <p:spPr>
          <a:xfrm xmlns:a="http://schemas.openxmlformats.org/drawingml/2006/main">
            <a:off x="762000" y="2562225"/>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6D5494A-462B-47A4-9D1D-FC78351D700F}"/>
              </a:ext>
            </a:extLst>
          </p:cNvPr>
          <p:cNvSpPr>
            <a:spLocks xmlns:a="http://schemas.openxmlformats.org/drawingml/2006/main" noGrp="1"/>
          </p:cNvSpPr>
          <p:nvPr/>
        </p:nvSpPr>
        <p:spPr>
          <a:xfrm xmlns:a="http://schemas.openxmlformats.org/drawingml/2006/main">
            <a:off x="762000" y="27336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4"/>
          </a:bodyPr>
          <a:lstStyle xmlns:a="http://schemas.openxmlformats.org/drawingml/2006/main">
            <a:defPPr algn="l">
              <a:defRPr sz="3450" b="0" i="0">
                <a:solidFill>
                  <a:srgbClr val="CF1727"/>
                </a:solidFill>
                <a:latin typeface="Georgia"/>
                <a:ea typeface="Georgia"/>
                <a:cs typeface="Georgia"/>
              </a:defRPr>
            </a:defPPr>
            <a:lvl1pPr algn="l">
              <a:defRPr sz="3450" b="0" i="0">
                <a:solidFill>
                  <a:srgbClr val="CF1727"/>
                </a:solidFill>
                <a:latin typeface="Georgia"/>
                <a:ea typeface="Georgia"/>
                <a:cs typeface="Georgia"/>
              </a:defRPr>
            </a:lvl1pPr>
            <a:lvl2pPr algn="l">
              <a:defRPr sz="3450" b="0" i="0">
                <a:solidFill>
                  <a:srgbClr val="CF1727"/>
                </a:solidFill>
                <a:latin typeface="Georgia"/>
                <a:ea typeface="Georgia"/>
                <a:cs typeface="Georgia"/>
              </a:defRPr>
            </a:lvl2pPr>
            <a:lvl3pPr algn="l">
              <a:defRPr sz="3450" b="0" i="0">
                <a:solidFill>
                  <a:srgbClr val="CF1727"/>
                </a:solidFill>
                <a:latin typeface="Georgia"/>
                <a:ea typeface="Georgia"/>
                <a:cs typeface="Georgia"/>
              </a:defRPr>
            </a:lvl3pPr>
            <a:lvl4pPr algn="l">
              <a:defRPr sz="3450" b="0" i="0">
                <a:solidFill>
                  <a:srgbClr val="CF1727"/>
                </a:solidFill>
                <a:latin typeface="Georgia"/>
                <a:ea typeface="Georgia"/>
                <a:cs typeface="Georgia"/>
              </a:defRPr>
            </a:lvl4pPr>
            <a:lvl5pPr algn="l">
              <a:defRPr sz="3450" b="0" i="0">
                <a:solidFill>
                  <a:srgbClr val="CF1727"/>
                </a:solidFill>
                <a:latin typeface="Georgia"/>
                <a:ea typeface="Georgia"/>
                <a:cs typeface="Georgia"/>
              </a:defRPr>
            </a:lvl5pPr>
            <a:lvl6pPr algn="l">
              <a:defRPr sz="3450" b="0" i="0">
                <a:solidFill>
                  <a:srgbClr val="CF1727"/>
                </a:solidFill>
                <a:latin typeface="Georgia"/>
                <a:ea typeface="Georgia"/>
                <a:cs typeface="Georgia"/>
              </a:defRPr>
            </a:lvl6pPr>
            <a:lvl7pPr algn="l">
              <a:defRPr sz="3450" b="0" i="0">
                <a:solidFill>
                  <a:srgbClr val="CF1727"/>
                </a:solidFill>
                <a:latin typeface="Georgia"/>
                <a:ea typeface="Georgia"/>
                <a:cs typeface="Georgia"/>
              </a:defRPr>
            </a:lvl7pPr>
            <a:lvl8pPr algn="l">
              <a:defRPr sz="3450" b="0" i="0">
                <a:solidFill>
                  <a:srgbClr val="CF1727"/>
                </a:solidFill>
                <a:latin typeface="Georgia"/>
                <a:ea typeface="Georgia"/>
                <a:cs typeface="Georgia"/>
              </a:defRPr>
            </a:lvl8pPr>
            <a:lvl9pPr algn="l">
              <a:defRPr sz="3450" b="0" i="0">
                <a:solidFill>
                  <a:srgbClr val="CF1727"/>
                </a:solidFill>
                <a:latin typeface="Georgia"/>
                <a:ea typeface="Georgia"/>
                <a:cs typeface="Georgia"/>
              </a:defRPr>
            </a:lvl9pPr>
          </a:lstStyle>
          <a:p xmlns:a="http://schemas.openxmlformats.org/drawingml/2006/main">
            <a:pPr algn="l">
              <a:lnSpc>
                <a:spcPct val="102000"/>
              </a:lnSpc>
              <a:buNone/>
              <a:defRPr sz="3450" b="0" i="0">
                <a:solidFill>
                  <a:srgbClr val="CF1727"/>
                </a:solidFill>
                <a:latin typeface="Georgia"/>
                <a:ea typeface="Georgia"/>
                <a:cs typeface="Georgia"/>
              </a:defRPr>
            </a:pPr>
            <a:r>
              <a:rPr sz="3450" b="0" i="0">
                <a:solidFill>
                  <a:srgbClr val="CF1727"/>
                </a:solidFill>
                <a:latin typeface="Georgia"/>
                <a:ea typeface="Georgia"/>
                <a:cs typeface="Georgia"/>
              </a:rPr>
              <a:t>Cuenca</a:t>
            </a:r>
          </a:p>
        </p:txBody>
      </p:sp>
      <p:sp>
        <p:nvSpPr>
          <p:cNvPr id="6" name="">
            <a:extLst xmlns:a="http://schemas.openxmlformats.org/drawingml/2006/main">
              <a:ext uri="{FF2B5EF4-FFF2-40B4-BE49-F238E27FC236}">
                <a16:creationId xmlns:a16="http://schemas.microsoft.com/office/drawing/2014/main" id="{5953711D-0D6A-496A-8991-BED6803BDC4E}"/>
              </a:ext>
            </a:extLst>
          </p:cNvPr>
          <p:cNvSpPr>
            <a:spLocks xmlns:a="http://schemas.openxmlformats.org/drawingml/2006/main" noGrp="1"/>
          </p:cNvSpPr>
          <p:nvPr/>
        </p:nvSpPr>
        <p:spPr>
          <a:xfrm xmlns:a="http://schemas.openxmlformats.org/drawingml/2006/main">
            <a:off x="762000" y="3514725"/>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3DD530E-B10A-432C-8128-35A154E3CCC8}"/>
              </a:ext>
            </a:extLst>
          </p:cNvPr>
          <p:cNvSpPr>
            <a:spLocks xmlns:a="http://schemas.openxmlformats.org/drawingml/2006/main" noGrp="1"/>
          </p:cNvSpPr>
          <p:nvPr/>
        </p:nvSpPr>
        <p:spPr>
          <a:xfrm xmlns:a="http://schemas.openxmlformats.org/drawingml/2006/main">
            <a:off x="762000" y="3638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HEAD OFFICE</a:t>
            </a:r>
          </a:p>
        </p:txBody>
      </p:sp>
      <p:sp>
        <p:nvSpPr>
          <p:cNvPr id="8" name="">
            <a:extLst xmlns:a="http://schemas.openxmlformats.org/drawingml/2006/main">
              <a:ext uri="{FF2B5EF4-FFF2-40B4-BE49-F238E27FC236}">
                <a16:creationId xmlns:a16="http://schemas.microsoft.com/office/drawing/2014/main" id="{EBAB0474-1B40-4481-8CEF-A521679F7E0B}"/>
              </a:ext>
            </a:extLst>
          </p:cNvPr>
          <p:cNvSpPr>
            <a:spLocks xmlns:a="http://schemas.openxmlformats.org/drawingml/2006/main" noGrp="1"/>
          </p:cNvSpPr>
          <p:nvPr/>
        </p:nvSpPr>
        <p:spPr>
          <a:xfrm xmlns:a="http://schemas.openxmlformats.org/drawingml/2006/main">
            <a:off x="2476500" y="358140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Minglanilla</a:t>
            </a:r>
          </a:p>
        </p:txBody>
      </p:sp>
      <p:sp>
        <p:nvSpPr>
          <p:cNvPr id="9" name="">
            <a:extLst xmlns:a="http://schemas.openxmlformats.org/drawingml/2006/main">
              <a:ext uri="{FF2B5EF4-FFF2-40B4-BE49-F238E27FC236}">
                <a16:creationId xmlns:a16="http://schemas.microsoft.com/office/drawing/2014/main" id="{A02ED9A7-F76B-4560-839F-25B07F3F5C43}"/>
              </a:ext>
            </a:extLst>
          </p:cNvPr>
          <p:cNvSpPr>
            <a:spLocks xmlns:a="http://schemas.openxmlformats.org/drawingml/2006/main" noGrp="1"/>
          </p:cNvSpPr>
          <p:nvPr/>
        </p:nvSpPr>
        <p:spPr>
          <a:xfrm xmlns:a="http://schemas.openxmlformats.org/drawingml/2006/main">
            <a:off x="2476500" y="39624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Fuente de los Arrieros industrial estate. Fuel station and vehicle wash near the A-3 motorway.</a:t>
            </a:r>
          </a:p>
        </p:txBody>
      </p:sp>
      <p:sp>
        <p:nvSpPr>
          <p:cNvPr id="10" name="">
            <a:extLst xmlns:a="http://schemas.openxmlformats.org/drawingml/2006/main">
              <a:ext uri="{FF2B5EF4-FFF2-40B4-BE49-F238E27FC236}">
                <a16:creationId xmlns:a16="http://schemas.microsoft.com/office/drawing/2014/main" id="{CA1EB125-C5CF-45CE-81A3-539CC51CADA2}"/>
              </a:ext>
            </a:extLst>
          </p:cNvPr>
          <p:cNvSpPr>
            <a:spLocks xmlns:a="http://schemas.openxmlformats.org/drawingml/2006/main" noGrp="1"/>
          </p:cNvSpPr>
          <p:nvPr/>
        </p:nvSpPr>
        <p:spPr>
          <a:xfrm xmlns:a="http://schemas.openxmlformats.org/drawingml/2006/main">
            <a:off x="762000" y="47434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846377-AB64-4996-B33E-741D86574214}"/>
              </a:ext>
            </a:extLst>
          </p:cNvPr>
          <p:cNvSpPr>
            <a:spLocks xmlns:a="http://schemas.openxmlformats.org/drawingml/2006/main" noGrp="1"/>
          </p:cNvSpPr>
          <p:nvPr/>
        </p:nvSpPr>
        <p:spPr>
          <a:xfrm xmlns:a="http://schemas.openxmlformats.org/drawingml/2006/main">
            <a:off x="762000" y="48672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LOGISTICS BASE</a:t>
            </a:r>
          </a:p>
        </p:txBody>
      </p:sp>
      <p:sp>
        <p:nvSpPr>
          <p:cNvPr id="12" name="">
            <a:extLst xmlns:a="http://schemas.openxmlformats.org/drawingml/2006/main">
              <a:ext uri="{FF2B5EF4-FFF2-40B4-BE49-F238E27FC236}">
                <a16:creationId xmlns:a16="http://schemas.microsoft.com/office/drawing/2014/main" id="{CC3BD638-D26B-4492-A4A1-B95BA5FB0064}"/>
              </a:ext>
            </a:extLst>
          </p:cNvPr>
          <p:cNvSpPr>
            <a:spLocks xmlns:a="http://schemas.openxmlformats.org/drawingml/2006/main" noGrp="1"/>
          </p:cNvSpPr>
          <p:nvPr/>
        </p:nvSpPr>
        <p:spPr>
          <a:xfrm xmlns:a="http://schemas.openxmlformats.org/drawingml/2006/main">
            <a:off x="2476500" y="4810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Iniesta</a:t>
            </a:r>
          </a:p>
        </p:txBody>
      </p:sp>
      <p:sp>
        <p:nvSpPr>
          <p:cNvPr id="13" name="">
            <a:extLst xmlns:a="http://schemas.openxmlformats.org/drawingml/2006/main">
              <a:ext uri="{FF2B5EF4-FFF2-40B4-BE49-F238E27FC236}">
                <a16:creationId xmlns:a16="http://schemas.microsoft.com/office/drawing/2014/main" id="{A1D2B816-1FCB-4279-B93C-DE61CE338EA7}"/>
              </a:ext>
            </a:extLst>
          </p:cNvPr>
          <p:cNvSpPr>
            <a:spLocks xmlns:a="http://schemas.openxmlformats.org/drawingml/2006/main" noGrp="1"/>
          </p:cNvSpPr>
          <p:nvPr/>
        </p:nvSpPr>
        <p:spPr>
          <a:xfrm xmlns:a="http://schemas.openxmlformats.org/drawingml/2006/main">
            <a:off x="2476500" y="5191125"/>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Warehousing, maintenance and operations management.</a:t>
            </a:r>
          </a:p>
        </p:txBody>
      </p:sp>
      <p:sp>
        <p:nvSpPr>
          <p:cNvPr id="14" name="">
            <a:extLst xmlns:a="http://schemas.openxmlformats.org/drawingml/2006/main">
              <a:ext uri="{FF2B5EF4-FFF2-40B4-BE49-F238E27FC236}">
                <a16:creationId xmlns:a16="http://schemas.microsoft.com/office/drawing/2014/main" id="{ACBA7AF5-5D6C-4669-9618-886579929DEE}"/>
              </a:ext>
            </a:extLst>
          </p:cNvPr>
          <p:cNvSpPr>
            <a:spLocks xmlns:a="http://schemas.openxmlformats.org/drawingml/2006/main" noGrp="1"/>
          </p:cNvSpPr>
          <p:nvPr/>
        </p:nvSpPr>
        <p:spPr>
          <a:xfrm xmlns:a="http://schemas.openxmlformats.org/drawingml/2006/main">
            <a:off x="6238875" y="2562225"/>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AD522DB-019C-474B-8473-E98CD2D0BB7D}"/>
              </a:ext>
            </a:extLst>
          </p:cNvPr>
          <p:cNvSpPr>
            <a:spLocks xmlns:a="http://schemas.openxmlformats.org/drawingml/2006/main" noGrp="1"/>
          </p:cNvSpPr>
          <p:nvPr/>
        </p:nvSpPr>
        <p:spPr>
          <a:xfrm xmlns:a="http://schemas.openxmlformats.org/drawingml/2006/main">
            <a:off x="6238875" y="2733675"/>
            <a:ext cx="495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84"/>
          </a:bodyPr>
          <a:lstStyle xmlns:a="http://schemas.openxmlformats.org/drawingml/2006/main">
            <a:defPPr algn="l">
              <a:defRPr sz="3450" b="0" i="0">
                <a:solidFill>
                  <a:srgbClr val="CF1727"/>
                </a:solidFill>
                <a:latin typeface="Georgia"/>
                <a:ea typeface="Georgia"/>
                <a:cs typeface="Georgia"/>
              </a:defRPr>
            </a:defPPr>
            <a:lvl1pPr algn="l">
              <a:defRPr sz="3450" b="0" i="0">
                <a:solidFill>
                  <a:srgbClr val="CF1727"/>
                </a:solidFill>
                <a:latin typeface="Georgia"/>
                <a:ea typeface="Georgia"/>
                <a:cs typeface="Georgia"/>
              </a:defRPr>
            </a:lvl1pPr>
            <a:lvl2pPr algn="l">
              <a:defRPr sz="3450" b="0" i="0">
                <a:solidFill>
                  <a:srgbClr val="CF1727"/>
                </a:solidFill>
                <a:latin typeface="Georgia"/>
                <a:ea typeface="Georgia"/>
                <a:cs typeface="Georgia"/>
              </a:defRPr>
            </a:lvl2pPr>
            <a:lvl3pPr algn="l">
              <a:defRPr sz="3450" b="0" i="0">
                <a:solidFill>
                  <a:srgbClr val="CF1727"/>
                </a:solidFill>
                <a:latin typeface="Georgia"/>
                <a:ea typeface="Georgia"/>
                <a:cs typeface="Georgia"/>
              </a:defRPr>
            </a:lvl3pPr>
            <a:lvl4pPr algn="l">
              <a:defRPr sz="3450" b="0" i="0">
                <a:solidFill>
                  <a:srgbClr val="CF1727"/>
                </a:solidFill>
                <a:latin typeface="Georgia"/>
                <a:ea typeface="Georgia"/>
                <a:cs typeface="Georgia"/>
              </a:defRPr>
            </a:lvl4pPr>
            <a:lvl5pPr algn="l">
              <a:defRPr sz="3450" b="0" i="0">
                <a:solidFill>
                  <a:srgbClr val="CF1727"/>
                </a:solidFill>
                <a:latin typeface="Georgia"/>
                <a:ea typeface="Georgia"/>
                <a:cs typeface="Georgia"/>
              </a:defRPr>
            </a:lvl5pPr>
            <a:lvl6pPr algn="l">
              <a:defRPr sz="3450" b="0" i="0">
                <a:solidFill>
                  <a:srgbClr val="CF1727"/>
                </a:solidFill>
                <a:latin typeface="Georgia"/>
                <a:ea typeface="Georgia"/>
                <a:cs typeface="Georgia"/>
              </a:defRPr>
            </a:lvl6pPr>
            <a:lvl7pPr algn="l">
              <a:defRPr sz="3450" b="0" i="0">
                <a:solidFill>
                  <a:srgbClr val="CF1727"/>
                </a:solidFill>
                <a:latin typeface="Georgia"/>
                <a:ea typeface="Georgia"/>
                <a:cs typeface="Georgia"/>
              </a:defRPr>
            </a:lvl7pPr>
            <a:lvl8pPr algn="l">
              <a:defRPr sz="3450" b="0" i="0">
                <a:solidFill>
                  <a:srgbClr val="CF1727"/>
                </a:solidFill>
                <a:latin typeface="Georgia"/>
                <a:ea typeface="Georgia"/>
                <a:cs typeface="Georgia"/>
              </a:defRPr>
            </a:lvl8pPr>
            <a:lvl9pPr algn="l">
              <a:defRPr sz="3450" b="0" i="0">
                <a:solidFill>
                  <a:srgbClr val="CF1727"/>
                </a:solidFill>
                <a:latin typeface="Georgia"/>
                <a:ea typeface="Georgia"/>
                <a:cs typeface="Georgia"/>
              </a:defRPr>
            </a:lvl9pPr>
          </a:lstStyle>
          <a:p xmlns:a="http://schemas.openxmlformats.org/drawingml/2006/main">
            <a:pPr algn="l">
              <a:lnSpc>
                <a:spcPct val="102000"/>
              </a:lnSpc>
              <a:buNone/>
              <a:defRPr sz="3450" b="0" i="0">
                <a:solidFill>
                  <a:srgbClr val="CF1727"/>
                </a:solidFill>
                <a:latin typeface="Georgia"/>
                <a:ea typeface="Georgia"/>
                <a:cs typeface="Georgia"/>
              </a:defRPr>
            </a:pPr>
            <a:r>
              <a:rPr sz="3450" b="0" i="0">
                <a:solidFill>
                  <a:srgbClr val="CF1727"/>
                </a:solidFill>
                <a:latin typeface="Georgia"/>
                <a:ea typeface="Georgia"/>
                <a:cs typeface="Georgia"/>
              </a:rPr>
              <a:t>Valencia</a:t>
            </a:r>
          </a:p>
        </p:txBody>
      </p:sp>
      <p:sp>
        <p:nvSpPr>
          <p:cNvPr id="16" name="">
            <a:extLst xmlns:a="http://schemas.openxmlformats.org/drawingml/2006/main">
              <a:ext uri="{FF2B5EF4-FFF2-40B4-BE49-F238E27FC236}">
                <a16:creationId xmlns:a16="http://schemas.microsoft.com/office/drawing/2014/main" id="{0FB43037-E181-40A0-9445-7F8CCDC842F3}"/>
              </a:ext>
            </a:extLst>
          </p:cNvPr>
          <p:cNvSpPr>
            <a:spLocks xmlns:a="http://schemas.openxmlformats.org/drawingml/2006/main" noGrp="1"/>
          </p:cNvSpPr>
          <p:nvPr/>
        </p:nvSpPr>
        <p:spPr>
          <a:xfrm xmlns:a="http://schemas.openxmlformats.org/drawingml/2006/main">
            <a:off x="6238875" y="3514725"/>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93255E-8DB2-41AA-B460-A9ABB441EA32}"/>
              </a:ext>
            </a:extLst>
          </p:cNvPr>
          <p:cNvSpPr>
            <a:spLocks xmlns:a="http://schemas.openxmlformats.org/drawingml/2006/main" noGrp="1"/>
          </p:cNvSpPr>
          <p:nvPr/>
        </p:nvSpPr>
        <p:spPr>
          <a:xfrm xmlns:a="http://schemas.openxmlformats.org/drawingml/2006/main">
            <a:off x="6238875" y="36385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WAREHOUSE AND CONTAINERS</a:t>
            </a:r>
          </a:p>
        </p:txBody>
      </p:sp>
      <p:sp>
        <p:nvSpPr>
          <p:cNvPr id="18" name="">
            <a:extLst xmlns:a="http://schemas.openxmlformats.org/drawingml/2006/main">
              <a:ext uri="{FF2B5EF4-FFF2-40B4-BE49-F238E27FC236}">
                <a16:creationId xmlns:a16="http://schemas.microsoft.com/office/drawing/2014/main" id="{62F11BE1-5294-4B79-A88B-EC40B8BC67ED}"/>
              </a:ext>
            </a:extLst>
          </p:cNvPr>
          <p:cNvSpPr>
            <a:spLocks xmlns:a="http://schemas.openxmlformats.org/drawingml/2006/main" noGrp="1"/>
          </p:cNvSpPr>
          <p:nvPr/>
        </p:nvSpPr>
        <p:spPr>
          <a:xfrm xmlns:a="http://schemas.openxmlformats.org/drawingml/2006/main">
            <a:off x="7953375" y="3581400"/>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Picassent</a:t>
            </a:r>
          </a:p>
        </p:txBody>
      </p:sp>
      <p:sp>
        <p:nvSpPr>
          <p:cNvPr id="19" name="">
            <a:extLst xmlns:a="http://schemas.openxmlformats.org/drawingml/2006/main">
              <a:ext uri="{FF2B5EF4-FFF2-40B4-BE49-F238E27FC236}">
                <a16:creationId xmlns:a16="http://schemas.microsoft.com/office/drawing/2014/main" id="{F80E998C-F197-4334-9139-638862B0C996}"/>
              </a:ext>
            </a:extLst>
          </p:cNvPr>
          <p:cNvSpPr>
            <a:spLocks xmlns:a="http://schemas.openxmlformats.org/drawingml/2006/main" noGrp="1"/>
          </p:cNvSpPr>
          <p:nvPr/>
        </p:nvSpPr>
        <p:spPr>
          <a:xfrm xmlns:a="http://schemas.openxmlformats.org/drawingml/2006/main">
            <a:off x="7953375" y="3962400"/>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La Coma industrial estate, near the Port of Valencia.</a:t>
            </a:r>
          </a:p>
        </p:txBody>
      </p:sp>
      <p:sp>
        <p:nvSpPr>
          <p:cNvPr id="20" name="">
            <a:extLst xmlns:a="http://schemas.openxmlformats.org/drawingml/2006/main">
              <a:ext uri="{FF2B5EF4-FFF2-40B4-BE49-F238E27FC236}">
                <a16:creationId xmlns:a16="http://schemas.microsoft.com/office/drawing/2014/main" id="{C29B9EEA-F7A9-4588-9460-E2EE1C58A33E}"/>
              </a:ext>
            </a:extLst>
          </p:cNvPr>
          <p:cNvSpPr>
            <a:spLocks xmlns:a="http://schemas.openxmlformats.org/drawingml/2006/main" noGrp="1"/>
          </p:cNvSpPr>
          <p:nvPr/>
        </p:nvSpPr>
        <p:spPr>
          <a:xfrm xmlns:a="http://schemas.openxmlformats.org/drawingml/2006/main">
            <a:off x="6238875" y="47434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FCEAA00-9589-44C9-A32D-889045F87769}"/>
              </a:ext>
            </a:extLst>
          </p:cNvPr>
          <p:cNvSpPr>
            <a:spLocks xmlns:a="http://schemas.openxmlformats.org/drawingml/2006/main" noGrp="1"/>
          </p:cNvSpPr>
          <p:nvPr/>
        </p:nvSpPr>
        <p:spPr>
          <a:xfrm xmlns:a="http://schemas.openxmlformats.org/drawingml/2006/main">
            <a:off x="6238875" y="48672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CF1727"/>
                </a:solidFill>
                <a:latin typeface="Arial"/>
                <a:ea typeface="Arial"/>
                <a:cs typeface="Arial"/>
              </a:defRPr>
            </a:defPPr>
            <a:lvl1pPr algn="l">
              <a:defRPr sz="825" b="1" i="0">
                <a:solidFill>
                  <a:srgbClr val="CF1727"/>
                </a:solidFill>
                <a:latin typeface="Arial"/>
                <a:ea typeface="Arial"/>
                <a:cs typeface="Arial"/>
              </a:defRPr>
            </a:lvl1pPr>
            <a:lvl2pPr algn="l">
              <a:defRPr sz="825" b="1" i="0">
                <a:solidFill>
                  <a:srgbClr val="CF1727"/>
                </a:solidFill>
                <a:latin typeface="Arial"/>
                <a:ea typeface="Arial"/>
                <a:cs typeface="Arial"/>
              </a:defRPr>
            </a:lvl2pPr>
            <a:lvl3pPr algn="l">
              <a:defRPr sz="825" b="1" i="0">
                <a:solidFill>
                  <a:srgbClr val="CF1727"/>
                </a:solidFill>
                <a:latin typeface="Arial"/>
                <a:ea typeface="Arial"/>
                <a:cs typeface="Arial"/>
              </a:defRPr>
            </a:lvl3pPr>
            <a:lvl4pPr algn="l">
              <a:defRPr sz="825" b="1" i="0">
                <a:solidFill>
                  <a:srgbClr val="CF1727"/>
                </a:solidFill>
                <a:latin typeface="Arial"/>
                <a:ea typeface="Arial"/>
                <a:cs typeface="Arial"/>
              </a:defRPr>
            </a:lvl4pPr>
            <a:lvl5pPr algn="l">
              <a:defRPr sz="825" b="1" i="0">
                <a:solidFill>
                  <a:srgbClr val="CF1727"/>
                </a:solidFill>
                <a:latin typeface="Arial"/>
                <a:ea typeface="Arial"/>
                <a:cs typeface="Arial"/>
              </a:defRPr>
            </a:lvl5pPr>
            <a:lvl6pPr algn="l">
              <a:defRPr sz="825" b="1" i="0">
                <a:solidFill>
                  <a:srgbClr val="CF1727"/>
                </a:solidFill>
                <a:latin typeface="Arial"/>
                <a:ea typeface="Arial"/>
                <a:cs typeface="Arial"/>
              </a:defRPr>
            </a:lvl6pPr>
            <a:lvl7pPr algn="l">
              <a:defRPr sz="825" b="1" i="0">
                <a:solidFill>
                  <a:srgbClr val="CF1727"/>
                </a:solidFill>
                <a:latin typeface="Arial"/>
                <a:ea typeface="Arial"/>
                <a:cs typeface="Arial"/>
              </a:defRPr>
            </a:lvl7pPr>
            <a:lvl8pPr algn="l">
              <a:defRPr sz="825" b="1" i="0">
                <a:solidFill>
                  <a:srgbClr val="CF1727"/>
                </a:solidFill>
                <a:latin typeface="Arial"/>
                <a:ea typeface="Arial"/>
                <a:cs typeface="Arial"/>
              </a:defRPr>
            </a:lvl8pPr>
            <a:lvl9pPr algn="l">
              <a:defRPr sz="825" b="1" i="0">
                <a:solidFill>
                  <a:srgbClr val="CF1727"/>
                </a:solidFill>
                <a:latin typeface="Arial"/>
                <a:ea typeface="Arial"/>
                <a:cs typeface="Arial"/>
              </a:defRPr>
            </a:lvl9pPr>
          </a:lstStyle>
          <a:p xmlns:a="http://schemas.openxmlformats.org/drawingml/2006/main">
            <a:pPr algn="l">
              <a:lnSpc>
                <a:spcPct val="102000"/>
              </a:lnSpc>
              <a:buNone/>
              <a:defRPr sz="825" b="1" i="0">
                <a:solidFill>
                  <a:srgbClr val="CF1727"/>
                </a:solidFill>
                <a:latin typeface="Arial"/>
                <a:ea typeface="Arial"/>
                <a:cs typeface="Arial"/>
              </a:defRPr>
            </a:pPr>
            <a:r>
              <a:rPr sz="825" b="1" i="0">
                <a:solidFill>
                  <a:srgbClr val="CF1727"/>
                </a:solidFill>
                <a:latin typeface="Arial"/>
                <a:ea typeface="Arial"/>
                <a:cs typeface="Arial"/>
              </a:rPr>
              <a:t>OFFICES</a:t>
            </a:r>
          </a:p>
        </p:txBody>
      </p:sp>
      <p:sp>
        <p:nvSpPr>
          <p:cNvPr id="22" name="">
            <a:extLst xmlns:a="http://schemas.openxmlformats.org/drawingml/2006/main">
              <a:ext uri="{FF2B5EF4-FFF2-40B4-BE49-F238E27FC236}">
                <a16:creationId xmlns:a16="http://schemas.microsoft.com/office/drawing/2014/main" id="{CFCDD402-5A34-4CD9-B3DD-B21465550C31}"/>
              </a:ext>
            </a:extLst>
          </p:cNvPr>
          <p:cNvSpPr>
            <a:spLocks xmlns:a="http://schemas.openxmlformats.org/drawingml/2006/main" noGrp="1"/>
          </p:cNvSpPr>
          <p:nvPr/>
        </p:nvSpPr>
        <p:spPr>
          <a:xfrm xmlns:a="http://schemas.openxmlformats.org/drawingml/2006/main">
            <a:off x="7953375" y="4810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i="0">
                <a:solidFill>
                  <a:srgbClr val="211D1A"/>
                </a:solidFill>
                <a:latin typeface="Arial"/>
                <a:ea typeface="Arial"/>
                <a:cs typeface="Arial"/>
              </a:defRPr>
            </a:defPPr>
            <a:lvl1pPr algn="l">
              <a:defRPr sz="1875" b="1" i="0">
                <a:solidFill>
                  <a:srgbClr val="211D1A"/>
                </a:solidFill>
                <a:latin typeface="Arial"/>
                <a:ea typeface="Arial"/>
                <a:cs typeface="Arial"/>
              </a:defRPr>
            </a:lvl1pPr>
            <a:lvl2pPr algn="l">
              <a:defRPr sz="1875" b="1" i="0">
                <a:solidFill>
                  <a:srgbClr val="211D1A"/>
                </a:solidFill>
                <a:latin typeface="Arial"/>
                <a:ea typeface="Arial"/>
                <a:cs typeface="Arial"/>
              </a:defRPr>
            </a:lvl2pPr>
            <a:lvl3pPr algn="l">
              <a:defRPr sz="1875" b="1" i="0">
                <a:solidFill>
                  <a:srgbClr val="211D1A"/>
                </a:solidFill>
                <a:latin typeface="Arial"/>
                <a:ea typeface="Arial"/>
                <a:cs typeface="Arial"/>
              </a:defRPr>
            </a:lvl3pPr>
            <a:lvl4pPr algn="l">
              <a:defRPr sz="1875" b="1" i="0">
                <a:solidFill>
                  <a:srgbClr val="211D1A"/>
                </a:solidFill>
                <a:latin typeface="Arial"/>
                <a:ea typeface="Arial"/>
                <a:cs typeface="Arial"/>
              </a:defRPr>
            </a:lvl4pPr>
            <a:lvl5pPr algn="l">
              <a:defRPr sz="1875" b="1" i="0">
                <a:solidFill>
                  <a:srgbClr val="211D1A"/>
                </a:solidFill>
                <a:latin typeface="Arial"/>
                <a:ea typeface="Arial"/>
                <a:cs typeface="Arial"/>
              </a:defRPr>
            </a:lvl5pPr>
            <a:lvl6pPr algn="l">
              <a:defRPr sz="1875" b="1" i="0">
                <a:solidFill>
                  <a:srgbClr val="211D1A"/>
                </a:solidFill>
                <a:latin typeface="Arial"/>
                <a:ea typeface="Arial"/>
                <a:cs typeface="Arial"/>
              </a:defRPr>
            </a:lvl6pPr>
            <a:lvl7pPr algn="l">
              <a:defRPr sz="1875" b="1" i="0">
                <a:solidFill>
                  <a:srgbClr val="211D1A"/>
                </a:solidFill>
                <a:latin typeface="Arial"/>
                <a:ea typeface="Arial"/>
                <a:cs typeface="Arial"/>
              </a:defRPr>
            </a:lvl7pPr>
            <a:lvl8pPr algn="l">
              <a:defRPr sz="1875" b="1" i="0">
                <a:solidFill>
                  <a:srgbClr val="211D1A"/>
                </a:solidFill>
                <a:latin typeface="Arial"/>
                <a:ea typeface="Arial"/>
                <a:cs typeface="Arial"/>
              </a:defRPr>
            </a:lvl8pPr>
            <a:lvl9pPr algn="l">
              <a:defRPr sz="1875" b="1" i="0">
                <a:solidFill>
                  <a:srgbClr val="211D1A"/>
                </a:solidFill>
                <a:latin typeface="Arial"/>
                <a:ea typeface="Arial"/>
                <a:cs typeface="Arial"/>
              </a:defRPr>
            </a:lvl9pPr>
          </a:lstStyle>
          <a:p xmlns:a="http://schemas.openxmlformats.org/drawingml/2006/main">
            <a:pPr algn="l">
              <a:lnSpc>
                <a:spcPct val="102000"/>
              </a:lnSpc>
              <a:buNone/>
              <a:defRPr sz="1875" b="1" i="0">
                <a:solidFill>
                  <a:srgbClr val="211D1A"/>
                </a:solidFill>
                <a:latin typeface="Arial"/>
                <a:ea typeface="Arial"/>
                <a:cs typeface="Arial"/>
              </a:defRPr>
            </a:pPr>
            <a:r>
              <a:rPr sz="1875" b="1" i="0">
                <a:solidFill>
                  <a:srgbClr val="211D1A"/>
                </a:solidFill>
                <a:latin typeface="Arial"/>
                <a:ea typeface="Arial"/>
                <a:cs typeface="Arial"/>
              </a:rPr>
              <a:t>Beniparrell</a:t>
            </a:r>
          </a:p>
        </p:txBody>
      </p:sp>
      <p:sp>
        <p:nvSpPr>
          <p:cNvPr id="23" name="">
            <a:extLst xmlns:a="http://schemas.openxmlformats.org/drawingml/2006/main">
              <a:ext uri="{FF2B5EF4-FFF2-40B4-BE49-F238E27FC236}">
                <a16:creationId xmlns:a16="http://schemas.microsoft.com/office/drawing/2014/main" id="{8D22B1B9-2D1F-4DD2-A746-96EDEBDC23E3}"/>
              </a:ext>
            </a:extLst>
          </p:cNvPr>
          <p:cNvSpPr>
            <a:spLocks xmlns:a="http://schemas.openxmlformats.org/drawingml/2006/main" noGrp="1"/>
          </p:cNvSpPr>
          <p:nvPr/>
        </p:nvSpPr>
        <p:spPr>
          <a:xfrm xmlns:a="http://schemas.openxmlformats.org/drawingml/2006/main">
            <a:off x="7953375" y="5191125"/>
            <a:ext cx="3238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6C625E"/>
                </a:solidFill>
                <a:latin typeface="Arial"/>
                <a:ea typeface="Arial"/>
                <a:cs typeface="Arial"/>
              </a:defRPr>
            </a:defPPr>
            <a:lvl1pPr algn="l">
              <a:defRPr sz="1125" b="0" i="0">
                <a:solidFill>
                  <a:srgbClr val="6C625E"/>
                </a:solidFill>
                <a:latin typeface="Arial"/>
                <a:ea typeface="Arial"/>
                <a:cs typeface="Arial"/>
              </a:defRPr>
            </a:lvl1pPr>
            <a:lvl2pPr algn="l">
              <a:defRPr sz="1125" b="0" i="0">
                <a:solidFill>
                  <a:srgbClr val="6C625E"/>
                </a:solidFill>
                <a:latin typeface="Arial"/>
                <a:ea typeface="Arial"/>
                <a:cs typeface="Arial"/>
              </a:defRPr>
            </a:lvl2pPr>
            <a:lvl3pPr algn="l">
              <a:defRPr sz="1125" b="0" i="0">
                <a:solidFill>
                  <a:srgbClr val="6C625E"/>
                </a:solidFill>
                <a:latin typeface="Arial"/>
                <a:ea typeface="Arial"/>
                <a:cs typeface="Arial"/>
              </a:defRPr>
            </a:lvl3pPr>
            <a:lvl4pPr algn="l">
              <a:defRPr sz="1125" b="0" i="0">
                <a:solidFill>
                  <a:srgbClr val="6C625E"/>
                </a:solidFill>
                <a:latin typeface="Arial"/>
                <a:ea typeface="Arial"/>
                <a:cs typeface="Arial"/>
              </a:defRPr>
            </a:lvl4pPr>
            <a:lvl5pPr algn="l">
              <a:defRPr sz="1125" b="0" i="0">
                <a:solidFill>
                  <a:srgbClr val="6C625E"/>
                </a:solidFill>
                <a:latin typeface="Arial"/>
                <a:ea typeface="Arial"/>
                <a:cs typeface="Arial"/>
              </a:defRPr>
            </a:lvl5pPr>
            <a:lvl6pPr algn="l">
              <a:defRPr sz="1125" b="0" i="0">
                <a:solidFill>
                  <a:srgbClr val="6C625E"/>
                </a:solidFill>
                <a:latin typeface="Arial"/>
                <a:ea typeface="Arial"/>
                <a:cs typeface="Arial"/>
              </a:defRPr>
            </a:lvl6pPr>
            <a:lvl7pPr algn="l">
              <a:defRPr sz="1125" b="0" i="0">
                <a:solidFill>
                  <a:srgbClr val="6C625E"/>
                </a:solidFill>
                <a:latin typeface="Arial"/>
                <a:ea typeface="Arial"/>
                <a:cs typeface="Arial"/>
              </a:defRPr>
            </a:lvl7pPr>
            <a:lvl8pPr algn="l">
              <a:defRPr sz="1125" b="0" i="0">
                <a:solidFill>
                  <a:srgbClr val="6C625E"/>
                </a:solidFill>
                <a:latin typeface="Arial"/>
                <a:ea typeface="Arial"/>
                <a:cs typeface="Arial"/>
              </a:defRPr>
            </a:lvl8pPr>
            <a:lvl9pPr algn="l">
              <a:defRPr sz="1125" b="0" i="0">
                <a:solidFill>
                  <a:srgbClr val="6C625E"/>
                </a:solidFill>
                <a:latin typeface="Arial"/>
                <a:ea typeface="Arial"/>
                <a:cs typeface="Arial"/>
              </a:defRPr>
            </a:lvl9pPr>
          </a:lstStyle>
          <a:p xmlns:a="http://schemas.openxmlformats.org/drawingml/2006/main">
            <a:pPr algn="l">
              <a:lnSpc>
                <a:spcPct val="102000"/>
              </a:lnSpc>
              <a:buNone/>
              <a:defRPr sz="1125" b="0" i="0">
                <a:solidFill>
                  <a:srgbClr val="6C625E"/>
                </a:solidFill>
                <a:latin typeface="Arial"/>
                <a:ea typeface="Arial"/>
                <a:cs typeface="Arial"/>
              </a:defRPr>
            </a:pPr>
            <a:r>
              <a:rPr sz="1125" b="0" i="0">
                <a:solidFill>
                  <a:srgbClr val="6C625E"/>
                </a:solidFill>
                <a:latin typeface="Arial"/>
                <a:ea typeface="Arial"/>
                <a:cs typeface="Arial"/>
              </a:rPr>
              <a:t>Av. Camino del Polio, 18.</a:t>
            </a:r>
          </a:p>
        </p:txBody>
      </p:sp>
      <p:sp>
        <p:nvSpPr>
          <p:cNvPr id="24" name="">
            <a:extLst xmlns:a="http://schemas.openxmlformats.org/drawingml/2006/main">
              <a:ext uri="{FF2B5EF4-FFF2-40B4-BE49-F238E27FC236}">
                <a16:creationId xmlns:a16="http://schemas.microsoft.com/office/drawing/2014/main" id="{43FA3090-FDF3-478C-870E-B823B0C59E4E}"/>
              </a:ext>
            </a:extLst>
          </p:cNvPr>
          <p:cNvSpPr>
            <a:spLocks xmlns:a="http://schemas.openxmlformats.org/drawingml/2006/main" noGrp="1"/>
          </p:cNvSpPr>
          <p:nvPr/>
        </p:nvSpPr>
        <p:spPr>
          <a:xfrm xmlns:a="http://schemas.openxmlformats.org/drawingml/2006/main">
            <a:off x="762000" y="6105525"/>
            <a:ext cx="1000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6C625E"/>
                </a:solidFill>
                <a:latin typeface="Arial"/>
                <a:ea typeface="Arial"/>
                <a:cs typeface="Arial"/>
              </a:defRPr>
            </a:defPPr>
            <a:lvl1pPr algn="l">
              <a:defRPr sz="1050" b="0" i="0">
                <a:solidFill>
                  <a:srgbClr val="6C625E"/>
                </a:solidFill>
                <a:latin typeface="Arial"/>
                <a:ea typeface="Arial"/>
                <a:cs typeface="Arial"/>
              </a:defRPr>
            </a:lvl1pPr>
            <a:lvl2pPr algn="l">
              <a:defRPr sz="1050" b="0" i="0">
                <a:solidFill>
                  <a:srgbClr val="6C625E"/>
                </a:solidFill>
                <a:latin typeface="Arial"/>
                <a:ea typeface="Arial"/>
                <a:cs typeface="Arial"/>
              </a:defRPr>
            </a:lvl2pPr>
            <a:lvl3pPr algn="l">
              <a:defRPr sz="1050" b="0" i="0">
                <a:solidFill>
                  <a:srgbClr val="6C625E"/>
                </a:solidFill>
                <a:latin typeface="Arial"/>
                <a:ea typeface="Arial"/>
                <a:cs typeface="Arial"/>
              </a:defRPr>
            </a:lvl3pPr>
            <a:lvl4pPr algn="l">
              <a:defRPr sz="1050" b="0" i="0">
                <a:solidFill>
                  <a:srgbClr val="6C625E"/>
                </a:solidFill>
                <a:latin typeface="Arial"/>
                <a:ea typeface="Arial"/>
                <a:cs typeface="Arial"/>
              </a:defRPr>
            </a:lvl4pPr>
            <a:lvl5pPr algn="l">
              <a:defRPr sz="1050" b="0" i="0">
                <a:solidFill>
                  <a:srgbClr val="6C625E"/>
                </a:solidFill>
                <a:latin typeface="Arial"/>
                <a:ea typeface="Arial"/>
                <a:cs typeface="Arial"/>
              </a:defRPr>
            </a:lvl5pPr>
            <a:lvl6pPr algn="l">
              <a:defRPr sz="1050" b="0" i="0">
                <a:solidFill>
                  <a:srgbClr val="6C625E"/>
                </a:solidFill>
                <a:latin typeface="Arial"/>
                <a:ea typeface="Arial"/>
                <a:cs typeface="Arial"/>
              </a:defRPr>
            </a:lvl6pPr>
            <a:lvl7pPr algn="l">
              <a:defRPr sz="1050" b="0" i="0">
                <a:solidFill>
                  <a:srgbClr val="6C625E"/>
                </a:solidFill>
                <a:latin typeface="Arial"/>
                <a:ea typeface="Arial"/>
                <a:cs typeface="Arial"/>
              </a:defRPr>
            </a:lvl7pPr>
            <a:lvl8pPr algn="l">
              <a:defRPr sz="1050" b="0" i="0">
                <a:solidFill>
                  <a:srgbClr val="6C625E"/>
                </a:solidFill>
                <a:latin typeface="Arial"/>
                <a:ea typeface="Arial"/>
                <a:cs typeface="Arial"/>
              </a:defRPr>
            </a:lvl8pPr>
            <a:lvl9pPr algn="l">
              <a:defRPr sz="1050" b="0" i="0">
                <a:solidFill>
                  <a:srgbClr val="6C625E"/>
                </a:solidFill>
                <a:latin typeface="Arial"/>
                <a:ea typeface="Arial"/>
                <a:cs typeface="Arial"/>
              </a:defRPr>
            </a:lvl9pPr>
          </a:lstStyle>
          <a:p xmlns:a="http://schemas.openxmlformats.org/drawingml/2006/main">
            <a:pPr algn="l">
              <a:lnSpc>
                <a:spcPct val="102000"/>
              </a:lnSpc>
              <a:buNone/>
              <a:defRPr sz="1050" b="0" i="0">
                <a:solidFill>
                  <a:srgbClr val="6C625E"/>
                </a:solidFill>
                <a:latin typeface="Arial"/>
                <a:ea typeface="Arial"/>
                <a:cs typeface="Arial"/>
              </a:defRPr>
            </a:pPr>
            <a:r>
              <a:rPr sz="1050" b="0" i="0">
                <a:solidFill>
                  <a:srgbClr val="6C625E"/>
                </a:solidFill>
                <a:latin typeface="Arial"/>
                <a:ea typeface="Arial"/>
                <a:cs typeface="Arial"/>
              </a:rPr>
              <a:t>Three logistics bases and one office location</a:t>
            </a:r>
          </a:p>
        </p:txBody>
      </p:sp>
      <p:sp>
        <p:nvSpPr>
          <p:cNvPr id="25" name="">
            <a:extLst xmlns:a="http://schemas.openxmlformats.org/drawingml/2006/main">
              <a:ext uri="{FF2B5EF4-FFF2-40B4-BE49-F238E27FC236}">
                <a16:creationId xmlns:a16="http://schemas.microsoft.com/office/drawing/2014/main" id="{AE965965-AB65-450B-8F68-EC55E34364D9}"/>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8948E97-A4E1-41E3-83A3-709212D7AC51}"/>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04 / OUR LOCATIONS</a:t>
            </a:r>
          </a:p>
        </p:txBody>
      </p:sp>
      <p:sp>
        <p:nvSpPr>
          <p:cNvPr id="27" name="">
            <a:extLst xmlns:a="http://schemas.openxmlformats.org/drawingml/2006/main">
              <a:ext uri="{FF2B5EF4-FFF2-40B4-BE49-F238E27FC236}">
                <a16:creationId xmlns:a16="http://schemas.microsoft.com/office/drawing/2014/main" id="{71DAAEEB-1955-424E-B77F-5DADA8E23883}"/>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12 / 16</a:t>
            </a:r>
          </a:p>
        </p:txBody>
      </p:sp>
    </p:spTree>
    <p:extLst>
      <p:ext uri="{BB962C8B-B14F-4D97-AF65-F5344CB8AC3E}">
        <p14:creationId xmlns:p14="http://schemas.microsoft.com/office/powerpoint/2010/main" val="1213090562"/>
      </p:ext>
    </p:extLst>
  </p:cSld>
</p:sld>
</file>

<file path=ppt/slides/slide13.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5B13270-759C-4566-8A93-ABA54504E4F9}"/>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A02325-FC75-48FF-AEAE-8EB7872A5DB8}"/>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05 / PARTNERSHIPS</a:t>
            </a:r>
          </a:p>
        </p:txBody>
      </p:sp>
      <p:sp>
        <p:nvSpPr>
          <p:cNvPr id="3" name="">
            <a:extLst xmlns:a="http://schemas.openxmlformats.org/drawingml/2006/main">
              <a:ext uri="{FF2B5EF4-FFF2-40B4-BE49-F238E27FC236}">
                <a16:creationId xmlns:a16="http://schemas.microsoft.com/office/drawing/2014/main" id="{1E140B4D-8F55-4A8C-AA63-92A8E8B378E8}"/>
              </a:ext>
            </a:extLst>
          </p:cNvPr>
          <p:cNvSpPr>
            <a:spLocks xmlns:a="http://schemas.openxmlformats.org/drawingml/2006/main" noGrp="1"/>
          </p:cNvSpPr>
          <p:nvPr/>
        </p:nvSpPr>
        <p:spPr>
          <a:xfrm xmlns:a="http://schemas.openxmlformats.org/drawingml/2006/main">
            <a:off x="762000" y="1028700"/>
            <a:ext cx="10668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51"/>
          </a:bodyPr>
          <a:lstStyle xmlns:a="http://schemas.openxmlformats.org/drawingml/2006/main">
            <a:defPPr algn="l">
              <a:defRPr sz="5025" b="0" i="0">
                <a:solidFill>
                  <a:srgbClr val="FFFFFF"/>
                </a:solidFill>
                <a:latin typeface="Georgia"/>
                <a:ea typeface="Georgia"/>
                <a:cs typeface="Georgia"/>
              </a:defRPr>
            </a:defPPr>
            <a:lvl1pPr algn="l">
              <a:defRPr sz="5025" b="0" i="0">
                <a:solidFill>
                  <a:srgbClr val="FFFFFF"/>
                </a:solidFill>
                <a:latin typeface="Georgia"/>
                <a:ea typeface="Georgia"/>
                <a:cs typeface="Georgia"/>
              </a:defRPr>
            </a:lvl1pPr>
            <a:lvl2pPr algn="l">
              <a:defRPr sz="5025" b="0" i="0">
                <a:solidFill>
                  <a:srgbClr val="FFFFFF"/>
                </a:solidFill>
                <a:latin typeface="Georgia"/>
                <a:ea typeface="Georgia"/>
                <a:cs typeface="Georgia"/>
              </a:defRPr>
            </a:lvl2pPr>
            <a:lvl3pPr algn="l">
              <a:defRPr sz="5025" b="0" i="0">
                <a:solidFill>
                  <a:srgbClr val="FFFFFF"/>
                </a:solidFill>
                <a:latin typeface="Georgia"/>
                <a:ea typeface="Georgia"/>
                <a:cs typeface="Georgia"/>
              </a:defRPr>
            </a:lvl3pPr>
            <a:lvl4pPr algn="l">
              <a:defRPr sz="5025" b="0" i="0">
                <a:solidFill>
                  <a:srgbClr val="FFFFFF"/>
                </a:solidFill>
                <a:latin typeface="Georgia"/>
                <a:ea typeface="Georgia"/>
                <a:cs typeface="Georgia"/>
              </a:defRPr>
            </a:lvl4pPr>
            <a:lvl5pPr algn="l">
              <a:defRPr sz="5025" b="0" i="0">
                <a:solidFill>
                  <a:srgbClr val="FFFFFF"/>
                </a:solidFill>
                <a:latin typeface="Georgia"/>
                <a:ea typeface="Georgia"/>
                <a:cs typeface="Georgia"/>
              </a:defRPr>
            </a:lvl5pPr>
            <a:lvl6pPr algn="l">
              <a:defRPr sz="5025" b="0" i="0">
                <a:solidFill>
                  <a:srgbClr val="FFFFFF"/>
                </a:solidFill>
                <a:latin typeface="Georgia"/>
                <a:ea typeface="Georgia"/>
                <a:cs typeface="Georgia"/>
              </a:defRPr>
            </a:lvl6pPr>
            <a:lvl7pPr algn="l">
              <a:defRPr sz="5025" b="0" i="0">
                <a:solidFill>
                  <a:srgbClr val="FFFFFF"/>
                </a:solidFill>
                <a:latin typeface="Georgia"/>
                <a:ea typeface="Georgia"/>
                <a:cs typeface="Georgia"/>
              </a:defRPr>
            </a:lvl7pPr>
            <a:lvl8pPr algn="l">
              <a:defRPr sz="5025" b="0" i="0">
                <a:solidFill>
                  <a:srgbClr val="FFFFFF"/>
                </a:solidFill>
                <a:latin typeface="Georgia"/>
                <a:ea typeface="Georgia"/>
                <a:cs typeface="Georgia"/>
              </a:defRPr>
            </a:lvl8pPr>
            <a:lvl9pPr algn="l">
              <a:defRPr sz="5025" b="0" i="0">
                <a:solidFill>
                  <a:srgbClr val="FFFFFF"/>
                </a:solidFill>
                <a:latin typeface="Georgia"/>
                <a:ea typeface="Georgia"/>
                <a:cs typeface="Georgia"/>
              </a:defRPr>
            </a:lvl9pPr>
          </a:lstStyle>
          <a:p xmlns:a="http://schemas.openxmlformats.org/drawingml/2006/main">
            <a:pPr algn="l">
              <a:lnSpc>
                <a:spcPct val="98000"/>
              </a:lnSpc>
              <a:buNone/>
              <a:defRPr sz="5025" b="0" i="0">
                <a:solidFill>
                  <a:srgbClr val="FFFFFF"/>
                </a:solidFill>
                <a:latin typeface="Georgia"/>
                <a:ea typeface="Georgia"/>
                <a:cs typeface="Georgia"/>
              </a:defRPr>
            </a:pPr>
            <a:r>
              <a:rPr sz="5025" b="0" i="0">
                <a:solidFill>
                  <a:srgbClr val="FFFFFF"/>
                </a:solidFill>
                <a:latin typeface="Georgia"/>
                <a:ea typeface="Georgia"/>
                <a:cs typeface="Georgia"/>
              </a:rPr>
              <a:t>Partners for growth in Italy and Europe</a:t>
            </a:r>
          </a:p>
        </p:txBody>
      </p:sp>
      <p:sp>
        <p:nvSpPr>
          <p:cNvPr id="4" name="">
            <a:extLst xmlns:a="http://schemas.openxmlformats.org/drawingml/2006/main">
              <a:ext uri="{FF2B5EF4-FFF2-40B4-BE49-F238E27FC236}">
                <a16:creationId xmlns:a16="http://schemas.microsoft.com/office/drawing/2014/main" id="{9A622992-D4A6-4D0A-A07A-3AB96B45B72B}"/>
              </a:ext>
            </a:extLst>
          </p:cNvPr>
          <p:cNvSpPr>
            <a:spLocks xmlns:a="http://schemas.openxmlformats.org/drawingml/2006/main" noGrp="1"/>
          </p:cNvSpPr>
          <p:nvPr/>
        </p:nvSpPr>
        <p:spPr>
          <a:xfrm xmlns:a="http://schemas.openxmlformats.org/drawingml/2006/main">
            <a:off x="762000" y="2305050"/>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i="0">
                <a:solidFill>
                  <a:srgbClr val="F1E7E5"/>
                </a:solidFill>
                <a:latin typeface="Arial"/>
                <a:ea typeface="Arial"/>
                <a:cs typeface="Arial"/>
              </a:defRPr>
            </a:defPPr>
            <a:lvl1pPr algn="l">
              <a:defRPr sz="1725" b="0" i="0">
                <a:solidFill>
                  <a:srgbClr val="F1E7E5"/>
                </a:solidFill>
                <a:latin typeface="Arial"/>
                <a:ea typeface="Arial"/>
                <a:cs typeface="Arial"/>
              </a:defRPr>
            </a:lvl1pPr>
            <a:lvl2pPr algn="l">
              <a:defRPr sz="1725" b="0" i="0">
                <a:solidFill>
                  <a:srgbClr val="F1E7E5"/>
                </a:solidFill>
                <a:latin typeface="Arial"/>
                <a:ea typeface="Arial"/>
                <a:cs typeface="Arial"/>
              </a:defRPr>
            </a:lvl2pPr>
            <a:lvl3pPr algn="l">
              <a:defRPr sz="1725" b="0" i="0">
                <a:solidFill>
                  <a:srgbClr val="F1E7E5"/>
                </a:solidFill>
                <a:latin typeface="Arial"/>
                <a:ea typeface="Arial"/>
                <a:cs typeface="Arial"/>
              </a:defRPr>
            </a:lvl3pPr>
            <a:lvl4pPr algn="l">
              <a:defRPr sz="1725" b="0" i="0">
                <a:solidFill>
                  <a:srgbClr val="F1E7E5"/>
                </a:solidFill>
                <a:latin typeface="Arial"/>
                <a:ea typeface="Arial"/>
                <a:cs typeface="Arial"/>
              </a:defRPr>
            </a:lvl4pPr>
            <a:lvl5pPr algn="l">
              <a:defRPr sz="1725" b="0" i="0">
                <a:solidFill>
                  <a:srgbClr val="F1E7E5"/>
                </a:solidFill>
                <a:latin typeface="Arial"/>
                <a:ea typeface="Arial"/>
                <a:cs typeface="Arial"/>
              </a:defRPr>
            </a:lvl5pPr>
            <a:lvl6pPr algn="l">
              <a:defRPr sz="1725" b="0" i="0">
                <a:solidFill>
                  <a:srgbClr val="F1E7E5"/>
                </a:solidFill>
                <a:latin typeface="Arial"/>
                <a:ea typeface="Arial"/>
                <a:cs typeface="Arial"/>
              </a:defRPr>
            </a:lvl6pPr>
            <a:lvl7pPr algn="l">
              <a:defRPr sz="1725" b="0" i="0">
                <a:solidFill>
                  <a:srgbClr val="F1E7E5"/>
                </a:solidFill>
                <a:latin typeface="Arial"/>
                <a:ea typeface="Arial"/>
                <a:cs typeface="Arial"/>
              </a:defRPr>
            </a:lvl7pPr>
            <a:lvl8pPr algn="l">
              <a:defRPr sz="1725" b="0" i="0">
                <a:solidFill>
                  <a:srgbClr val="F1E7E5"/>
                </a:solidFill>
                <a:latin typeface="Arial"/>
                <a:ea typeface="Arial"/>
                <a:cs typeface="Arial"/>
              </a:defRPr>
            </a:lvl8pPr>
            <a:lvl9pPr algn="l">
              <a:defRPr sz="1725" b="0" i="0">
                <a:solidFill>
                  <a:srgbClr val="F1E7E5"/>
                </a:solidFill>
                <a:latin typeface="Arial"/>
                <a:ea typeface="Arial"/>
                <a:cs typeface="Arial"/>
              </a:defRPr>
            </a:lvl9pPr>
          </a:lstStyle>
          <a:p xmlns:a="http://schemas.openxmlformats.org/drawingml/2006/main">
            <a:pPr algn="l">
              <a:lnSpc>
                <a:spcPct val="102000"/>
              </a:lnSpc>
              <a:buNone/>
              <a:defRPr sz="1725" b="0" i="0">
                <a:solidFill>
                  <a:srgbClr val="F1E7E5"/>
                </a:solidFill>
                <a:latin typeface="Arial"/>
                <a:ea typeface="Arial"/>
                <a:cs typeface="Arial"/>
              </a:defRPr>
            </a:pPr>
            <a:r>
              <a:rPr sz="1725" b="0" i="0">
                <a:solidFill>
                  <a:srgbClr val="F1E7E5"/>
                </a:solidFill>
                <a:latin typeface="Arial"/>
                <a:ea typeface="Arial"/>
                <a:cs typeface="Arial"/>
              </a:rPr>
              <a:t>We operate in Spain, Portugal, France and Germany. We have already carried out transport services in Italy at customers’ request, but have no established presence there yet.</a:t>
            </a:r>
          </a:p>
        </p:txBody>
      </p:sp>
      <p:sp>
        <p:nvSpPr>
          <p:cNvPr id="5" name="">
            <a:extLst xmlns:a="http://schemas.openxmlformats.org/drawingml/2006/main">
              <a:ext uri="{FF2B5EF4-FFF2-40B4-BE49-F238E27FC236}">
                <a16:creationId xmlns:a16="http://schemas.microsoft.com/office/drawing/2014/main" id="{4ACF1804-FEAA-4130-8A44-29394D15A5C3}"/>
              </a:ext>
            </a:extLst>
          </p:cNvPr>
          <p:cNvSpPr>
            <a:spLocks xmlns:a="http://schemas.openxmlformats.org/drawingml/2006/main" noGrp="1"/>
          </p:cNvSpPr>
          <p:nvPr/>
        </p:nvSpPr>
        <p:spPr>
          <a:xfrm xmlns:a="http://schemas.openxmlformats.org/drawingml/2006/main">
            <a:off x="1219200" y="4352925"/>
            <a:ext cx="7572375" cy="19050"/>
          </a:xfrm>
          <a:prstGeom xmlns:a="http://schemas.openxmlformats.org/drawingml/2006/main" prst="rect">
            <a:avLst/>
          </a:prstGeom>
          <a:solidFill xmlns:a="http://schemas.openxmlformats.org/drawingml/2006/main">
            <a:srgbClr val="E7DED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BBBD6A-64F8-427E-8574-E86D259EA960}"/>
              </a:ext>
            </a:extLst>
          </p:cNvPr>
          <p:cNvSpPr>
            <a:spLocks xmlns:a="http://schemas.openxmlformats.org/drawingml/2006/main" noGrp="1"/>
          </p:cNvSpPr>
          <p:nvPr/>
        </p:nvSpPr>
        <p:spPr>
          <a:xfrm xmlns:a="http://schemas.openxmlformats.org/drawingml/2006/main">
            <a:off x="1238250"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067444-AE81-4674-A360-CD44A84F4C15}"/>
              </a:ext>
            </a:extLst>
          </p:cNvPr>
          <p:cNvSpPr>
            <a:spLocks xmlns:a="http://schemas.openxmlformats.org/drawingml/2006/main" noGrp="1"/>
          </p:cNvSpPr>
          <p:nvPr/>
        </p:nvSpPr>
        <p:spPr>
          <a:xfrm xmlns:a="http://schemas.openxmlformats.org/drawingml/2006/main">
            <a:off x="1143000"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Portugal</a:t>
            </a:r>
          </a:p>
        </p:txBody>
      </p:sp>
      <p:sp>
        <p:nvSpPr>
          <p:cNvPr id="8" name="">
            <a:extLst xmlns:a="http://schemas.openxmlformats.org/drawingml/2006/main">
              <a:ext uri="{FF2B5EF4-FFF2-40B4-BE49-F238E27FC236}">
                <a16:creationId xmlns:a16="http://schemas.microsoft.com/office/drawing/2014/main" id="{B812118D-9530-4C94-8220-BBC030966274}"/>
              </a:ext>
            </a:extLst>
          </p:cNvPr>
          <p:cNvSpPr>
            <a:spLocks xmlns:a="http://schemas.openxmlformats.org/drawingml/2006/main" noGrp="1"/>
          </p:cNvSpPr>
          <p:nvPr/>
        </p:nvSpPr>
        <p:spPr>
          <a:xfrm xmlns:a="http://schemas.openxmlformats.org/drawingml/2006/main">
            <a:off x="1143000"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Current operations</a:t>
            </a:r>
          </a:p>
        </p:txBody>
      </p:sp>
      <p:sp>
        <p:nvSpPr>
          <p:cNvPr id="9" name="">
            <a:extLst xmlns:a="http://schemas.openxmlformats.org/drawingml/2006/main">
              <a:ext uri="{FF2B5EF4-FFF2-40B4-BE49-F238E27FC236}">
                <a16:creationId xmlns:a16="http://schemas.microsoft.com/office/drawing/2014/main" id="{6FFDAD3A-DBFE-4340-AFC7-907DB1FFE2AF}"/>
              </a:ext>
            </a:extLst>
          </p:cNvPr>
          <p:cNvSpPr>
            <a:spLocks xmlns:a="http://schemas.openxmlformats.org/drawingml/2006/main" noGrp="1"/>
          </p:cNvSpPr>
          <p:nvPr/>
        </p:nvSpPr>
        <p:spPr>
          <a:xfrm xmlns:a="http://schemas.openxmlformats.org/drawingml/2006/main">
            <a:off x="364807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1F332B-6952-428F-B6B5-AB39B3277B64}"/>
              </a:ext>
            </a:extLst>
          </p:cNvPr>
          <p:cNvSpPr>
            <a:spLocks xmlns:a="http://schemas.openxmlformats.org/drawingml/2006/main" noGrp="1"/>
          </p:cNvSpPr>
          <p:nvPr/>
        </p:nvSpPr>
        <p:spPr>
          <a:xfrm xmlns:a="http://schemas.openxmlformats.org/drawingml/2006/main">
            <a:off x="355282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Spain</a:t>
            </a:r>
          </a:p>
        </p:txBody>
      </p:sp>
      <p:sp>
        <p:nvSpPr>
          <p:cNvPr id="11" name="">
            <a:extLst xmlns:a="http://schemas.openxmlformats.org/drawingml/2006/main">
              <a:ext uri="{FF2B5EF4-FFF2-40B4-BE49-F238E27FC236}">
                <a16:creationId xmlns:a16="http://schemas.microsoft.com/office/drawing/2014/main" id="{C69B2994-00B9-40EC-87A9-EB8E5799BDBD}"/>
              </a:ext>
            </a:extLst>
          </p:cNvPr>
          <p:cNvSpPr>
            <a:spLocks xmlns:a="http://schemas.openxmlformats.org/drawingml/2006/main" noGrp="1"/>
          </p:cNvSpPr>
          <p:nvPr/>
        </p:nvSpPr>
        <p:spPr>
          <a:xfrm xmlns:a="http://schemas.openxmlformats.org/drawingml/2006/main">
            <a:off x="355282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Current operations</a:t>
            </a:r>
          </a:p>
        </p:txBody>
      </p:sp>
      <p:sp>
        <p:nvSpPr>
          <p:cNvPr id="12" name="">
            <a:extLst xmlns:a="http://schemas.openxmlformats.org/drawingml/2006/main">
              <a:ext uri="{FF2B5EF4-FFF2-40B4-BE49-F238E27FC236}">
                <a16:creationId xmlns:a16="http://schemas.microsoft.com/office/drawing/2014/main" id="{82F4A98F-D4A8-421A-A148-E8F8C0E1DE2A}"/>
              </a:ext>
            </a:extLst>
          </p:cNvPr>
          <p:cNvSpPr>
            <a:spLocks xmlns:a="http://schemas.openxmlformats.org/drawingml/2006/main" noGrp="1"/>
          </p:cNvSpPr>
          <p:nvPr/>
        </p:nvSpPr>
        <p:spPr>
          <a:xfrm xmlns:a="http://schemas.openxmlformats.org/drawingml/2006/main">
            <a:off x="602932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88AB02B-84D4-47CA-86DD-1010D5BBF1CB}"/>
              </a:ext>
            </a:extLst>
          </p:cNvPr>
          <p:cNvSpPr>
            <a:spLocks xmlns:a="http://schemas.openxmlformats.org/drawingml/2006/main" noGrp="1"/>
          </p:cNvSpPr>
          <p:nvPr/>
        </p:nvSpPr>
        <p:spPr>
          <a:xfrm xmlns:a="http://schemas.openxmlformats.org/drawingml/2006/main">
            <a:off x="593407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France</a:t>
            </a:r>
          </a:p>
        </p:txBody>
      </p:sp>
      <p:sp>
        <p:nvSpPr>
          <p:cNvPr id="14" name="">
            <a:extLst xmlns:a="http://schemas.openxmlformats.org/drawingml/2006/main">
              <a:ext uri="{FF2B5EF4-FFF2-40B4-BE49-F238E27FC236}">
                <a16:creationId xmlns:a16="http://schemas.microsoft.com/office/drawing/2014/main" id="{60EA7DCD-FF2F-4717-ACA8-4F7AF900446A}"/>
              </a:ext>
            </a:extLst>
          </p:cNvPr>
          <p:cNvSpPr>
            <a:spLocks xmlns:a="http://schemas.openxmlformats.org/drawingml/2006/main" noGrp="1"/>
          </p:cNvSpPr>
          <p:nvPr/>
        </p:nvSpPr>
        <p:spPr>
          <a:xfrm xmlns:a="http://schemas.openxmlformats.org/drawingml/2006/main">
            <a:off x="593407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Current operations</a:t>
            </a:r>
          </a:p>
        </p:txBody>
      </p:sp>
      <p:sp>
        <p:nvSpPr>
          <p:cNvPr id="15" name="">
            <a:extLst xmlns:a="http://schemas.openxmlformats.org/drawingml/2006/main">
              <a:ext uri="{FF2B5EF4-FFF2-40B4-BE49-F238E27FC236}">
                <a16:creationId xmlns:a16="http://schemas.microsoft.com/office/drawing/2014/main" id="{87F756BC-E49E-405A-AD67-B376D570552F}"/>
              </a:ext>
            </a:extLst>
          </p:cNvPr>
          <p:cNvSpPr>
            <a:spLocks xmlns:a="http://schemas.openxmlformats.org/drawingml/2006/main" noGrp="1"/>
          </p:cNvSpPr>
          <p:nvPr/>
        </p:nvSpPr>
        <p:spPr>
          <a:xfrm xmlns:a="http://schemas.openxmlformats.org/drawingml/2006/main">
            <a:off x="8429625" y="4276725"/>
            <a:ext cx="161925" cy="1619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B395C77-8CD3-4C9D-BA3C-B1EE11EA9CA7}"/>
              </a:ext>
            </a:extLst>
          </p:cNvPr>
          <p:cNvSpPr>
            <a:spLocks xmlns:a="http://schemas.openxmlformats.org/drawingml/2006/main" noGrp="1"/>
          </p:cNvSpPr>
          <p:nvPr/>
        </p:nvSpPr>
        <p:spPr>
          <a:xfrm xmlns:a="http://schemas.openxmlformats.org/drawingml/2006/main">
            <a:off x="8334375" y="4600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FFFFFF"/>
                </a:solidFill>
                <a:latin typeface="Georgia"/>
                <a:ea typeface="Georgia"/>
                <a:cs typeface="Georgia"/>
              </a:defRPr>
            </a:defPPr>
            <a:lvl1pPr algn="l">
              <a:defRPr sz="2700" b="0" i="0">
                <a:solidFill>
                  <a:srgbClr val="FFFFFF"/>
                </a:solidFill>
                <a:latin typeface="Georgia"/>
                <a:ea typeface="Georgia"/>
                <a:cs typeface="Georgia"/>
              </a:defRPr>
            </a:lvl1pPr>
            <a:lvl2pPr algn="l">
              <a:defRPr sz="2700" b="0" i="0">
                <a:solidFill>
                  <a:srgbClr val="FFFFFF"/>
                </a:solidFill>
                <a:latin typeface="Georgia"/>
                <a:ea typeface="Georgia"/>
                <a:cs typeface="Georgia"/>
              </a:defRPr>
            </a:lvl2pPr>
            <a:lvl3pPr algn="l">
              <a:defRPr sz="2700" b="0" i="0">
                <a:solidFill>
                  <a:srgbClr val="FFFFFF"/>
                </a:solidFill>
                <a:latin typeface="Georgia"/>
                <a:ea typeface="Georgia"/>
                <a:cs typeface="Georgia"/>
              </a:defRPr>
            </a:lvl3pPr>
            <a:lvl4pPr algn="l">
              <a:defRPr sz="2700" b="0" i="0">
                <a:solidFill>
                  <a:srgbClr val="FFFFFF"/>
                </a:solidFill>
                <a:latin typeface="Georgia"/>
                <a:ea typeface="Georgia"/>
                <a:cs typeface="Georgia"/>
              </a:defRPr>
            </a:lvl4pPr>
            <a:lvl5pPr algn="l">
              <a:defRPr sz="2700" b="0" i="0">
                <a:solidFill>
                  <a:srgbClr val="FFFFFF"/>
                </a:solidFill>
                <a:latin typeface="Georgia"/>
                <a:ea typeface="Georgia"/>
                <a:cs typeface="Georgia"/>
              </a:defRPr>
            </a:lvl5pPr>
            <a:lvl6pPr algn="l">
              <a:defRPr sz="2700" b="0" i="0">
                <a:solidFill>
                  <a:srgbClr val="FFFFFF"/>
                </a:solidFill>
                <a:latin typeface="Georgia"/>
                <a:ea typeface="Georgia"/>
                <a:cs typeface="Georgia"/>
              </a:defRPr>
            </a:lvl6pPr>
            <a:lvl7pPr algn="l">
              <a:defRPr sz="2700" b="0" i="0">
                <a:solidFill>
                  <a:srgbClr val="FFFFFF"/>
                </a:solidFill>
                <a:latin typeface="Georgia"/>
                <a:ea typeface="Georgia"/>
                <a:cs typeface="Georgia"/>
              </a:defRPr>
            </a:lvl7pPr>
            <a:lvl8pPr algn="l">
              <a:defRPr sz="2700" b="0" i="0">
                <a:solidFill>
                  <a:srgbClr val="FFFFFF"/>
                </a:solidFill>
                <a:latin typeface="Georgia"/>
                <a:ea typeface="Georgia"/>
                <a:cs typeface="Georgia"/>
              </a:defRPr>
            </a:lvl8pPr>
            <a:lvl9pPr algn="l">
              <a:defRPr sz="2700" b="0" i="0">
                <a:solidFill>
                  <a:srgbClr val="FFFFFF"/>
                </a:solidFill>
                <a:latin typeface="Georgia"/>
                <a:ea typeface="Georgia"/>
                <a:cs typeface="Georgia"/>
              </a:defRPr>
            </a:lvl9pPr>
          </a:lstStyle>
          <a:p xmlns:a="http://schemas.openxmlformats.org/drawingml/2006/main">
            <a:pPr algn="l">
              <a:lnSpc>
                <a:spcPct val="102000"/>
              </a:lnSpc>
              <a:buNone/>
              <a:defRPr sz="2700" b="0" i="0">
                <a:solidFill>
                  <a:srgbClr val="FFFFFF"/>
                </a:solidFill>
                <a:latin typeface="Georgia"/>
                <a:ea typeface="Georgia"/>
                <a:cs typeface="Georgia"/>
              </a:defRPr>
            </a:pPr>
            <a:r>
              <a:rPr sz="2700" b="0" i="0">
                <a:solidFill>
                  <a:srgbClr val="FFFFFF"/>
                </a:solidFill>
                <a:latin typeface="Georgia"/>
                <a:ea typeface="Georgia"/>
                <a:cs typeface="Georgia"/>
              </a:rPr>
              <a:t>Germany</a:t>
            </a:r>
          </a:p>
        </p:txBody>
      </p:sp>
      <p:sp>
        <p:nvSpPr>
          <p:cNvPr id="17" name="">
            <a:extLst xmlns:a="http://schemas.openxmlformats.org/drawingml/2006/main">
              <a:ext uri="{FF2B5EF4-FFF2-40B4-BE49-F238E27FC236}">
                <a16:creationId xmlns:a16="http://schemas.microsoft.com/office/drawing/2014/main" id="{90A76909-E815-4A87-B3C8-2D4DABFA1AA8}"/>
              </a:ext>
            </a:extLst>
          </p:cNvPr>
          <p:cNvSpPr>
            <a:spLocks xmlns:a="http://schemas.openxmlformats.org/drawingml/2006/main" noGrp="1"/>
          </p:cNvSpPr>
          <p:nvPr/>
        </p:nvSpPr>
        <p:spPr>
          <a:xfrm xmlns:a="http://schemas.openxmlformats.org/drawingml/2006/main">
            <a:off x="8334375" y="5048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CFC0BF"/>
                </a:solidFill>
                <a:latin typeface="Arial"/>
                <a:ea typeface="Arial"/>
                <a:cs typeface="Arial"/>
              </a:defRPr>
            </a:defPPr>
            <a:lvl1pPr algn="l">
              <a:defRPr sz="1050" b="0" i="0">
                <a:solidFill>
                  <a:srgbClr val="CFC0BF"/>
                </a:solidFill>
                <a:latin typeface="Arial"/>
                <a:ea typeface="Arial"/>
                <a:cs typeface="Arial"/>
              </a:defRPr>
            </a:lvl1pPr>
            <a:lvl2pPr algn="l">
              <a:defRPr sz="1050" b="0" i="0">
                <a:solidFill>
                  <a:srgbClr val="CFC0BF"/>
                </a:solidFill>
                <a:latin typeface="Arial"/>
                <a:ea typeface="Arial"/>
                <a:cs typeface="Arial"/>
              </a:defRPr>
            </a:lvl2pPr>
            <a:lvl3pPr algn="l">
              <a:defRPr sz="1050" b="0" i="0">
                <a:solidFill>
                  <a:srgbClr val="CFC0BF"/>
                </a:solidFill>
                <a:latin typeface="Arial"/>
                <a:ea typeface="Arial"/>
                <a:cs typeface="Arial"/>
              </a:defRPr>
            </a:lvl3pPr>
            <a:lvl4pPr algn="l">
              <a:defRPr sz="1050" b="0" i="0">
                <a:solidFill>
                  <a:srgbClr val="CFC0BF"/>
                </a:solidFill>
                <a:latin typeface="Arial"/>
                <a:ea typeface="Arial"/>
                <a:cs typeface="Arial"/>
              </a:defRPr>
            </a:lvl4pPr>
            <a:lvl5pPr algn="l">
              <a:defRPr sz="1050" b="0" i="0">
                <a:solidFill>
                  <a:srgbClr val="CFC0BF"/>
                </a:solidFill>
                <a:latin typeface="Arial"/>
                <a:ea typeface="Arial"/>
                <a:cs typeface="Arial"/>
              </a:defRPr>
            </a:lvl5pPr>
            <a:lvl6pPr algn="l">
              <a:defRPr sz="1050" b="0" i="0">
                <a:solidFill>
                  <a:srgbClr val="CFC0BF"/>
                </a:solidFill>
                <a:latin typeface="Arial"/>
                <a:ea typeface="Arial"/>
                <a:cs typeface="Arial"/>
              </a:defRPr>
            </a:lvl6pPr>
            <a:lvl7pPr algn="l">
              <a:defRPr sz="1050" b="0" i="0">
                <a:solidFill>
                  <a:srgbClr val="CFC0BF"/>
                </a:solidFill>
                <a:latin typeface="Arial"/>
                <a:ea typeface="Arial"/>
                <a:cs typeface="Arial"/>
              </a:defRPr>
            </a:lvl7pPr>
            <a:lvl8pPr algn="l">
              <a:defRPr sz="1050" b="0" i="0">
                <a:solidFill>
                  <a:srgbClr val="CFC0BF"/>
                </a:solidFill>
                <a:latin typeface="Arial"/>
                <a:ea typeface="Arial"/>
                <a:cs typeface="Arial"/>
              </a:defRPr>
            </a:lvl8pPr>
            <a:lvl9pPr algn="l">
              <a:defRPr sz="1050" b="0" i="0">
                <a:solidFill>
                  <a:srgbClr val="CFC0BF"/>
                </a:solidFill>
                <a:latin typeface="Arial"/>
                <a:ea typeface="Arial"/>
                <a:cs typeface="Arial"/>
              </a:defRPr>
            </a:lvl9pPr>
          </a:lstStyle>
          <a:p xmlns:a="http://schemas.openxmlformats.org/drawingml/2006/main">
            <a:pPr algn="l">
              <a:lnSpc>
                <a:spcPct val="102000"/>
              </a:lnSpc>
              <a:buNone/>
              <a:defRPr sz="1050" b="0" i="0">
                <a:solidFill>
                  <a:srgbClr val="CFC0BF"/>
                </a:solidFill>
                <a:latin typeface="Arial"/>
                <a:ea typeface="Arial"/>
                <a:cs typeface="Arial"/>
              </a:defRPr>
            </a:pPr>
            <a:r>
              <a:rPr sz="1050" b="0" i="0">
                <a:solidFill>
                  <a:srgbClr val="CFC0BF"/>
                </a:solidFill>
                <a:latin typeface="Arial"/>
                <a:ea typeface="Arial"/>
                <a:cs typeface="Arial"/>
              </a:rPr>
              <a:t>Current operations</a:t>
            </a:r>
          </a:p>
        </p:txBody>
      </p:sp>
      <p:sp>
        <p:nvSpPr>
          <p:cNvPr id="18" name="">
            <a:extLst xmlns:a="http://schemas.openxmlformats.org/drawingml/2006/main">
              <a:ext uri="{FF2B5EF4-FFF2-40B4-BE49-F238E27FC236}">
                <a16:creationId xmlns:a16="http://schemas.microsoft.com/office/drawing/2014/main" id="{6AE49CFC-B272-483D-B321-2BA5782640E0}"/>
              </a:ext>
            </a:extLst>
          </p:cNvPr>
          <p:cNvSpPr>
            <a:spLocks xmlns:a="http://schemas.openxmlformats.org/drawingml/2006/main" noGrp="1"/>
          </p:cNvSpPr>
          <p:nvPr/>
        </p:nvSpPr>
        <p:spPr>
          <a:xfrm xmlns:a="http://schemas.openxmlformats.org/drawingml/2006/main">
            <a:off x="8496300" y="4371975"/>
            <a:ext cx="2000250" cy="19050"/>
          </a:xfrm>
          <a:prstGeom xmlns:a="http://schemas.openxmlformats.org/drawingml/2006/main" prst="rect">
            <a:avLst/>
          </a:prstGeom>
          <a:solidFill xmlns:a="http://schemas.openxmlformats.org/drawingml/2006/main">
            <a:srgbClr val="FF7E8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95EC143-8155-427F-AE8F-F8D1C4ED93B7}"/>
              </a:ext>
            </a:extLst>
          </p:cNvPr>
          <p:cNvSpPr>
            <a:spLocks xmlns:a="http://schemas.openxmlformats.org/drawingml/2006/main" noGrp="1"/>
          </p:cNvSpPr>
          <p:nvPr/>
        </p:nvSpPr>
        <p:spPr>
          <a:xfrm xmlns:a="http://schemas.openxmlformats.org/drawingml/2006/main">
            <a:off x="10382250" y="4295775"/>
            <a:ext cx="161925" cy="16192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AEE521-A4EF-4F88-B7EF-90C8CF84EFBF}"/>
              </a:ext>
            </a:extLst>
          </p:cNvPr>
          <p:cNvSpPr>
            <a:spLocks xmlns:a="http://schemas.openxmlformats.org/drawingml/2006/main" noGrp="1"/>
          </p:cNvSpPr>
          <p:nvPr/>
        </p:nvSpPr>
        <p:spPr>
          <a:xfrm xmlns:a="http://schemas.openxmlformats.org/drawingml/2006/main">
            <a:off x="9525000" y="53530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99"/>
          </a:bodyPr>
          <a:lstStyle xmlns:a="http://schemas.openxmlformats.org/drawingml/2006/main">
            <a:defPPr algn="l">
              <a:defRPr sz="2850" b="0" i="0">
                <a:solidFill>
                  <a:srgbClr val="FF8991"/>
                </a:solidFill>
                <a:latin typeface="Georgia"/>
                <a:ea typeface="Georgia"/>
                <a:cs typeface="Georgia"/>
              </a:defRPr>
            </a:defPPr>
            <a:lvl1pPr algn="l">
              <a:defRPr sz="2850" b="0" i="0">
                <a:solidFill>
                  <a:srgbClr val="FF8991"/>
                </a:solidFill>
                <a:latin typeface="Georgia"/>
                <a:ea typeface="Georgia"/>
                <a:cs typeface="Georgia"/>
              </a:defRPr>
            </a:lvl1pPr>
            <a:lvl2pPr algn="l">
              <a:defRPr sz="2850" b="0" i="0">
                <a:solidFill>
                  <a:srgbClr val="FF8991"/>
                </a:solidFill>
                <a:latin typeface="Georgia"/>
                <a:ea typeface="Georgia"/>
                <a:cs typeface="Georgia"/>
              </a:defRPr>
            </a:lvl2pPr>
            <a:lvl3pPr algn="l">
              <a:defRPr sz="2850" b="0" i="0">
                <a:solidFill>
                  <a:srgbClr val="FF8991"/>
                </a:solidFill>
                <a:latin typeface="Georgia"/>
                <a:ea typeface="Georgia"/>
                <a:cs typeface="Georgia"/>
              </a:defRPr>
            </a:lvl3pPr>
            <a:lvl4pPr algn="l">
              <a:defRPr sz="2850" b="0" i="0">
                <a:solidFill>
                  <a:srgbClr val="FF8991"/>
                </a:solidFill>
                <a:latin typeface="Georgia"/>
                <a:ea typeface="Georgia"/>
                <a:cs typeface="Georgia"/>
              </a:defRPr>
            </a:lvl4pPr>
            <a:lvl5pPr algn="l">
              <a:defRPr sz="2850" b="0" i="0">
                <a:solidFill>
                  <a:srgbClr val="FF8991"/>
                </a:solidFill>
                <a:latin typeface="Georgia"/>
                <a:ea typeface="Georgia"/>
                <a:cs typeface="Georgia"/>
              </a:defRPr>
            </a:lvl5pPr>
            <a:lvl6pPr algn="l">
              <a:defRPr sz="2850" b="0" i="0">
                <a:solidFill>
                  <a:srgbClr val="FF8991"/>
                </a:solidFill>
                <a:latin typeface="Georgia"/>
                <a:ea typeface="Georgia"/>
                <a:cs typeface="Georgia"/>
              </a:defRPr>
            </a:lvl6pPr>
            <a:lvl7pPr algn="l">
              <a:defRPr sz="2850" b="0" i="0">
                <a:solidFill>
                  <a:srgbClr val="FF8991"/>
                </a:solidFill>
                <a:latin typeface="Georgia"/>
                <a:ea typeface="Georgia"/>
                <a:cs typeface="Georgia"/>
              </a:defRPr>
            </a:lvl7pPr>
            <a:lvl8pPr algn="l">
              <a:defRPr sz="2850" b="0" i="0">
                <a:solidFill>
                  <a:srgbClr val="FF8991"/>
                </a:solidFill>
                <a:latin typeface="Georgia"/>
                <a:ea typeface="Georgia"/>
                <a:cs typeface="Georgia"/>
              </a:defRPr>
            </a:lvl8pPr>
            <a:lvl9pPr algn="l">
              <a:defRPr sz="2850" b="0" i="0">
                <a:solidFill>
                  <a:srgbClr val="FF8991"/>
                </a:solidFill>
                <a:latin typeface="Georgia"/>
                <a:ea typeface="Georgia"/>
                <a:cs typeface="Georgia"/>
              </a:defRPr>
            </a:lvl9pPr>
          </a:lstStyle>
          <a:p xmlns:a="http://schemas.openxmlformats.org/drawingml/2006/main">
            <a:pPr algn="l">
              <a:lnSpc>
                <a:spcPct val="102000"/>
              </a:lnSpc>
              <a:buNone/>
              <a:defRPr sz="2850" b="0" i="0">
                <a:solidFill>
                  <a:srgbClr val="FF8991"/>
                </a:solidFill>
                <a:latin typeface="Georgia"/>
                <a:ea typeface="Georgia"/>
                <a:cs typeface="Georgia"/>
              </a:defRPr>
            </a:pPr>
            <a:r>
              <a:rPr sz="2850" b="0" i="0">
                <a:solidFill>
                  <a:srgbClr val="FF8991"/>
                </a:solidFill>
                <a:latin typeface="Georgia"/>
                <a:ea typeface="Georgia"/>
                <a:cs typeface="Georgia"/>
              </a:rPr>
              <a:t>Italy</a:t>
            </a:r>
          </a:p>
        </p:txBody>
      </p:sp>
      <p:sp>
        <p:nvSpPr>
          <p:cNvPr id="21" name="">
            <a:extLst xmlns:a="http://schemas.openxmlformats.org/drawingml/2006/main">
              <a:ext uri="{FF2B5EF4-FFF2-40B4-BE49-F238E27FC236}">
                <a16:creationId xmlns:a16="http://schemas.microsoft.com/office/drawing/2014/main" id="{18E6C747-DB60-4C37-87BC-8320ACA1580E}"/>
              </a:ext>
            </a:extLst>
          </p:cNvPr>
          <p:cNvSpPr>
            <a:spLocks xmlns:a="http://schemas.openxmlformats.org/drawingml/2006/main" noGrp="1"/>
          </p:cNvSpPr>
          <p:nvPr/>
        </p:nvSpPr>
        <p:spPr>
          <a:xfrm xmlns:a="http://schemas.openxmlformats.org/drawingml/2006/main">
            <a:off x="9525000" y="5791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FC0C4"/>
                </a:solidFill>
                <a:latin typeface="Arial"/>
                <a:ea typeface="Arial"/>
                <a:cs typeface="Arial"/>
              </a:defRPr>
            </a:defPPr>
            <a:lvl1pPr algn="l">
              <a:defRPr sz="1050" b="0" i="0">
                <a:solidFill>
                  <a:srgbClr val="FFC0C4"/>
                </a:solidFill>
                <a:latin typeface="Arial"/>
                <a:ea typeface="Arial"/>
                <a:cs typeface="Arial"/>
              </a:defRPr>
            </a:lvl1pPr>
            <a:lvl2pPr algn="l">
              <a:defRPr sz="1050" b="0" i="0">
                <a:solidFill>
                  <a:srgbClr val="FFC0C4"/>
                </a:solidFill>
                <a:latin typeface="Arial"/>
                <a:ea typeface="Arial"/>
                <a:cs typeface="Arial"/>
              </a:defRPr>
            </a:lvl2pPr>
            <a:lvl3pPr algn="l">
              <a:defRPr sz="1050" b="0" i="0">
                <a:solidFill>
                  <a:srgbClr val="FFC0C4"/>
                </a:solidFill>
                <a:latin typeface="Arial"/>
                <a:ea typeface="Arial"/>
                <a:cs typeface="Arial"/>
              </a:defRPr>
            </a:lvl3pPr>
            <a:lvl4pPr algn="l">
              <a:defRPr sz="1050" b="0" i="0">
                <a:solidFill>
                  <a:srgbClr val="FFC0C4"/>
                </a:solidFill>
                <a:latin typeface="Arial"/>
                <a:ea typeface="Arial"/>
                <a:cs typeface="Arial"/>
              </a:defRPr>
            </a:lvl4pPr>
            <a:lvl5pPr algn="l">
              <a:defRPr sz="1050" b="0" i="0">
                <a:solidFill>
                  <a:srgbClr val="FFC0C4"/>
                </a:solidFill>
                <a:latin typeface="Arial"/>
                <a:ea typeface="Arial"/>
                <a:cs typeface="Arial"/>
              </a:defRPr>
            </a:lvl5pPr>
            <a:lvl6pPr algn="l">
              <a:defRPr sz="1050" b="0" i="0">
                <a:solidFill>
                  <a:srgbClr val="FFC0C4"/>
                </a:solidFill>
                <a:latin typeface="Arial"/>
                <a:ea typeface="Arial"/>
                <a:cs typeface="Arial"/>
              </a:defRPr>
            </a:lvl6pPr>
            <a:lvl7pPr algn="l">
              <a:defRPr sz="1050" b="0" i="0">
                <a:solidFill>
                  <a:srgbClr val="FFC0C4"/>
                </a:solidFill>
                <a:latin typeface="Arial"/>
                <a:ea typeface="Arial"/>
                <a:cs typeface="Arial"/>
              </a:defRPr>
            </a:lvl7pPr>
            <a:lvl8pPr algn="l">
              <a:defRPr sz="1050" b="0" i="0">
                <a:solidFill>
                  <a:srgbClr val="FFC0C4"/>
                </a:solidFill>
                <a:latin typeface="Arial"/>
                <a:ea typeface="Arial"/>
                <a:cs typeface="Arial"/>
              </a:defRPr>
            </a:lvl8pPr>
            <a:lvl9pPr algn="l">
              <a:defRPr sz="1050" b="0" i="0">
                <a:solidFill>
                  <a:srgbClr val="FFC0C4"/>
                </a:solidFill>
                <a:latin typeface="Arial"/>
                <a:ea typeface="Arial"/>
                <a:cs typeface="Arial"/>
              </a:defRPr>
            </a:lvl9pPr>
          </a:lstStyle>
          <a:p xmlns:a="http://schemas.openxmlformats.org/drawingml/2006/main">
            <a:pPr algn="l">
              <a:lnSpc>
                <a:spcPct val="102000"/>
              </a:lnSpc>
              <a:buNone/>
              <a:defRPr sz="1050" b="0" i="0">
                <a:solidFill>
                  <a:srgbClr val="FFC0C4"/>
                </a:solidFill>
                <a:latin typeface="Arial"/>
                <a:ea typeface="Arial"/>
                <a:cs typeface="Arial"/>
              </a:defRPr>
            </a:pPr>
            <a:r>
              <a:rPr sz="1050" b="0" i="0">
                <a:solidFill>
                  <a:srgbClr val="FFC0C4"/>
                </a:solidFill>
                <a:latin typeface="Arial"/>
                <a:ea typeface="Arial"/>
                <a:cs typeface="Arial"/>
              </a:rPr>
              <a:t>No established presence</a:t>
            </a:r>
          </a:p>
        </p:txBody>
      </p:sp>
      <p:sp>
        <p:nvSpPr>
          <p:cNvPr id="22" name="">
            <a:extLst xmlns:a="http://schemas.openxmlformats.org/drawingml/2006/main">
              <a:ext uri="{FF2B5EF4-FFF2-40B4-BE49-F238E27FC236}">
                <a16:creationId xmlns:a16="http://schemas.microsoft.com/office/drawing/2014/main" id="{314E2BD7-A65F-4186-91FE-1A2A0D799B40}"/>
              </a:ext>
            </a:extLst>
          </p:cNvPr>
          <p:cNvSpPr>
            <a:spLocks xmlns:a="http://schemas.openxmlformats.org/drawingml/2006/main" noGrp="1"/>
          </p:cNvSpPr>
          <p:nvPr/>
        </p:nvSpPr>
        <p:spPr>
          <a:xfrm xmlns:a="http://schemas.openxmlformats.org/drawingml/2006/main">
            <a:off x="762000" y="60769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C6B6B5"/>
                </a:solidFill>
                <a:latin typeface="Arial"/>
                <a:ea typeface="Arial"/>
                <a:cs typeface="Arial"/>
              </a:defRPr>
            </a:defPPr>
            <a:lvl1pPr algn="l">
              <a:defRPr sz="975" b="0" i="0">
                <a:solidFill>
                  <a:srgbClr val="C6B6B5"/>
                </a:solidFill>
                <a:latin typeface="Arial"/>
                <a:ea typeface="Arial"/>
                <a:cs typeface="Arial"/>
              </a:defRPr>
            </a:lvl1pPr>
            <a:lvl2pPr algn="l">
              <a:defRPr sz="975" b="0" i="0">
                <a:solidFill>
                  <a:srgbClr val="C6B6B5"/>
                </a:solidFill>
                <a:latin typeface="Arial"/>
                <a:ea typeface="Arial"/>
                <a:cs typeface="Arial"/>
              </a:defRPr>
            </a:lvl2pPr>
            <a:lvl3pPr algn="l">
              <a:defRPr sz="975" b="0" i="0">
                <a:solidFill>
                  <a:srgbClr val="C6B6B5"/>
                </a:solidFill>
                <a:latin typeface="Arial"/>
                <a:ea typeface="Arial"/>
                <a:cs typeface="Arial"/>
              </a:defRPr>
            </a:lvl3pPr>
            <a:lvl4pPr algn="l">
              <a:defRPr sz="975" b="0" i="0">
                <a:solidFill>
                  <a:srgbClr val="C6B6B5"/>
                </a:solidFill>
                <a:latin typeface="Arial"/>
                <a:ea typeface="Arial"/>
                <a:cs typeface="Arial"/>
              </a:defRPr>
            </a:lvl4pPr>
            <a:lvl5pPr algn="l">
              <a:defRPr sz="975" b="0" i="0">
                <a:solidFill>
                  <a:srgbClr val="C6B6B5"/>
                </a:solidFill>
                <a:latin typeface="Arial"/>
                <a:ea typeface="Arial"/>
                <a:cs typeface="Arial"/>
              </a:defRPr>
            </a:lvl5pPr>
            <a:lvl6pPr algn="l">
              <a:defRPr sz="975" b="0" i="0">
                <a:solidFill>
                  <a:srgbClr val="C6B6B5"/>
                </a:solidFill>
                <a:latin typeface="Arial"/>
                <a:ea typeface="Arial"/>
                <a:cs typeface="Arial"/>
              </a:defRPr>
            </a:lvl6pPr>
            <a:lvl7pPr algn="l">
              <a:defRPr sz="975" b="0" i="0">
                <a:solidFill>
                  <a:srgbClr val="C6B6B5"/>
                </a:solidFill>
                <a:latin typeface="Arial"/>
                <a:ea typeface="Arial"/>
                <a:cs typeface="Arial"/>
              </a:defRPr>
            </a:lvl7pPr>
            <a:lvl8pPr algn="l">
              <a:defRPr sz="975" b="0" i="0">
                <a:solidFill>
                  <a:srgbClr val="C6B6B5"/>
                </a:solidFill>
                <a:latin typeface="Arial"/>
                <a:ea typeface="Arial"/>
                <a:cs typeface="Arial"/>
              </a:defRPr>
            </a:lvl8pPr>
            <a:lvl9pPr algn="l">
              <a:defRPr sz="975" b="0" i="0">
                <a:solidFill>
                  <a:srgbClr val="C6B6B5"/>
                </a:solidFill>
                <a:latin typeface="Arial"/>
                <a:ea typeface="Arial"/>
                <a:cs typeface="Arial"/>
              </a:defRPr>
            </a:lvl9pPr>
          </a:lstStyle>
          <a:p xmlns:a="http://schemas.openxmlformats.org/drawingml/2006/main">
            <a:pPr algn="l">
              <a:lnSpc>
                <a:spcPct val="102000"/>
              </a:lnSpc>
              <a:buNone/>
              <a:defRPr sz="975" b="0" i="0">
                <a:solidFill>
                  <a:srgbClr val="C6B6B5"/>
                </a:solidFill>
                <a:latin typeface="Arial"/>
                <a:ea typeface="Arial"/>
                <a:cs typeface="Arial"/>
              </a:defRPr>
            </a:pPr>
            <a:r>
              <a:rPr sz="975" b="0" i="0">
                <a:solidFill>
                  <a:srgbClr val="C6B6B5"/>
                </a:solidFill>
                <a:latin typeface="Arial"/>
                <a:ea typeface="Arial"/>
                <a:cs typeface="Arial"/>
              </a:rPr>
              <a:t>Italy: previous services at customers’ request. Lines do not represent specific routes.</a:t>
            </a:r>
          </a:p>
        </p:txBody>
      </p:sp>
      <p:sp>
        <p:nvSpPr>
          <p:cNvPr id="23" name="">
            <a:extLst xmlns:a="http://schemas.openxmlformats.org/drawingml/2006/main">
              <a:ext uri="{FF2B5EF4-FFF2-40B4-BE49-F238E27FC236}">
                <a16:creationId xmlns:a16="http://schemas.microsoft.com/office/drawing/2014/main" id="{F4E07AB0-B8A1-448E-8988-6A3BFE722DA6}"/>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0519AD5-9DDA-46E0-A87F-FAA9748D213F}"/>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05 / PARTNERSHIPS</a:t>
            </a:r>
          </a:p>
        </p:txBody>
      </p:sp>
      <p:sp>
        <p:nvSpPr>
          <p:cNvPr id="25" name="">
            <a:extLst xmlns:a="http://schemas.openxmlformats.org/drawingml/2006/main">
              <a:ext uri="{FF2B5EF4-FFF2-40B4-BE49-F238E27FC236}">
                <a16:creationId xmlns:a16="http://schemas.microsoft.com/office/drawing/2014/main" id="{07E1B44E-E29B-4786-B279-29775FB302F5}"/>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13 / 16</a:t>
            </a:r>
          </a:p>
        </p:txBody>
      </p:sp>
    </p:spTree>
    <p:extLst>
      <p:ext uri="{BB962C8B-B14F-4D97-AF65-F5344CB8AC3E}">
        <p14:creationId xmlns:p14="http://schemas.microsoft.com/office/powerpoint/2010/main" val="131490686"/>
      </p:ext>
    </p:extLst>
  </p:cSld>
</p:sld>
</file>

<file path=ppt/slides/slide14.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32A56B1-E34D-4A0A-8179-0E0B1F7960F8}"/>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5EBD03-E802-4EFA-A579-B1E461F696AA}"/>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05 / PARTNERSHIPS</a:t>
            </a:r>
          </a:p>
        </p:txBody>
      </p:sp>
      <p:sp>
        <p:nvSpPr>
          <p:cNvPr id="3" name="">
            <a:extLst xmlns:a="http://schemas.openxmlformats.org/drawingml/2006/main">
              <a:ext uri="{FF2B5EF4-FFF2-40B4-BE49-F238E27FC236}">
                <a16:creationId xmlns:a16="http://schemas.microsoft.com/office/drawing/2014/main" id="{6AE429E1-E3C0-48AF-A6A4-C72DA222F038}"/>
              </a:ext>
            </a:extLst>
          </p:cNvPr>
          <p:cNvSpPr>
            <a:spLocks xmlns:a="http://schemas.openxmlformats.org/drawingml/2006/main" noGrp="1"/>
          </p:cNvSpPr>
          <p:nvPr/>
        </p:nvSpPr>
        <p:spPr>
          <a:xfrm xmlns:a="http://schemas.openxmlformats.org/drawingml/2006/main">
            <a:off x="762000" y="10287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0" i="0">
                <a:solidFill>
                  <a:srgbClr val="211D1A"/>
                </a:solidFill>
                <a:latin typeface="Georgia"/>
                <a:ea typeface="Georgia"/>
                <a:cs typeface="Georgia"/>
              </a:defRPr>
            </a:defPPr>
            <a:lvl1pPr algn="l">
              <a:defRPr sz="4800" b="0" i="0">
                <a:solidFill>
                  <a:srgbClr val="211D1A"/>
                </a:solidFill>
                <a:latin typeface="Georgia"/>
                <a:ea typeface="Georgia"/>
                <a:cs typeface="Georgia"/>
              </a:defRPr>
            </a:lvl1pPr>
            <a:lvl2pPr algn="l">
              <a:defRPr sz="4800" b="0" i="0">
                <a:solidFill>
                  <a:srgbClr val="211D1A"/>
                </a:solidFill>
                <a:latin typeface="Georgia"/>
                <a:ea typeface="Georgia"/>
                <a:cs typeface="Georgia"/>
              </a:defRPr>
            </a:lvl2pPr>
            <a:lvl3pPr algn="l">
              <a:defRPr sz="4800" b="0" i="0">
                <a:solidFill>
                  <a:srgbClr val="211D1A"/>
                </a:solidFill>
                <a:latin typeface="Georgia"/>
                <a:ea typeface="Georgia"/>
                <a:cs typeface="Georgia"/>
              </a:defRPr>
            </a:lvl3pPr>
            <a:lvl4pPr algn="l">
              <a:defRPr sz="4800" b="0" i="0">
                <a:solidFill>
                  <a:srgbClr val="211D1A"/>
                </a:solidFill>
                <a:latin typeface="Georgia"/>
                <a:ea typeface="Georgia"/>
                <a:cs typeface="Georgia"/>
              </a:defRPr>
            </a:lvl4pPr>
            <a:lvl5pPr algn="l">
              <a:defRPr sz="4800" b="0" i="0">
                <a:solidFill>
                  <a:srgbClr val="211D1A"/>
                </a:solidFill>
                <a:latin typeface="Georgia"/>
                <a:ea typeface="Georgia"/>
                <a:cs typeface="Georgia"/>
              </a:defRPr>
            </a:lvl5pPr>
            <a:lvl6pPr algn="l">
              <a:defRPr sz="4800" b="0" i="0">
                <a:solidFill>
                  <a:srgbClr val="211D1A"/>
                </a:solidFill>
                <a:latin typeface="Georgia"/>
                <a:ea typeface="Georgia"/>
                <a:cs typeface="Georgia"/>
              </a:defRPr>
            </a:lvl6pPr>
            <a:lvl7pPr algn="l">
              <a:defRPr sz="4800" b="0" i="0">
                <a:solidFill>
                  <a:srgbClr val="211D1A"/>
                </a:solidFill>
                <a:latin typeface="Georgia"/>
                <a:ea typeface="Georgia"/>
                <a:cs typeface="Georgia"/>
              </a:defRPr>
            </a:lvl7pPr>
            <a:lvl8pPr algn="l">
              <a:defRPr sz="4800" b="0" i="0">
                <a:solidFill>
                  <a:srgbClr val="211D1A"/>
                </a:solidFill>
                <a:latin typeface="Georgia"/>
                <a:ea typeface="Georgia"/>
                <a:cs typeface="Georgia"/>
              </a:defRPr>
            </a:lvl8pPr>
            <a:lvl9pPr algn="l">
              <a:defRPr sz="4800" b="0" i="0">
                <a:solidFill>
                  <a:srgbClr val="211D1A"/>
                </a:solidFill>
                <a:latin typeface="Georgia"/>
                <a:ea typeface="Georgia"/>
                <a:cs typeface="Georgia"/>
              </a:defRPr>
            </a:lvl9pPr>
          </a:lstStyle>
          <a:p xmlns:a="http://schemas.openxmlformats.org/drawingml/2006/main">
            <a:pPr algn="l">
              <a:lnSpc>
                <a:spcPct val="98000"/>
              </a:lnSpc>
              <a:buNone/>
              <a:defRPr sz="4800" b="0" i="0">
                <a:solidFill>
                  <a:srgbClr val="211D1A"/>
                </a:solidFill>
                <a:latin typeface="Georgia"/>
                <a:ea typeface="Georgia"/>
                <a:cs typeface="Georgia"/>
              </a:defRPr>
            </a:pPr>
            <a:r>
              <a:rPr sz="4800" b="0" i="0">
                <a:solidFill>
                  <a:srgbClr val="211D1A"/>
                </a:solidFill>
                <a:latin typeface="Georgia"/>
                <a:ea typeface="Georgia"/>
                <a:cs typeface="Georgia"/>
              </a:rPr>
              <a:t>A partnership that works for both sides</a:t>
            </a:r>
          </a:p>
        </p:txBody>
      </p:sp>
      <p:sp>
        <p:nvSpPr>
          <p:cNvPr id="4" name="">
            <a:extLst xmlns:a="http://schemas.openxmlformats.org/drawingml/2006/main">
              <a:ext uri="{FF2B5EF4-FFF2-40B4-BE49-F238E27FC236}">
                <a16:creationId xmlns:a16="http://schemas.microsoft.com/office/drawing/2014/main" id="{80A6D01D-C998-4650-A5A3-4ACE102765E2}"/>
              </a:ext>
            </a:extLst>
          </p:cNvPr>
          <p:cNvSpPr>
            <a:spLocks xmlns:a="http://schemas.openxmlformats.org/drawingml/2006/main" noGrp="1"/>
          </p:cNvSpPr>
          <p:nvPr/>
        </p:nvSpPr>
        <p:spPr>
          <a:xfrm xmlns:a="http://schemas.openxmlformats.org/drawingml/2006/main">
            <a:off x="762000" y="2571750"/>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6ABF53-CBAA-45E8-A3DA-5ACB0C2286BE}"/>
              </a:ext>
            </a:extLst>
          </p:cNvPr>
          <p:cNvSpPr>
            <a:spLocks xmlns:a="http://schemas.openxmlformats.org/drawingml/2006/main" noGrp="1"/>
          </p:cNvSpPr>
          <p:nvPr/>
        </p:nvSpPr>
        <p:spPr>
          <a:xfrm xmlns:a="http://schemas.openxmlformats.org/drawingml/2006/main">
            <a:off x="762000" y="2743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CF1727"/>
                </a:solidFill>
                <a:latin typeface="Georgia"/>
                <a:ea typeface="Georgia"/>
                <a:cs typeface="Georgia"/>
              </a:defRPr>
            </a:defPPr>
            <a:lvl1pPr algn="l">
              <a:defRPr sz="3375" b="0" i="0">
                <a:solidFill>
                  <a:srgbClr val="CF1727"/>
                </a:solidFill>
                <a:latin typeface="Georgia"/>
                <a:ea typeface="Georgia"/>
                <a:cs typeface="Georgia"/>
              </a:defRPr>
            </a:lvl1pPr>
            <a:lvl2pPr algn="l">
              <a:defRPr sz="3375" b="0" i="0">
                <a:solidFill>
                  <a:srgbClr val="CF1727"/>
                </a:solidFill>
                <a:latin typeface="Georgia"/>
                <a:ea typeface="Georgia"/>
                <a:cs typeface="Georgia"/>
              </a:defRPr>
            </a:lvl2pPr>
            <a:lvl3pPr algn="l">
              <a:defRPr sz="3375" b="0" i="0">
                <a:solidFill>
                  <a:srgbClr val="CF1727"/>
                </a:solidFill>
                <a:latin typeface="Georgia"/>
                <a:ea typeface="Georgia"/>
                <a:cs typeface="Georgia"/>
              </a:defRPr>
            </a:lvl3pPr>
            <a:lvl4pPr algn="l">
              <a:defRPr sz="3375" b="0" i="0">
                <a:solidFill>
                  <a:srgbClr val="CF1727"/>
                </a:solidFill>
                <a:latin typeface="Georgia"/>
                <a:ea typeface="Georgia"/>
                <a:cs typeface="Georgia"/>
              </a:defRPr>
            </a:lvl4pPr>
            <a:lvl5pPr algn="l">
              <a:defRPr sz="3375" b="0" i="0">
                <a:solidFill>
                  <a:srgbClr val="CF1727"/>
                </a:solidFill>
                <a:latin typeface="Georgia"/>
                <a:ea typeface="Georgia"/>
                <a:cs typeface="Georgia"/>
              </a:defRPr>
            </a:lvl5pPr>
            <a:lvl6pPr algn="l">
              <a:defRPr sz="3375" b="0" i="0">
                <a:solidFill>
                  <a:srgbClr val="CF1727"/>
                </a:solidFill>
                <a:latin typeface="Georgia"/>
                <a:ea typeface="Georgia"/>
                <a:cs typeface="Georgia"/>
              </a:defRPr>
            </a:lvl6pPr>
            <a:lvl7pPr algn="l">
              <a:defRPr sz="3375" b="0" i="0">
                <a:solidFill>
                  <a:srgbClr val="CF1727"/>
                </a:solidFill>
                <a:latin typeface="Georgia"/>
                <a:ea typeface="Georgia"/>
                <a:cs typeface="Georgia"/>
              </a:defRPr>
            </a:lvl7pPr>
            <a:lvl8pPr algn="l">
              <a:defRPr sz="3375" b="0" i="0">
                <a:solidFill>
                  <a:srgbClr val="CF1727"/>
                </a:solidFill>
                <a:latin typeface="Georgia"/>
                <a:ea typeface="Georgia"/>
                <a:cs typeface="Georgia"/>
              </a:defRPr>
            </a:lvl8pPr>
            <a:lvl9pPr algn="l">
              <a:defRPr sz="3375" b="0" i="0">
                <a:solidFill>
                  <a:srgbClr val="CF1727"/>
                </a:solidFill>
                <a:latin typeface="Georgia"/>
                <a:ea typeface="Georgia"/>
                <a:cs typeface="Georgia"/>
              </a:defRPr>
            </a:lvl9pPr>
          </a:lstStyle>
          <a:p xmlns:a="http://schemas.openxmlformats.org/drawingml/2006/main">
            <a:pPr algn="l">
              <a:lnSpc>
                <a:spcPct val="102000"/>
              </a:lnSpc>
              <a:buNone/>
              <a:defRPr sz="3375" b="0" i="0">
                <a:solidFill>
                  <a:srgbClr val="CF1727"/>
                </a:solidFill>
                <a:latin typeface="Georgia"/>
                <a:ea typeface="Georgia"/>
                <a:cs typeface="Georgia"/>
              </a:defRPr>
            </a:pPr>
            <a:r>
              <a:rPr sz="3375" b="0" i="0">
                <a:solidFill>
                  <a:srgbClr val="CF1727"/>
                </a:solidFill>
                <a:latin typeface="Georgia"/>
                <a:ea typeface="Georgia"/>
                <a:cs typeface="Georgia"/>
              </a:rPr>
              <a:t>What we offer</a:t>
            </a:r>
          </a:p>
        </p:txBody>
      </p:sp>
      <p:sp>
        <p:nvSpPr>
          <p:cNvPr id="6" name="">
            <a:extLst xmlns:a="http://schemas.openxmlformats.org/drawingml/2006/main">
              <a:ext uri="{FF2B5EF4-FFF2-40B4-BE49-F238E27FC236}">
                <a16:creationId xmlns:a16="http://schemas.microsoft.com/office/drawing/2014/main" id="{8FB07A64-66BD-450D-8AB0-B3A1B554EAE0}"/>
              </a:ext>
            </a:extLst>
          </p:cNvPr>
          <p:cNvSpPr>
            <a:spLocks xmlns:a="http://schemas.openxmlformats.org/drawingml/2006/main" noGrp="1"/>
          </p:cNvSpPr>
          <p:nvPr/>
        </p:nvSpPr>
        <p:spPr>
          <a:xfrm xmlns:a="http://schemas.openxmlformats.org/drawingml/2006/main">
            <a:off x="762000" y="35433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D07FC5-C31B-4F7F-AC03-8D3D5C6BED74}"/>
              </a:ext>
            </a:extLst>
          </p:cNvPr>
          <p:cNvSpPr>
            <a:spLocks xmlns:a="http://schemas.openxmlformats.org/drawingml/2006/main" noGrp="1"/>
          </p:cNvSpPr>
          <p:nvPr/>
        </p:nvSpPr>
        <p:spPr>
          <a:xfrm xmlns:a="http://schemas.openxmlformats.org/drawingml/2006/main">
            <a:off x="762000" y="36766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D85864C-F79A-402D-A8CC-889D3EF9FA9E}"/>
              </a:ext>
            </a:extLst>
          </p:cNvPr>
          <p:cNvSpPr>
            <a:spLocks xmlns:a="http://schemas.openxmlformats.org/drawingml/2006/main" noGrp="1"/>
          </p:cNvSpPr>
          <p:nvPr/>
        </p:nvSpPr>
        <p:spPr>
          <a:xfrm xmlns:a="http://schemas.openxmlformats.org/drawingml/2006/main">
            <a:off x="1276350" y="36195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Transport, warehousing and distribution in Spain using our own resources.</a:t>
            </a:r>
          </a:p>
        </p:txBody>
      </p:sp>
      <p:sp>
        <p:nvSpPr>
          <p:cNvPr id="9" name="">
            <a:extLst xmlns:a="http://schemas.openxmlformats.org/drawingml/2006/main">
              <a:ext uri="{FF2B5EF4-FFF2-40B4-BE49-F238E27FC236}">
                <a16:creationId xmlns:a16="http://schemas.microsoft.com/office/drawing/2014/main" id="{98BA1402-86DD-453C-BC32-2214120252F4}"/>
              </a:ext>
            </a:extLst>
          </p:cNvPr>
          <p:cNvSpPr>
            <a:spLocks xmlns:a="http://schemas.openxmlformats.org/drawingml/2006/main" noGrp="1"/>
          </p:cNvSpPr>
          <p:nvPr/>
        </p:nvSpPr>
        <p:spPr>
          <a:xfrm xmlns:a="http://schemas.openxmlformats.org/drawingml/2006/main">
            <a:off x="762000" y="4171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F12D7B-5B62-4876-9691-E162A1946236}"/>
              </a:ext>
            </a:extLst>
          </p:cNvPr>
          <p:cNvSpPr>
            <a:spLocks xmlns:a="http://schemas.openxmlformats.org/drawingml/2006/main" noGrp="1"/>
          </p:cNvSpPr>
          <p:nvPr/>
        </p:nvSpPr>
        <p:spPr>
          <a:xfrm xmlns:a="http://schemas.openxmlformats.org/drawingml/2006/main">
            <a:off x="762000" y="43053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4F5B35BA-ED19-4E6C-84E6-1314C60B7DAD}"/>
              </a:ext>
            </a:extLst>
          </p:cNvPr>
          <p:cNvSpPr>
            <a:spLocks xmlns:a="http://schemas.openxmlformats.org/drawingml/2006/main" noGrp="1"/>
          </p:cNvSpPr>
          <p:nvPr/>
        </p:nvSpPr>
        <p:spPr>
          <a:xfrm xmlns:a="http://schemas.openxmlformats.org/drawingml/2006/main">
            <a:off x="1276350" y="42481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Operations near the Port of Valencia, with delivery in 24–48 hours for eligible services.</a:t>
            </a:r>
          </a:p>
        </p:txBody>
      </p:sp>
      <p:sp>
        <p:nvSpPr>
          <p:cNvPr id="12" name="">
            <a:extLst xmlns:a="http://schemas.openxmlformats.org/drawingml/2006/main">
              <a:ext uri="{FF2B5EF4-FFF2-40B4-BE49-F238E27FC236}">
                <a16:creationId xmlns:a16="http://schemas.microsoft.com/office/drawing/2014/main" id="{20A2AE80-9C82-4B73-AD44-4B3024CA2AD0}"/>
              </a:ext>
            </a:extLst>
          </p:cNvPr>
          <p:cNvSpPr>
            <a:spLocks xmlns:a="http://schemas.openxmlformats.org/drawingml/2006/main" noGrp="1"/>
          </p:cNvSpPr>
          <p:nvPr/>
        </p:nvSpPr>
        <p:spPr>
          <a:xfrm xmlns:a="http://schemas.openxmlformats.org/drawingml/2006/main">
            <a:off x="762000" y="48006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76B80F-B254-4B58-9B9F-F3924B210288}"/>
              </a:ext>
            </a:extLst>
          </p:cNvPr>
          <p:cNvSpPr>
            <a:spLocks xmlns:a="http://schemas.openxmlformats.org/drawingml/2006/main" noGrp="1"/>
          </p:cNvSpPr>
          <p:nvPr/>
        </p:nvSpPr>
        <p:spPr>
          <a:xfrm xmlns:a="http://schemas.openxmlformats.org/drawingml/2006/main">
            <a:off x="762000" y="4933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21893676-CB12-454E-B9CD-559D0B034695}"/>
              </a:ext>
            </a:extLst>
          </p:cNvPr>
          <p:cNvSpPr>
            <a:spLocks xmlns:a="http://schemas.openxmlformats.org/drawingml/2006/main" noGrp="1"/>
          </p:cNvSpPr>
          <p:nvPr/>
        </p:nvSpPr>
        <p:spPr>
          <a:xfrm xmlns:a="http://schemas.openxmlformats.org/drawingml/2006/main">
            <a:off x="1276350" y="48768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Specialist services for bulk goods, steel, ADR, fuel and oversized loads.</a:t>
            </a:r>
          </a:p>
        </p:txBody>
      </p:sp>
      <p:sp>
        <p:nvSpPr>
          <p:cNvPr id="15" name="">
            <a:extLst xmlns:a="http://schemas.openxmlformats.org/drawingml/2006/main">
              <a:ext uri="{FF2B5EF4-FFF2-40B4-BE49-F238E27FC236}">
                <a16:creationId xmlns:a16="http://schemas.microsoft.com/office/drawing/2014/main" id="{AE43A4B0-8C41-4D94-A838-3B5BCA0FDC69}"/>
              </a:ext>
            </a:extLst>
          </p:cNvPr>
          <p:cNvSpPr>
            <a:spLocks xmlns:a="http://schemas.openxmlformats.org/drawingml/2006/main" noGrp="1"/>
          </p:cNvSpPr>
          <p:nvPr/>
        </p:nvSpPr>
        <p:spPr>
          <a:xfrm xmlns:a="http://schemas.openxmlformats.org/drawingml/2006/main">
            <a:off x="762000" y="54292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85FF30-29A0-47E4-9558-12B6A738C408}"/>
              </a:ext>
            </a:extLst>
          </p:cNvPr>
          <p:cNvSpPr>
            <a:spLocks xmlns:a="http://schemas.openxmlformats.org/drawingml/2006/main" noGrp="1"/>
          </p:cNvSpPr>
          <p:nvPr/>
        </p:nvSpPr>
        <p:spPr>
          <a:xfrm xmlns:a="http://schemas.openxmlformats.org/drawingml/2006/main">
            <a:off x="762000" y="5562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BE334360-E420-41DD-A4A3-5D19CC45EFBE}"/>
              </a:ext>
            </a:extLst>
          </p:cNvPr>
          <p:cNvSpPr>
            <a:spLocks xmlns:a="http://schemas.openxmlformats.org/drawingml/2006/main" noGrp="1"/>
          </p:cNvSpPr>
          <p:nvPr/>
        </p:nvSpPr>
        <p:spPr>
          <a:xfrm xmlns:a="http://schemas.openxmlformats.org/drawingml/2006/main">
            <a:off x="1276350" y="55054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Year-round support and GPS tracking.</a:t>
            </a:r>
          </a:p>
        </p:txBody>
      </p:sp>
      <p:sp>
        <p:nvSpPr>
          <p:cNvPr id="18" name="">
            <a:extLst xmlns:a="http://schemas.openxmlformats.org/drawingml/2006/main">
              <a:ext uri="{FF2B5EF4-FFF2-40B4-BE49-F238E27FC236}">
                <a16:creationId xmlns:a16="http://schemas.microsoft.com/office/drawing/2014/main" id="{4A28B9AD-59E3-4C4B-A9EE-A31B0725E5F7}"/>
              </a:ext>
            </a:extLst>
          </p:cNvPr>
          <p:cNvSpPr>
            <a:spLocks xmlns:a="http://schemas.openxmlformats.org/drawingml/2006/main" noGrp="1"/>
          </p:cNvSpPr>
          <p:nvPr/>
        </p:nvSpPr>
        <p:spPr>
          <a:xfrm xmlns:a="http://schemas.openxmlformats.org/drawingml/2006/main">
            <a:off x="6238875" y="2571750"/>
            <a:ext cx="4953000" cy="28575"/>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2997ED9-5274-461C-AD83-AAFA64AE63DE}"/>
              </a:ext>
            </a:extLst>
          </p:cNvPr>
          <p:cNvSpPr>
            <a:spLocks xmlns:a="http://schemas.openxmlformats.org/drawingml/2006/main" noGrp="1"/>
          </p:cNvSpPr>
          <p:nvPr/>
        </p:nvSpPr>
        <p:spPr>
          <a:xfrm xmlns:a="http://schemas.openxmlformats.org/drawingml/2006/main">
            <a:off x="6238875" y="27432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75" b="0" i="0">
                <a:solidFill>
                  <a:srgbClr val="CF1727"/>
                </a:solidFill>
                <a:latin typeface="Georgia"/>
                <a:ea typeface="Georgia"/>
                <a:cs typeface="Georgia"/>
              </a:defRPr>
            </a:defPPr>
            <a:lvl1pPr algn="l">
              <a:defRPr sz="3375" b="0" i="0">
                <a:solidFill>
                  <a:srgbClr val="CF1727"/>
                </a:solidFill>
                <a:latin typeface="Georgia"/>
                <a:ea typeface="Georgia"/>
                <a:cs typeface="Georgia"/>
              </a:defRPr>
            </a:lvl1pPr>
            <a:lvl2pPr algn="l">
              <a:defRPr sz="3375" b="0" i="0">
                <a:solidFill>
                  <a:srgbClr val="CF1727"/>
                </a:solidFill>
                <a:latin typeface="Georgia"/>
                <a:ea typeface="Georgia"/>
                <a:cs typeface="Georgia"/>
              </a:defRPr>
            </a:lvl2pPr>
            <a:lvl3pPr algn="l">
              <a:defRPr sz="3375" b="0" i="0">
                <a:solidFill>
                  <a:srgbClr val="CF1727"/>
                </a:solidFill>
                <a:latin typeface="Georgia"/>
                <a:ea typeface="Georgia"/>
                <a:cs typeface="Georgia"/>
              </a:defRPr>
            </a:lvl3pPr>
            <a:lvl4pPr algn="l">
              <a:defRPr sz="3375" b="0" i="0">
                <a:solidFill>
                  <a:srgbClr val="CF1727"/>
                </a:solidFill>
                <a:latin typeface="Georgia"/>
                <a:ea typeface="Georgia"/>
                <a:cs typeface="Georgia"/>
              </a:defRPr>
            </a:lvl4pPr>
            <a:lvl5pPr algn="l">
              <a:defRPr sz="3375" b="0" i="0">
                <a:solidFill>
                  <a:srgbClr val="CF1727"/>
                </a:solidFill>
                <a:latin typeface="Georgia"/>
                <a:ea typeface="Georgia"/>
                <a:cs typeface="Georgia"/>
              </a:defRPr>
            </a:lvl5pPr>
            <a:lvl6pPr algn="l">
              <a:defRPr sz="3375" b="0" i="0">
                <a:solidFill>
                  <a:srgbClr val="CF1727"/>
                </a:solidFill>
                <a:latin typeface="Georgia"/>
                <a:ea typeface="Georgia"/>
                <a:cs typeface="Georgia"/>
              </a:defRPr>
            </a:lvl6pPr>
            <a:lvl7pPr algn="l">
              <a:defRPr sz="3375" b="0" i="0">
                <a:solidFill>
                  <a:srgbClr val="CF1727"/>
                </a:solidFill>
                <a:latin typeface="Georgia"/>
                <a:ea typeface="Georgia"/>
                <a:cs typeface="Georgia"/>
              </a:defRPr>
            </a:lvl7pPr>
            <a:lvl8pPr algn="l">
              <a:defRPr sz="3375" b="0" i="0">
                <a:solidFill>
                  <a:srgbClr val="CF1727"/>
                </a:solidFill>
                <a:latin typeface="Georgia"/>
                <a:ea typeface="Georgia"/>
                <a:cs typeface="Georgia"/>
              </a:defRPr>
            </a:lvl8pPr>
            <a:lvl9pPr algn="l">
              <a:defRPr sz="3375" b="0" i="0">
                <a:solidFill>
                  <a:srgbClr val="CF1727"/>
                </a:solidFill>
                <a:latin typeface="Georgia"/>
                <a:ea typeface="Georgia"/>
                <a:cs typeface="Georgia"/>
              </a:defRPr>
            </a:lvl9pPr>
          </a:lstStyle>
          <a:p xmlns:a="http://schemas.openxmlformats.org/drawingml/2006/main">
            <a:pPr algn="l">
              <a:lnSpc>
                <a:spcPct val="102000"/>
              </a:lnSpc>
              <a:buNone/>
              <a:defRPr sz="3375" b="0" i="0">
                <a:solidFill>
                  <a:srgbClr val="CF1727"/>
                </a:solidFill>
                <a:latin typeface="Georgia"/>
                <a:ea typeface="Georgia"/>
                <a:cs typeface="Georgia"/>
              </a:defRPr>
            </a:pPr>
            <a:r>
              <a:rPr sz="3375" b="0" i="0">
                <a:solidFill>
                  <a:srgbClr val="CF1727"/>
                </a:solidFill>
                <a:latin typeface="Georgia"/>
                <a:ea typeface="Georgia"/>
                <a:cs typeface="Georgia"/>
              </a:rPr>
              <a:t>What we seek</a:t>
            </a:r>
          </a:p>
        </p:txBody>
      </p:sp>
      <p:sp>
        <p:nvSpPr>
          <p:cNvPr id="20" name="">
            <a:extLst xmlns:a="http://schemas.openxmlformats.org/drawingml/2006/main">
              <a:ext uri="{FF2B5EF4-FFF2-40B4-BE49-F238E27FC236}">
                <a16:creationId xmlns:a16="http://schemas.microsoft.com/office/drawing/2014/main" id="{42C3345D-288F-4238-8AE3-C4DE004EACD0}"/>
              </a:ext>
            </a:extLst>
          </p:cNvPr>
          <p:cNvSpPr>
            <a:spLocks xmlns:a="http://schemas.openxmlformats.org/drawingml/2006/main" noGrp="1"/>
          </p:cNvSpPr>
          <p:nvPr/>
        </p:nvSpPr>
        <p:spPr>
          <a:xfrm xmlns:a="http://schemas.openxmlformats.org/drawingml/2006/main">
            <a:off x="6238875" y="35433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3B91919-73DE-4045-AF28-A6A5D170AD09}"/>
              </a:ext>
            </a:extLst>
          </p:cNvPr>
          <p:cNvSpPr>
            <a:spLocks xmlns:a="http://schemas.openxmlformats.org/drawingml/2006/main" noGrp="1"/>
          </p:cNvSpPr>
          <p:nvPr/>
        </p:nvSpPr>
        <p:spPr>
          <a:xfrm xmlns:a="http://schemas.openxmlformats.org/drawingml/2006/main">
            <a:off x="6238875" y="36766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01</a:t>
            </a:r>
          </a:p>
        </p:txBody>
      </p:sp>
      <p:sp>
        <p:nvSpPr>
          <p:cNvPr id="22" name="">
            <a:extLst xmlns:a="http://schemas.openxmlformats.org/drawingml/2006/main">
              <a:ext uri="{FF2B5EF4-FFF2-40B4-BE49-F238E27FC236}">
                <a16:creationId xmlns:a16="http://schemas.microsoft.com/office/drawing/2014/main" id="{DB864AA5-6C3E-4981-9AA6-F6822B906C35}"/>
              </a:ext>
            </a:extLst>
          </p:cNvPr>
          <p:cNvSpPr>
            <a:spLocks xmlns:a="http://schemas.openxmlformats.org/drawingml/2006/main" noGrp="1"/>
          </p:cNvSpPr>
          <p:nvPr/>
        </p:nvSpPr>
        <p:spPr>
          <a:xfrm xmlns:a="http://schemas.openxmlformats.org/drawingml/2006/main">
            <a:off x="6753225" y="36195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Transport and logistics companies in Italy and other EU countries.</a:t>
            </a:r>
          </a:p>
        </p:txBody>
      </p:sp>
      <p:sp>
        <p:nvSpPr>
          <p:cNvPr id="23" name="">
            <a:extLst xmlns:a="http://schemas.openxmlformats.org/drawingml/2006/main">
              <a:ext uri="{FF2B5EF4-FFF2-40B4-BE49-F238E27FC236}">
                <a16:creationId xmlns:a16="http://schemas.microsoft.com/office/drawing/2014/main" id="{5992FFEF-673D-4072-BA1B-587AA4E4E436}"/>
              </a:ext>
            </a:extLst>
          </p:cNvPr>
          <p:cNvSpPr>
            <a:spLocks xmlns:a="http://schemas.openxmlformats.org/drawingml/2006/main" noGrp="1"/>
          </p:cNvSpPr>
          <p:nvPr/>
        </p:nvSpPr>
        <p:spPr>
          <a:xfrm xmlns:a="http://schemas.openxmlformats.org/drawingml/2006/main">
            <a:off x="6238875" y="417195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842A514-8FA9-4E24-963B-520B693931A1}"/>
              </a:ext>
            </a:extLst>
          </p:cNvPr>
          <p:cNvSpPr>
            <a:spLocks xmlns:a="http://schemas.openxmlformats.org/drawingml/2006/main" noGrp="1"/>
          </p:cNvSpPr>
          <p:nvPr/>
        </p:nvSpPr>
        <p:spPr>
          <a:xfrm xmlns:a="http://schemas.openxmlformats.org/drawingml/2006/main">
            <a:off x="6238875" y="43053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0FBCA3E6-A728-4F04-908A-31008BA1A51C}"/>
              </a:ext>
            </a:extLst>
          </p:cNvPr>
          <p:cNvSpPr>
            <a:spLocks xmlns:a="http://schemas.openxmlformats.org/drawingml/2006/main" noGrp="1"/>
          </p:cNvSpPr>
          <p:nvPr/>
        </p:nvSpPr>
        <p:spPr>
          <a:xfrm xmlns:a="http://schemas.openxmlformats.org/drawingml/2006/main">
            <a:off x="6753225" y="42481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Services, routes or local knowledge that complement our own.</a:t>
            </a:r>
          </a:p>
        </p:txBody>
      </p:sp>
      <p:sp>
        <p:nvSpPr>
          <p:cNvPr id="26" name="">
            <a:extLst xmlns:a="http://schemas.openxmlformats.org/drawingml/2006/main">
              <a:ext uri="{FF2B5EF4-FFF2-40B4-BE49-F238E27FC236}">
                <a16:creationId xmlns:a16="http://schemas.microsoft.com/office/drawing/2014/main" id="{AAD08CFF-C15B-4FA0-9899-25CB87EB333C}"/>
              </a:ext>
            </a:extLst>
          </p:cNvPr>
          <p:cNvSpPr>
            <a:spLocks xmlns:a="http://schemas.openxmlformats.org/drawingml/2006/main" noGrp="1"/>
          </p:cNvSpPr>
          <p:nvPr/>
        </p:nvSpPr>
        <p:spPr>
          <a:xfrm xmlns:a="http://schemas.openxmlformats.org/drawingml/2006/main">
            <a:off x="6238875" y="4800600"/>
            <a:ext cx="4953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C6A8F3-28E9-4ACF-A6E1-A0EF57BA4858}"/>
              </a:ext>
            </a:extLst>
          </p:cNvPr>
          <p:cNvSpPr>
            <a:spLocks xmlns:a="http://schemas.openxmlformats.org/drawingml/2006/main" noGrp="1"/>
          </p:cNvSpPr>
          <p:nvPr/>
        </p:nvSpPr>
        <p:spPr>
          <a:xfrm xmlns:a="http://schemas.openxmlformats.org/drawingml/2006/main">
            <a:off x="6238875" y="49339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03</a:t>
            </a:r>
          </a:p>
        </p:txBody>
      </p:sp>
      <p:sp>
        <p:nvSpPr>
          <p:cNvPr id="28" name="">
            <a:extLst xmlns:a="http://schemas.openxmlformats.org/drawingml/2006/main">
              <a:ext uri="{FF2B5EF4-FFF2-40B4-BE49-F238E27FC236}">
                <a16:creationId xmlns:a16="http://schemas.microsoft.com/office/drawing/2014/main" id="{EAA78203-97D8-40B8-8D94-39968C491675}"/>
              </a:ext>
            </a:extLst>
          </p:cNvPr>
          <p:cNvSpPr>
            <a:spLocks xmlns:a="http://schemas.openxmlformats.org/drawingml/2006/main" noGrp="1"/>
          </p:cNvSpPr>
          <p:nvPr/>
        </p:nvSpPr>
        <p:spPr>
          <a:xfrm xmlns:a="http://schemas.openxmlformats.org/drawingml/2006/main">
            <a:off x="6753225" y="48768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211D1A"/>
                </a:solidFill>
                <a:latin typeface="Arial"/>
                <a:ea typeface="Arial"/>
                <a:cs typeface="Arial"/>
              </a:defRPr>
            </a:defPPr>
            <a:lvl1pPr algn="l">
              <a:defRPr sz="1350" b="0" i="0">
                <a:solidFill>
                  <a:srgbClr val="211D1A"/>
                </a:solidFill>
                <a:latin typeface="Arial"/>
                <a:ea typeface="Arial"/>
                <a:cs typeface="Arial"/>
              </a:defRPr>
            </a:lvl1pPr>
            <a:lvl2pPr algn="l">
              <a:defRPr sz="1350" b="0" i="0">
                <a:solidFill>
                  <a:srgbClr val="211D1A"/>
                </a:solidFill>
                <a:latin typeface="Arial"/>
                <a:ea typeface="Arial"/>
                <a:cs typeface="Arial"/>
              </a:defRPr>
            </a:lvl2pPr>
            <a:lvl3pPr algn="l">
              <a:defRPr sz="1350" b="0" i="0">
                <a:solidFill>
                  <a:srgbClr val="211D1A"/>
                </a:solidFill>
                <a:latin typeface="Arial"/>
                <a:ea typeface="Arial"/>
                <a:cs typeface="Arial"/>
              </a:defRPr>
            </a:lvl3pPr>
            <a:lvl4pPr algn="l">
              <a:defRPr sz="1350" b="0" i="0">
                <a:solidFill>
                  <a:srgbClr val="211D1A"/>
                </a:solidFill>
                <a:latin typeface="Arial"/>
                <a:ea typeface="Arial"/>
                <a:cs typeface="Arial"/>
              </a:defRPr>
            </a:lvl4pPr>
            <a:lvl5pPr algn="l">
              <a:defRPr sz="1350" b="0" i="0">
                <a:solidFill>
                  <a:srgbClr val="211D1A"/>
                </a:solidFill>
                <a:latin typeface="Arial"/>
                <a:ea typeface="Arial"/>
                <a:cs typeface="Arial"/>
              </a:defRPr>
            </a:lvl5pPr>
            <a:lvl6pPr algn="l">
              <a:defRPr sz="1350" b="0" i="0">
                <a:solidFill>
                  <a:srgbClr val="211D1A"/>
                </a:solidFill>
                <a:latin typeface="Arial"/>
                <a:ea typeface="Arial"/>
                <a:cs typeface="Arial"/>
              </a:defRPr>
            </a:lvl6pPr>
            <a:lvl7pPr algn="l">
              <a:defRPr sz="1350" b="0" i="0">
                <a:solidFill>
                  <a:srgbClr val="211D1A"/>
                </a:solidFill>
                <a:latin typeface="Arial"/>
                <a:ea typeface="Arial"/>
                <a:cs typeface="Arial"/>
              </a:defRPr>
            </a:lvl7pPr>
            <a:lvl8pPr algn="l">
              <a:defRPr sz="1350" b="0" i="0">
                <a:solidFill>
                  <a:srgbClr val="211D1A"/>
                </a:solidFill>
                <a:latin typeface="Arial"/>
                <a:ea typeface="Arial"/>
                <a:cs typeface="Arial"/>
              </a:defRPr>
            </a:lvl8pPr>
            <a:lvl9pPr algn="l">
              <a:defRPr sz="1350" b="0" i="0">
                <a:solidFill>
                  <a:srgbClr val="211D1A"/>
                </a:solidFill>
                <a:latin typeface="Arial"/>
                <a:ea typeface="Arial"/>
                <a:cs typeface="Arial"/>
              </a:defRPr>
            </a:lvl9pPr>
          </a:lstStyle>
          <a:p xmlns:a="http://schemas.openxmlformats.org/drawingml/2006/main">
            <a:pPr algn="l">
              <a:lnSpc>
                <a:spcPct val="102000"/>
              </a:lnSpc>
              <a:buNone/>
              <a:defRPr sz="1350" b="0" i="0">
                <a:solidFill>
                  <a:srgbClr val="211D1A"/>
                </a:solidFill>
                <a:latin typeface="Arial"/>
                <a:ea typeface="Arial"/>
                <a:cs typeface="Arial"/>
              </a:defRPr>
            </a:pPr>
            <a:r>
              <a:rPr sz="1350" b="0" i="0">
                <a:solidFill>
                  <a:srgbClr val="211D1A"/>
                </a:solidFill>
                <a:latin typeface="Arial"/>
                <a:ea typeface="Arial"/>
                <a:cs typeface="Arial"/>
              </a:rPr>
              <a:t>Lasting partnerships that create opportunities for both sides to grow.</a:t>
            </a:r>
          </a:p>
        </p:txBody>
      </p:sp>
      <p:sp>
        <p:nvSpPr>
          <p:cNvPr id="29" name="">
            <a:extLst xmlns:a="http://schemas.openxmlformats.org/drawingml/2006/main">
              <a:ext uri="{FF2B5EF4-FFF2-40B4-BE49-F238E27FC236}">
                <a16:creationId xmlns:a16="http://schemas.microsoft.com/office/drawing/2014/main" id="{DDF390A1-5B5E-4840-9056-933897BDEC6E}"/>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601EACB-FA2B-4BA8-AEF3-9D8160DCCABA}"/>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05 / PARTNERSHIPS</a:t>
            </a:r>
          </a:p>
        </p:txBody>
      </p:sp>
      <p:sp>
        <p:nvSpPr>
          <p:cNvPr id="31" name="">
            <a:extLst xmlns:a="http://schemas.openxmlformats.org/drawingml/2006/main">
              <a:ext uri="{FF2B5EF4-FFF2-40B4-BE49-F238E27FC236}">
                <a16:creationId xmlns:a16="http://schemas.microsoft.com/office/drawing/2014/main" id="{F0AF85C9-E606-4618-A93B-DF439FB39C08}"/>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14 / 16</a:t>
            </a:r>
          </a:p>
        </p:txBody>
      </p:sp>
    </p:spTree>
    <p:extLst>
      <p:ext uri="{BB962C8B-B14F-4D97-AF65-F5344CB8AC3E}">
        <p14:creationId xmlns:p14="http://schemas.microsoft.com/office/powerpoint/2010/main" val="117509777"/>
      </p:ext>
    </p:extLst>
  </p:cSld>
</p:sld>
</file>

<file path=ppt/slides/slide15.xml><?xml version="1.0" encoding="utf-8"?>
<p:sld xmlns:p="http://schemas.openxmlformats.org/presentationml/2006/main">
  <p:cSld>
    <p:bg>
      <p:bgPr>
        <a:solidFill xmlns:a="http://schemas.openxmlformats.org/drawingml/2006/main">
          <a:srgbClr val="F7F3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E904AA-9D3E-4435-8904-3573E02C0515}"/>
              </a:ext>
            </a:extLst>
          </p:cNvPr>
          <p:cNvSpPr>
            <a:spLocks xmlns:a="http://schemas.openxmlformats.org/drawingml/2006/main" noGrp="1"/>
          </p:cNvSpPr>
          <p:nvPr/>
        </p:nvSpPr>
        <p:spPr>
          <a:xfrm xmlns:a="http://schemas.openxmlformats.org/drawingml/2006/main">
            <a:off x="762000" y="581025"/>
            <a:ext cx="238125"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B44FF7-822B-4189-AB05-A21D82F1D394}"/>
              </a:ext>
            </a:extLst>
          </p:cNvPr>
          <p:cNvSpPr>
            <a:spLocks xmlns:a="http://schemas.openxmlformats.org/drawingml/2006/main" noGrp="1"/>
          </p:cNvSpPr>
          <p:nvPr/>
        </p:nvSpPr>
        <p:spPr>
          <a:xfrm xmlns:a="http://schemas.openxmlformats.org/drawingml/2006/main">
            <a:off x="1114425" y="49530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CF1727"/>
                </a:solidFill>
                <a:latin typeface="Arial"/>
                <a:ea typeface="Arial"/>
                <a:cs typeface="Arial"/>
              </a:defRPr>
            </a:defPPr>
            <a:lvl1pPr algn="l">
              <a:defRPr sz="900" b="1" i="0">
                <a:solidFill>
                  <a:srgbClr val="CF1727"/>
                </a:solidFill>
                <a:latin typeface="Arial"/>
                <a:ea typeface="Arial"/>
                <a:cs typeface="Arial"/>
              </a:defRPr>
            </a:lvl1pPr>
            <a:lvl2pPr algn="l">
              <a:defRPr sz="900" b="1" i="0">
                <a:solidFill>
                  <a:srgbClr val="CF1727"/>
                </a:solidFill>
                <a:latin typeface="Arial"/>
                <a:ea typeface="Arial"/>
                <a:cs typeface="Arial"/>
              </a:defRPr>
            </a:lvl2pPr>
            <a:lvl3pPr algn="l">
              <a:defRPr sz="900" b="1" i="0">
                <a:solidFill>
                  <a:srgbClr val="CF1727"/>
                </a:solidFill>
                <a:latin typeface="Arial"/>
                <a:ea typeface="Arial"/>
                <a:cs typeface="Arial"/>
              </a:defRPr>
            </a:lvl3pPr>
            <a:lvl4pPr algn="l">
              <a:defRPr sz="900" b="1" i="0">
                <a:solidFill>
                  <a:srgbClr val="CF1727"/>
                </a:solidFill>
                <a:latin typeface="Arial"/>
                <a:ea typeface="Arial"/>
                <a:cs typeface="Arial"/>
              </a:defRPr>
            </a:lvl4pPr>
            <a:lvl5pPr algn="l">
              <a:defRPr sz="900" b="1" i="0">
                <a:solidFill>
                  <a:srgbClr val="CF1727"/>
                </a:solidFill>
                <a:latin typeface="Arial"/>
                <a:ea typeface="Arial"/>
                <a:cs typeface="Arial"/>
              </a:defRPr>
            </a:lvl5pPr>
            <a:lvl6pPr algn="l">
              <a:defRPr sz="900" b="1" i="0">
                <a:solidFill>
                  <a:srgbClr val="CF1727"/>
                </a:solidFill>
                <a:latin typeface="Arial"/>
                <a:ea typeface="Arial"/>
                <a:cs typeface="Arial"/>
              </a:defRPr>
            </a:lvl6pPr>
            <a:lvl7pPr algn="l">
              <a:defRPr sz="900" b="1" i="0">
                <a:solidFill>
                  <a:srgbClr val="CF1727"/>
                </a:solidFill>
                <a:latin typeface="Arial"/>
                <a:ea typeface="Arial"/>
                <a:cs typeface="Arial"/>
              </a:defRPr>
            </a:lvl7pPr>
            <a:lvl8pPr algn="l">
              <a:defRPr sz="900" b="1" i="0">
                <a:solidFill>
                  <a:srgbClr val="CF1727"/>
                </a:solidFill>
                <a:latin typeface="Arial"/>
                <a:ea typeface="Arial"/>
                <a:cs typeface="Arial"/>
              </a:defRPr>
            </a:lvl8pPr>
            <a:lvl9pPr algn="l">
              <a:defRPr sz="900" b="1" i="0">
                <a:solidFill>
                  <a:srgbClr val="CF1727"/>
                </a:solidFill>
                <a:latin typeface="Arial"/>
                <a:ea typeface="Arial"/>
                <a:cs typeface="Arial"/>
              </a:defRPr>
            </a:lvl9pPr>
          </a:lstStyle>
          <a:p xmlns:a="http://schemas.openxmlformats.org/drawingml/2006/main">
            <a:pPr algn="l">
              <a:lnSpc>
                <a:spcPct val="102000"/>
              </a:lnSpc>
              <a:buNone/>
              <a:defRPr sz="900" b="1" i="0">
                <a:solidFill>
                  <a:srgbClr val="CF1727"/>
                </a:solidFill>
                <a:latin typeface="Arial"/>
                <a:ea typeface="Arial"/>
                <a:cs typeface="Arial"/>
              </a:defRPr>
            </a:pPr>
            <a:r>
              <a:rPr sz="900" b="1" i="0">
                <a:solidFill>
                  <a:srgbClr val="CF1727"/>
                </a:solidFill>
                <a:latin typeface="Arial"/>
                <a:ea typeface="Arial"/>
                <a:cs typeface="Arial"/>
              </a:rPr>
              <a:t>B2B MEETINGS · PIEDMONT</a:t>
            </a:r>
          </a:p>
        </p:txBody>
      </p:sp>
      <p:sp>
        <p:nvSpPr>
          <p:cNvPr id="3" name="">
            <a:extLst xmlns:a="http://schemas.openxmlformats.org/drawingml/2006/main">
              <a:ext uri="{FF2B5EF4-FFF2-40B4-BE49-F238E27FC236}">
                <a16:creationId xmlns:a16="http://schemas.microsoft.com/office/drawing/2014/main" id="{61CCBD78-8A6E-4FE7-8E5C-F19FD746FD6B}"/>
              </a:ext>
            </a:extLst>
          </p:cNvPr>
          <p:cNvSpPr>
            <a:spLocks xmlns:a="http://schemas.openxmlformats.org/drawingml/2006/main" noGrp="1"/>
          </p:cNvSpPr>
          <p:nvPr/>
        </p:nvSpPr>
        <p:spPr>
          <a:xfrm xmlns:a="http://schemas.openxmlformats.org/drawingml/2006/main">
            <a:off x="762000" y="1028700"/>
            <a:ext cx="10668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0" i="0">
                <a:solidFill>
                  <a:srgbClr val="211D1A"/>
                </a:solidFill>
                <a:latin typeface="Georgia"/>
                <a:ea typeface="Georgia"/>
                <a:cs typeface="Georgia"/>
              </a:defRPr>
            </a:defPPr>
            <a:lvl1pPr algn="l">
              <a:defRPr sz="4800" b="0" i="0">
                <a:solidFill>
                  <a:srgbClr val="211D1A"/>
                </a:solidFill>
                <a:latin typeface="Georgia"/>
                <a:ea typeface="Georgia"/>
                <a:cs typeface="Georgia"/>
              </a:defRPr>
            </a:lvl1pPr>
            <a:lvl2pPr algn="l">
              <a:defRPr sz="4800" b="0" i="0">
                <a:solidFill>
                  <a:srgbClr val="211D1A"/>
                </a:solidFill>
                <a:latin typeface="Georgia"/>
                <a:ea typeface="Georgia"/>
                <a:cs typeface="Georgia"/>
              </a:defRPr>
            </a:lvl2pPr>
            <a:lvl3pPr algn="l">
              <a:defRPr sz="4800" b="0" i="0">
                <a:solidFill>
                  <a:srgbClr val="211D1A"/>
                </a:solidFill>
                <a:latin typeface="Georgia"/>
                <a:ea typeface="Georgia"/>
                <a:cs typeface="Georgia"/>
              </a:defRPr>
            </a:lvl3pPr>
            <a:lvl4pPr algn="l">
              <a:defRPr sz="4800" b="0" i="0">
                <a:solidFill>
                  <a:srgbClr val="211D1A"/>
                </a:solidFill>
                <a:latin typeface="Georgia"/>
                <a:ea typeface="Georgia"/>
                <a:cs typeface="Georgia"/>
              </a:defRPr>
            </a:lvl4pPr>
            <a:lvl5pPr algn="l">
              <a:defRPr sz="4800" b="0" i="0">
                <a:solidFill>
                  <a:srgbClr val="211D1A"/>
                </a:solidFill>
                <a:latin typeface="Georgia"/>
                <a:ea typeface="Georgia"/>
                <a:cs typeface="Georgia"/>
              </a:defRPr>
            </a:lvl5pPr>
            <a:lvl6pPr algn="l">
              <a:defRPr sz="4800" b="0" i="0">
                <a:solidFill>
                  <a:srgbClr val="211D1A"/>
                </a:solidFill>
                <a:latin typeface="Georgia"/>
                <a:ea typeface="Georgia"/>
                <a:cs typeface="Georgia"/>
              </a:defRPr>
            </a:lvl6pPr>
            <a:lvl7pPr algn="l">
              <a:defRPr sz="4800" b="0" i="0">
                <a:solidFill>
                  <a:srgbClr val="211D1A"/>
                </a:solidFill>
                <a:latin typeface="Georgia"/>
                <a:ea typeface="Georgia"/>
                <a:cs typeface="Georgia"/>
              </a:defRPr>
            </a:lvl7pPr>
            <a:lvl8pPr algn="l">
              <a:defRPr sz="4800" b="0" i="0">
                <a:solidFill>
                  <a:srgbClr val="211D1A"/>
                </a:solidFill>
                <a:latin typeface="Georgia"/>
                <a:ea typeface="Georgia"/>
                <a:cs typeface="Georgia"/>
              </a:defRPr>
            </a:lvl8pPr>
            <a:lvl9pPr algn="l">
              <a:defRPr sz="4800" b="0" i="0">
                <a:solidFill>
                  <a:srgbClr val="211D1A"/>
                </a:solidFill>
                <a:latin typeface="Georgia"/>
                <a:ea typeface="Georgia"/>
                <a:cs typeface="Georgia"/>
              </a:defRPr>
            </a:lvl9pPr>
          </a:lstStyle>
          <a:p xmlns:a="http://schemas.openxmlformats.org/drawingml/2006/main">
            <a:pPr algn="l">
              <a:lnSpc>
                <a:spcPct val="98000"/>
              </a:lnSpc>
              <a:buNone/>
              <a:defRPr sz="4800" b="0" i="0">
                <a:solidFill>
                  <a:srgbClr val="211D1A"/>
                </a:solidFill>
                <a:latin typeface="Georgia"/>
                <a:ea typeface="Georgia"/>
                <a:cs typeface="Georgia"/>
              </a:defRPr>
            </a:pPr>
            <a:r>
              <a:rPr sz="4800" b="0" i="0">
                <a:solidFill>
                  <a:srgbClr val="211D1A"/>
                </a:solidFill>
                <a:latin typeface="Georgia"/>
                <a:ea typeface="Georgia"/>
                <a:cs typeface="Georgia"/>
              </a:rPr>
              <a:t>A conversation to find the right fit</a:t>
            </a:r>
          </a:p>
        </p:txBody>
      </p:sp>
      <p:sp>
        <p:nvSpPr>
          <p:cNvPr id="4" name="">
            <a:extLst xmlns:a="http://schemas.openxmlformats.org/drawingml/2006/main">
              <a:ext uri="{FF2B5EF4-FFF2-40B4-BE49-F238E27FC236}">
                <a16:creationId xmlns:a16="http://schemas.microsoft.com/office/drawing/2014/main" id="{86360BBC-CAD2-4001-9EBA-0571BE714F86}"/>
              </a:ext>
            </a:extLst>
          </p:cNvPr>
          <p:cNvSpPr>
            <a:spLocks xmlns:a="http://schemas.openxmlformats.org/drawingml/2006/main" noGrp="1"/>
          </p:cNvSpPr>
          <p:nvPr/>
        </p:nvSpPr>
        <p:spPr>
          <a:xfrm xmlns:a="http://schemas.openxmlformats.org/drawingml/2006/main">
            <a:off x="762000" y="220027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211D1A"/>
                </a:solidFill>
                <a:latin typeface="Arial"/>
                <a:ea typeface="Arial"/>
                <a:cs typeface="Arial"/>
              </a:defRPr>
            </a:defPPr>
            <a:lvl1pPr algn="l">
              <a:defRPr sz="1650" b="0" i="0">
                <a:solidFill>
                  <a:srgbClr val="211D1A"/>
                </a:solidFill>
                <a:latin typeface="Arial"/>
                <a:ea typeface="Arial"/>
                <a:cs typeface="Arial"/>
              </a:defRPr>
            </a:lvl1pPr>
            <a:lvl2pPr algn="l">
              <a:defRPr sz="1650" b="0" i="0">
                <a:solidFill>
                  <a:srgbClr val="211D1A"/>
                </a:solidFill>
                <a:latin typeface="Arial"/>
                <a:ea typeface="Arial"/>
                <a:cs typeface="Arial"/>
              </a:defRPr>
            </a:lvl2pPr>
            <a:lvl3pPr algn="l">
              <a:defRPr sz="1650" b="0" i="0">
                <a:solidFill>
                  <a:srgbClr val="211D1A"/>
                </a:solidFill>
                <a:latin typeface="Arial"/>
                <a:ea typeface="Arial"/>
                <a:cs typeface="Arial"/>
              </a:defRPr>
            </a:lvl3pPr>
            <a:lvl4pPr algn="l">
              <a:defRPr sz="1650" b="0" i="0">
                <a:solidFill>
                  <a:srgbClr val="211D1A"/>
                </a:solidFill>
                <a:latin typeface="Arial"/>
                <a:ea typeface="Arial"/>
                <a:cs typeface="Arial"/>
              </a:defRPr>
            </a:lvl4pPr>
            <a:lvl5pPr algn="l">
              <a:defRPr sz="1650" b="0" i="0">
                <a:solidFill>
                  <a:srgbClr val="211D1A"/>
                </a:solidFill>
                <a:latin typeface="Arial"/>
                <a:ea typeface="Arial"/>
                <a:cs typeface="Arial"/>
              </a:defRPr>
            </a:lvl5pPr>
            <a:lvl6pPr algn="l">
              <a:defRPr sz="1650" b="0" i="0">
                <a:solidFill>
                  <a:srgbClr val="211D1A"/>
                </a:solidFill>
                <a:latin typeface="Arial"/>
                <a:ea typeface="Arial"/>
                <a:cs typeface="Arial"/>
              </a:defRPr>
            </a:lvl6pPr>
            <a:lvl7pPr algn="l">
              <a:defRPr sz="1650" b="0" i="0">
                <a:solidFill>
                  <a:srgbClr val="211D1A"/>
                </a:solidFill>
                <a:latin typeface="Arial"/>
                <a:ea typeface="Arial"/>
                <a:cs typeface="Arial"/>
              </a:defRPr>
            </a:lvl7pPr>
            <a:lvl8pPr algn="l">
              <a:defRPr sz="1650" b="0" i="0">
                <a:solidFill>
                  <a:srgbClr val="211D1A"/>
                </a:solidFill>
                <a:latin typeface="Arial"/>
                <a:ea typeface="Arial"/>
                <a:cs typeface="Arial"/>
              </a:defRPr>
            </a:lvl8pPr>
            <a:lvl9pPr algn="l">
              <a:defRPr sz="1650" b="0" i="0">
                <a:solidFill>
                  <a:srgbClr val="211D1A"/>
                </a:solidFill>
                <a:latin typeface="Arial"/>
                <a:ea typeface="Arial"/>
                <a:cs typeface="Arial"/>
              </a:defRPr>
            </a:lvl9pPr>
          </a:lstStyle>
          <a:p xmlns:a="http://schemas.openxmlformats.org/drawingml/2006/main">
            <a:pPr algn="l">
              <a:lnSpc>
                <a:spcPct val="102000"/>
              </a:lnSpc>
              <a:buNone/>
              <a:defRPr sz="1650" b="0" i="0">
                <a:solidFill>
                  <a:srgbClr val="211D1A"/>
                </a:solidFill>
                <a:latin typeface="Arial"/>
                <a:ea typeface="Arial"/>
                <a:cs typeface="Arial"/>
              </a:defRPr>
            </a:pPr>
            <a:r>
              <a:rPr sz="1650" b="0" i="0">
                <a:solidFill>
                  <a:srgbClr val="211D1A"/>
                </a:solidFill>
                <a:latin typeface="Arial"/>
                <a:ea typeface="Arial"/>
                <a:cs typeface="Arial"/>
              </a:rPr>
              <a:t>In our individual meetings, we want to understand three things:</a:t>
            </a:r>
          </a:p>
        </p:txBody>
      </p:sp>
      <p:sp>
        <p:nvSpPr>
          <p:cNvPr id="5" name="">
            <a:extLst xmlns:a="http://schemas.openxmlformats.org/drawingml/2006/main">
              <a:ext uri="{FF2B5EF4-FFF2-40B4-BE49-F238E27FC236}">
                <a16:creationId xmlns:a16="http://schemas.microsoft.com/office/drawing/2014/main" id="{8B29E614-C711-466A-9476-037D2644F5AB}"/>
              </a:ext>
            </a:extLst>
          </p:cNvPr>
          <p:cNvSpPr>
            <a:spLocks xmlns:a="http://schemas.openxmlformats.org/drawingml/2006/main" noGrp="1"/>
          </p:cNvSpPr>
          <p:nvPr/>
        </p:nvSpPr>
        <p:spPr>
          <a:xfrm xmlns:a="http://schemas.openxmlformats.org/drawingml/2006/main">
            <a:off x="762000" y="2905125"/>
            <a:ext cx="10668000" cy="19050"/>
          </a:xfrm>
          <a:prstGeom xmlns:a="http://schemas.openxmlformats.org/drawingml/2006/main" prst="rect">
            <a:avLst/>
          </a:prstGeom>
          <a:solidFill xmlns:a="http://schemas.openxmlformats.org/drawingml/2006/main">
            <a:srgbClr val="CF172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9CFC73-E270-4C6D-8718-7A4D46728184}"/>
              </a:ext>
            </a:extLst>
          </p:cNvPr>
          <p:cNvSpPr>
            <a:spLocks xmlns:a="http://schemas.openxmlformats.org/drawingml/2006/main" noGrp="1"/>
          </p:cNvSpPr>
          <p:nvPr/>
        </p:nvSpPr>
        <p:spPr>
          <a:xfrm xmlns:a="http://schemas.openxmlformats.org/drawingml/2006/main">
            <a:off x="762000" y="31623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8F7E4EC-0FFC-447A-991A-9911F892C4DE}"/>
              </a:ext>
            </a:extLst>
          </p:cNvPr>
          <p:cNvSpPr>
            <a:spLocks xmlns:a="http://schemas.openxmlformats.org/drawingml/2006/main" noGrp="1"/>
          </p:cNvSpPr>
          <p:nvPr/>
        </p:nvSpPr>
        <p:spPr>
          <a:xfrm xmlns:a="http://schemas.openxmlformats.org/drawingml/2006/main">
            <a:off x="1476375" y="3038475"/>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0" i="0">
                <a:solidFill>
                  <a:srgbClr val="211D1A"/>
                </a:solidFill>
                <a:latin typeface="Georgia"/>
                <a:ea typeface="Georgia"/>
                <a:cs typeface="Georgia"/>
              </a:defRPr>
            </a:defPPr>
            <a:lvl1pPr algn="l">
              <a:defRPr sz="3150" b="0" i="0">
                <a:solidFill>
                  <a:srgbClr val="211D1A"/>
                </a:solidFill>
                <a:latin typeface="Georgia"/>
                <a:ea typeface="Georgia"/>
                <a:cs typeface="Georgia"/>
              </a:defRPr>
            </a:lvl1pPr>
            <a:lvl2pPr algn="l">
              <a:defRPr sz="3150" b="0" i="0">
                <a:solidFill>
                  <a:srgbClr val="211D1A"/>
                </a:solidFill>
                <a:latin typeface="Georgia"/>
                <a:ea typeface="Georgia"/>
                <a:cs typeface="Georgia"/>
              </a:defRPr>
            </a:lvl2pPr>
            <a:lvl3pPr algn="l">
              <a:defRPr sz="3150" b="0" i="0">
                <a:solidFill>
                  <a:srgbClr val="211D1A"/>
                </a:solidFill>
                <a:latin typeface="Georgia"/>
                <a:ea typeface="Georgia"/>
                <a:cs typeface="Georgia"/>
              </a:defRPr>
            </a:lvl3pPr>
            <a:lvl4pPr algn="l">
              <a:defRPr sz="3150" b="0" i="0">
                <a:solidFill>
                  <a:srgbClr val="211D1A"/>
                </a:solidFill>
                <a:latin typeface="Georgia"/>
                <a:ea typeface="Georgia"/>
                <a:cs typeface="Georgia"/>
              </a:defRPr>
            </a:lvl4pPr>
            <a:lvl5pPr algn="l">
              <a:defRPr sz="3150" b="0" i="0">
                <a:solidFill>
                  <a:srgbClr val="211D1A"/>
                </a:solidFill>
                <a:latin typeface="Georgia"/>
                <a:ea typeface="Georgia"/>
                <a:cs typeface="Georgia"/>
              </a:defRPr>
            </a:lvl5pPr>
            <a:lvl6pPr algn="l">
              <a:defRPr sz="3150" b="0" i="0">
                <a:solidFill>
                  <a:srgbClr val="211D1A"/>
                </a:solidFill>
                <a:latin typeface="Georgia"/>
                <a:ea typeface="Georgia"/>
                <a:cs typeface="Georgia"/>
              </a:defRPr>
            </a:lvl6pPr>
            <a:lvl7pPr algn="l">
              <a:defRPr sz="3150" b="0" i="0">
                <a:solidFill>
                  <a:srgbClr val="211D1A"/>
                </a:solidFill>
                <a:latin typeface="Georgia"/>
                <a:ea typeface="Georgia"/>
                <a:cs typeface="Georgia"/>
              </a:defRPr>
            </a:lvl7pPr>
            <a:lvl8pPr algn="l">
              <a:defRPr sz="3150" b="0" i="0">
                <a:solidFill>
                  <a:srgbClr val="211D1A"/>
                </a:solidFill>
                <a:latin typeface="Georgia"/>
                <a:ea typeface="Georgia"/>
                <a:cs typeface="Georgia"/>
              </a:defRPr>
            </a:lvl8pPr>
            <a:lvl9pPr algn="l">
              <a:defRPr sz="3150" b="0" i="0">
                <a:solidFill>
                  <a:srgbClr val="211D1A"/>
                </a:solidFill>
                <a:latin typeface="Georgia"/>
                <a:ea typeface="Georgia"/>
                <a:cs typeface="Georgia"/>
              </a:defRPr>
            </a:lvl9pPr>
          </a:lstStyle>
          <a:p xmlns:a="http://schemas.openxmlformats.org/drawingml/2006/main">
            <a:pPr algn="l">
              <a:lnSpc>
                <a:spcPct val="102000"/>
              </a:lnSpc>
              <a:buNone/>
              <a:defRPr sz="3150" b="0" i="0">
                <a:solidFill>
                  <a:srgbClr val="211D1A"/>
                </a:solidFill>
                <a:latin typeface="Georgia"/>
                <a:ea typeface="Georgia"/>
                <a:cs typeface="Georgia"/>
              </a:defRPr>
            </a:pPr>
            <a:r>
              <a:rPr sz="3150" b="0" i="0">
                <a:solidFill>
                  <a:srgbClr val="211D1A"/>
                </a:solidFill>
                <a:latin typeface="Georgia"/>
                <a:ea typeface="Georgia"/>
                <a:cs typeface="Georgia"/>
              </a:rPr>
              <a:t>What does each company do particularly well?</a:t>
            </a:r>
          </a:p>
        </p:txBody>
      </p:sp>
      <p:sp>
        <p:nvSpPr>
          <p:cNvPr id="8" name="">
            <a:extLst xmlns:a="http://schemas.openxmlformats.org/drawingml/2006/main">
              <a:ext uri="{FF2B5EF4-FFF2-40B4-BE49-F238E27FC236}">
                <a16:creationId xmlns:a16="http://schemas.microsoft.com/office/drawing/2014/main" id="{A5C976B1-8AB4-4060-9FF1-4BE52FA03799}"/>
              </a:ext>
            </a:extLst>
          </p:cNvPr>
          <p:cNvSpPr>
            <a:spLocks xmlns:a="http://schemas.openxmlformats.org/drawingml/2006/main" noGrp="1"/>
          </p:cNvSpPr>
          <p:nvPr/>
        </p:nvSpPr>
        <p:spPr>
          <a:xfrm xmlns:a="http://schemas.openxmlformats.org/drawingml/2006/main">
            <a:off x="762000" y="39719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D571D5-96E7-4E2F-8B0B-B9E9E891109F}"/>
              </a:ext>
            </a:extLst>
          </p:cNvPr>
          <p:cNvSpPr>
            <a:spLocks xmlns:a="http://schemas.openxmlformats.org/drawingml/2006/main" noGrp="1"/>
          </p:cNvSpPr>
          <p:nvPr/>
        </p:nvSpPr>
        <p:spPr>
          <a:xfrm xmlns:a="http://schemas.openxmlformats.org/drawingml/2006/main">
            <a:off x="762000" y="41814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3703345-B7E3-4A6B-BE6B-0CBC036DE00E}"/>
              </a:ext>
            </a:extLst>
          </p:cNvPr>
          <p:cNvSpPr>
            <a:spLocks xmlns:a="http://schemas.openxmlformats.org/drawingml/2006/main" noGrp="1"/>
          </p:cNvSpPr>
          <p:nvPr/>
        </p:nvSpPr>
        <p:spPr>
          <a:xfrm xmlns:a="http://schemas.openxmlformats.org/drawingml/2006/main">
            <a:off x="1476375" y="4057650"/>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0" i="0">
                <a:solidFill>
                  <a:srgbClr val="211D1A"/>
                </a:solidFill>
                <a:latin typeface="Georgia"/>
                <a:ea typeface="Georgia"/>
                <a:cs typeface="Georgia"/>
              </a:defRPr>
            </a:defPPr>
            <a:lvl1pPr algn="l">
              <a:defRPr sz="3150" b="0" i="0">
                <a:solidFill>
                  <a:srgbClr val="211D1A"/>
                </a:solidFill>
                <a:latin typeface="Georgia"/>
                <a:ea typeface="Georgia"/>
                <a:cs typeface="Georgia"/>
              </a:defRPr>
            </a:lvl1pPr>
            <a:lvl2pPr algn="l">
              <a:defRPr sz="3150" b="0" i="0">
                <a:solidFill>
                  <a:srgbClr val="211D1A"/>
                </a:solidFill>
                <a:latin typeface="Georgia"/>
                <a:ea typeface="Georgia"/>
                <a:cs typeface="Georgia"/>
              </a:defRPr>
            </a:lvl2pPr>
            <a:lvl3pPr algn="l">
              <a:defRPr sz="3150" b="0" i="0">
                <a:solidFill>
                  <a:srgbClr val="211D1A"/>
                </a:solidFill>
                <a:latin typeface="Georgia"/>
                <a:ea typeface="Georgia"/>
                <a:cs typeface="Georgia"/>
              </a:defRPr>
            </a:lvl3pPr>
            <a:lvl4pPr algn="l">
              <a:defRPr sz="3150" b="0" i="0">
                <a:solidFill>
                  <a:srgbClr val="211D1A"/>
                </a:solidFill>
                <a:latin typeface="Georgia"/>
                <a:ea typeface="Georgia"/>
                <a:cs typeface="Georgia"/>
              </a:defRPr>
            </a:lvl4pPr>
            <a:lvl5pPr algn="l">
              <a:defRPr sz="3150" b="0" i="0">
                <a:solidFill>
                  <a:srgbClr val="211D1A"/>
                </a:solidFill>
                <a:latin typeface="Georgia"/>
                <a:ea typeface="Georgia"/>
                <a:cs typeface="Georgia"/>
              </a:defRPr>
            </a:lvl5pPr>
            <a:lvl6pPr algn="l">
              <a:defRPr sz="3150" b="0" i="0">
                <a:solidFill>
                  <a:srgbClr val="211D1A"/>
                </a:solidFill>
                <a:latin typeface="Georgia"/>
                <a:ea typeface="Georgia"/>
                <a:cs typeface="Georgia"/>
              </a:defRPr>
            </a:lvl6pPr>
            <a:lvl7pPr algn="l">
              <a:defRPr sz="3150" b="0" i="0">
                <a:solidFill>
                  <a:srgbClr val="211D1A"/>
                </a:solidFill>
                <a:latin typeface="Georgia"/>
                <a:ea typeface="Georgia"/>
                <a:cs typeface="Georgia"/>
              </a:defRPr>
            </a:lvl7pPr>
            <a:lvl8pPr algn="l">
              <a:defRPr sz="3150" b="0" i="0">
                <a:solidFill>
                  <a:srgbClr val="211D1A"/>
                </a:solidFill>
                <a:latin typeface="Georgia"/>
                <a:ea typeface="Georgia"/>
                <a:cs typeface="Georgia"/>
              </a:defRPr>
            </a:lvl8pPr>
            <a:lvl9pPr algn="l">
              <a:defRPr sz="3150" b="0" i="0">
                <a:solidFill>
                  <a:srgbClr val="211D1A"/>
                </a:solidFill>
                <a:latin typeface="Georgia"/>
                <a:ea typeface="Georgia"/>
                <a:cs typeface="Georgia"/>
              </a:defRPr>
            </a:lvl9pPr>
          </a:lstStyle>
          <a:p xmlns:a="http://schemas.openxmlformats.org/drawingml/2006/main">
            <a:pPr algn="l">
              <a:lnSpc>
                <a:spcPct val="102000"/>
              </a:lnSpc>
              <a:buNone/>
              <a:defRPr sz="3150" b="0" i="0">
                <a:solidFill>
                  <a:srgbClr val="211D1A"/>
                </a:solidFill>
                <a:latin typeface="Georgia"/>
                <a:ea typeface="Georgia"/>
                <a:cs typeface="Georgia"/>
              </a:defRPr>
            </a:pPr>
            <a:r>
              <a:rPr sz="3150" b="0" i="0">
                <a:solidFill>
                  <a:srgbClr val="211D1A"/>
                </a:solidFill>
                <a:latin typeface="Georgia"/>
                <a:ea typeface="Georgia"/>
                <a:cs typeface="Georgia"/>
              </a:rPr>
              <a:t>Where does each of us need support?</a:t>
            </a:r>
          </a:p>
        </p:txBody>
      </p:sp>
      <p:sp>
        <p:nvSpPr>
          <p:cNvPr id="11" name="">
            <a:extLst xmlns:a="http://schemas.openxmlformats.org/drawingml/2006/main">
              <a:ext uri="{FF2B5EF4-FFF2-40B4-BE49-F238E27FC236}">
                <a16:creationId xmlns:a16="http://schemas.microsoft.com/office/drawing/2014/main" id="{CB2BB211-9140-46D1-91DD-5FD6EEA5E8DE}"/>
              </a:ext>
            </a:extLst>
          </p:cNvPr>
          <p:cNvSpPr>
            <a:spLocks xmlns:a="http://schemas.openxmlformats.org/drawingml/2006/main" noGrp="1"/>
          </p:cNvSpPr>
          <p:nvPr/>
        </p:nvSpPr>
        <p:spPr>
          <a:xfrm xmlns:a="http://schemas.openxmlformats.org/drawingml/2006/main">
            <a:off x="762000" y="4991100"/>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97AA64-8FCE-481A-8872-B83B6E254008}"/>
              </a:ext>
            </a:extLst>
          </p:cNvPr>
          <p:cNvSpPr>
            <a:spLocks xmlns:a="http://schemas.openxmlformats.org/drawingml/2006/main" noGrp="1"/>
          </p:cNvSpPr>
          <p:nvPr/>
        </p:nvSpPr>
        <p:spPr>
          <a:xfrm xmlns:a="http://schemas.openxmlformats.org/drawingml/2006/main">
            <a:off x="762000" y="520065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CF1727"/>
                </a:solidFill>
                <a:latin typeface="Arial"/>
                <a:ea typeface="Arial"/>
                <a:cs typeface="Arial"/>
              </a:defRPr>
            </a:defPPr>
            <a:lvl1pPr algn="l">
              <a:defRPr sz="975" b="1" i="0">
                <a:solidFill>
                  <a:srgbClr val="CF1727"/>
                </a:solidFill>
                <a:latin typeface="Arial"/>
                <a:ea typeface="Arial"/>
                <a:cs typeface="Arial"/>
              </a:defRPr>
            </a:lvl1pPr>
            <a:lvl2pPr algn="l">
              <a:defRPr sz="975" b="1" i="0">
                <a:solidFill>
                  <a:srgbClr val="CF1727"/>
                </a:solidFill>
                <a:latin typeface="Arial"/>
                <a:ea typeface="Arial"/>
                <a:cs typeface="Arial"/>
              </a:defRPr>
            </a:lvl2pPr>
            <a:lvl3pPr algn="l">
              <a:defRPr sz="975" b="1" i="0">
                <a:solidFill>
                  <a:srgbClr val="CF1727"/>
                </a:solidFill>
                <a:latin typeface="Arial"/>
                <a:ea typeface="Arial"/>
                <a:cs typeface="Arial"/>
              </a:defRPr>
            </a:lvl3pPr>
            <a:lvl4pPr algn="l">
              <a:defRPr sz="975" b="1" i="0">
                <a:solidFill>
                  <a:srgbClr val="CF1727"/>
                </a:solidFill>
                <a:latin typeface="Arial"/>
                <a:ea typeface="Arial"/>
                <a:cs typeface="Arial"/>
              </a:defRPr>
            </a:lvl4pPr>
            <a:lvl5pPr algn="l">
              <a:defRPr sz="975" b="1" i="0">
                <a:solidFill>
                  <a:srgbClr val="CF1727"/>
                </a:solidFill>
                <a:latin typeface="Arial"/>
                <a:ea typeface="Arial"/>
                <a:cs typeface="Arial"/>
              </a:defRPr>
            </a:lvl5pPr>
            <a:lvl6pPr algn="l">
              <a:defRPr sz="975" b="1" i="0">
                <a:solidFill>
                  <a:srgbClr val="CF1727"/>
                </a:solidFill>
                <a:latin typeface="Arial"/>
                <a:ea typeface="Arial"/>
                <a:cs typeface="Arial"/>
              </a:defRPr>
            </a:lvl6pPr>
            <a:lvl7pPr algn="l">
              <a:defRPr sz="975" b="1" i="0">
                <a:solidFill>
                  <a:srgbClr val="CF1727"/>
                </a:solidFill>
                <a:latin typeface="Arial"/>
                <a:ea typeface="Arial"/>
                <a:cs typeface="Arial"/>
              </a:defRPr>
            </a:lvl7pPr>
            <a:lvl8pPr algn="l">
              <a:defRPr sz="975" b="1" i="0">
                <a:solidFill>
                  <a:srgbClr val="CF1727"/>
                </a:solidFill>
                <a:latin typeface="Arial"/>
                <a:ea typeface="Arial"/>
                <a:cs typeface="Arial"/>
              </a:defRPr>
            </a:lvl8pPr>
            <a:lvl9pPr algn="l">
              <a:defRPr sz="975" b="1" i="0">
                <a:solidFill>
                  <a:srgbClr val="CF1727"/>
                </a:solidFill>
                <a:latin typeface="Arial"/>
                <a:ea typeface="Arial"/>
                <a:cs typeface="Arial"/>
              </a:defRPr>
            </a:lvl9pPr>
          </a:lstStyle>
          <a:p xmlns:a="http://schemas.openxmlformats.org/drawingml/2006/main">
            <a:pPr algn="l">
              <a:lnSpc>
                <a:spcPct val="102000"/>
              </a:lnSpc>
              <a:buNone/>
              <a:defRPr sz="975" b="1" i="0">
                <a:solidFill>
                  <a:srgbClr val="CF1727"/>
                </a:solidFill>
                <a:latin typeface="Arial"/>
                <a:ea typeface="Arial"/>
                <a:cs typeface="Arial"/>
              </a:defRPr>
            </a:pPr>
            <a:r>
              <a:rPr sz="975" b="1" i="0">
                <a:solidFill>
                  <a:srgbClr val="CF1727"/>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4625159-A3BC-41AD-AFCF-5F5331EC9BF6}"/>
              </a:ext>
            </a:extLst>
          </p:cNvPr>
          <p:cNvSpPr>
            <a:spLocks xmlns:a="http://schemas.openxmlformats.org/drawingml/2006/main" noGrp="1"/>
          </p:cNvSpPr>
          <p:nvPr/>
        </p:nvSpPr>
        <p:spPr>
          <a:xfrm xmlns:a="http://schemas.openxmlformats.org/drawingml/2006/main">
            <a:off x="1476375" y="5076825"/>
            <a:ext cx="9810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0" i="0">
                <a:solidFill>
                  <a:srgbClr val="211D1A"/>
                </a:solidFill>
                <a:latin typeface="Georgia"/>
                <a:ea typeface="Georgia"/>
                <a:cs typeface="Georgia"/>
              </a:defRPr>
            </a:defPPr>
            <a:lvl1pPr algn="l">
              <a:defRPr sz="2700" b="0" i="0">
                <a:solidFill>
                  <a:srgbClr val="211D1A"/>
                </a:solidFill>
                <a:latin typeface="Georgia"/>
                <a:ea typeface="Georgia"/>
                <a:cs typeface="Georgia"/>
              </a:defRPr>
            </a:lvl1pPr>
            <a:lvl2pPr algn="l">
              <a:defRPr sz="2700" b="0" i="0">
                <a:solidFill>
                  <a:srgbClr val="211D1A"/>
                </a:solidFill>
                <a:latin typeface="Georgia"/>
                <a:ea typeface="Georgia"/>
                <a:cs typeface="Georgia"/>
              </a:defRPr>
            </a:lvl2pPr>
            <a:lvl3pPr algn="l">
              <a:defRPr sz="2700" b="0" i="0">
                <a:solidFill>
                  <a:srgbClr val="211D1A"/>
                </a:solidFill>
                <a:latin typeface="Georgia"/>
                <a:ea typeface="Georgia"/>
                <a:cs typeface="Georgia"/>
              </a:defRPr>
            </a:lvl3pPr>
            <a:lvl4pPr algn="l">
              <a:defRPr sz="2700" b="0" i="0">
                <a:solidFill>
                  <a:srgbClr val="211D1A"/>
                </a:solidFill>
                <a:latin typeface="Georgia"/>
                <a:ea typeface="Georgia"/>
                <a:cs typeface="Georgia"/>
              </a:defRPr>
            </a:lvl4pPr>
            <a:lvl5pPr algn="l">
              <a:defRPr sz="2700" b="0" i="0">
                <a:solidFill>
                  <a:srgbClr val="211D1A"/>
                </a:solidFill>
                <a:latin typeface="Georgia"/>
                <a:ea typeface="Georgia"/>
                <a:cs typeface="Georgia"/>
              </a:defRPr>
            </a:lvl5pPr>
            <a:lvl6pPr algn="l">
              <a:defRPr sz="2700" b="0" i="0">
                <a:solidFill>
                  <a:srgbClr val="211D1A"/>
                </a:solidFill>
                <a:latin typeface="Georgia"/>
                <a:ea typeface="Georgia"/>
                <a:cs typeface="Georgia"/>
              </a:defRPr>
            </a:lvl6pPr>
            <a:lvl7pPr algn="l">
              <a:defRPr sz="2700" b="0" i="0">
                <a:solidFill>
                  <a:srgbClr val="211D1A"/>
                </a:solidFill>
                <a:latin typeface="Georgia"/>
                <a:ea typeface="Georgia"/>
                <a:cs typeface="Georgia"/>
              </a:defRPr>
            </a:lvl7pPr>
            <a:lvl8pPr algn="l">
              <a:defRPr sz="2700" b="0" i="0">
                <a:solidFill>
                  <a:srgbClr val="211D1A"/>
                </a:solidFill>
                <a:latin typeface="Georgia"/>
                <a:ea typeface="Georgia"/>
                <a:cs typeface="Georgia"/>
              </a:defRPr>
            </a:lvl8pPr>
            <a:lvl9pPr algn="l">
              <a:defRPr sz="2700" b="0" i="0">
                <a:solidFill>
                  <a:srgbClr val="211D1A"/>
                </a:solidFill>
                <a:latin typeface="Georgia"/>
                <a:ea typeface="Georgia"/>
                <a:cs typeface="Georgia"/>
              </a:defRPr>
            </a:lvl9pPr>
          </a:lstStyle>
          <a:p xmlns:a="http://schemas.openxmlformats.org/drawingml/2006/main">
            <a:pPr algn="l">
              <a:lnSpc>
                <a:spcPct val="102000"/>
              </a:lnSpc>
              <a:buNone/>
              <a:defRPr sz="2700" b="0" i="0">
                <a:solidFill>
                  <a:srgbClr val="211D1A"/>
                </a:solidFill>
                <a:latin typeface="Georgia"/>
                <a:ea typeface="Georgia"/>
                <a:cs typeface="Georgia"/>
              </a:defRPr>
            </a:pPr>
            <a:r>
              <a:rPr sz="2700" b="0" i="0">
                <a:solidFill>
                  <a:srgbClr val="211D1A"/>
                </a:solidFill>
                <a:latin typeface="Georgia"/>
                <a:ea typeface="Georgia"/>
                <a:cs typeface="Georgia"/>
              </a:rPr>
              <a:t>What practical opportunity could we develop together?</a:t>
            </a:r>
          </a:p>
        </p:txBody>
      </p:sp>
      <p:sp>
        <p:nvSpPr>
          <p:cNvPr id="14" name="">
            <a:extLst xmlns:a="http://schemas.openxmlformats.org/drawingml/2006/main">
              <a:ext uri="{FF2B5EF4-FFF2-40B4-BE49-F238E27FC236}">
                <a16:creationId xmlns:a16="http://schemas.microsoft.com/office/drawing/2014/main" id="{18CD41B6-607E-4C02-91AD-D87CC1C75641}"/>
              </a:ext>
            </a:extLst>
          </p:cNvPr>
          <p:cNvSpPr>
            <a:spLocks xmlns:a="http://schemas.openxmlformats.org/drawingml/2006/main" noGrp="1"/>
          </p:cNvSpPr>
          <p:nvPr/>
        </p:nvSpPr>
        <p:spPr>
          <a:xfrm xmlns:a="http://schemas.openxmlformats.org/drawingml/2006/main">
            <a:off x="762000" y="601027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AA387CB-8DCD-4288-85A5-E4319E023DD6}"/>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D9D0C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D7E6E34-C1E7-493F-AB89-16282A1D02E8}"/>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6C625E"/>
                </a:solidFill>
                <a:latin typeface="Arial"/>
                <a:ea typeface="Arial"/>
                <a:cs typeface="Arial"/>
              </a:defRPr>
            </a:defPPr>
            <a:lvl1pPr algn="l">
              <a:defRPr sz="825" b="1" i="0">
                <a:solidFill>
                  <a:srgbClr val="6C625E"/>
                </a:solidFill>
                <a:latin typeface="Arial"/>
                <a:ea typeface="Arial"/>
                <a:cs typeface="Arial"/>
              </a:defRPr>
            </a:lvl1pPr>
            <a:lvl2pPr algn="l">
              <a:defRPr sz="825" b="1" i="0">
                <a:solidFill>
                  <a:srgbClr val="6C625E"/>
                </a:solidFill>
                <a:latin typeface="Arial"/>
                <a:ea typeface="Arial"/>
                <a:cs typeface="Arial"/>
              </a:defRPr>
            </a:lvl2pPr>
            <a:lvl3pPr algn="l">
              <a:defRPr sz="825" b="1" i="0">
                <a:solidFill>
                  <a:srgbClr val="6C625E"/>
                </a:solidFill>
                <a:latin typeface="Arial"/>
                <a:ea typeface="Arial"/>
                <a:cs typeface="Arial"/>
              </a:defRPr>
            </a:lvl3pPr>
            <a:lvl4pPr algn="l">
              <a:defRPr sz="825" b="1" i="0">
                <a:solidFill>
                  <a:srgbClr val="6C625E"/>
                </a:solidFill>
                <a:latin typeface="Arial"/>
                <a:ea typeface="Arial"/>
                <a:cs typeface="Arial"/>
              </a:defRPr>
            </a:lvl4pPr>
            <a:lvl5pPr algn="l">
              <a:defRPr sz="825" b="1" i="0">
                <a:solidFill>
                  <a:srgbClr val="6C625E"/>
                </a:solidFill>
                <a:latin typeface="Arial"/>
                <a:ea typeface="Arial"/>
                <a:cs typeface="Arial"/>
              </a:defRPr>
            </a:lvl5pPr>
            <a:lvl6pPr algn="l">
              <a:defRPr sz="825" b="1" i="0">
                <a:solidFill>
                  <a:srgbClr val="6C625E"/>
                </a:solidFill>
                <a:latin typeface="Arial"/>
                <a:ea typeface="Arial"/>
                <a:cs typeface="Arial"/>
              </a:defRPr>
            </a:lvl6pPr>
            <a:lvl7pPr algn="l">
              <a:defRPr sz="825" b="1" i="0">
                <a:solidFill>
                  <a:srgbClr val="6C625E"/>
                </a:solidFill>
                <a:latin typeface="Arial"/>
                <a:ea typeface="Arial"/>
                <a:cs typeface="Arial"/>
              </a:defRPr>
            </a:lvl7pPr>
            <a:lvl8pPr algn="l">
              <a:defRPr sz="825" b="1" i="0">
                <a:solidFill>
                  <a:srgbClr val="6C625E"/>
                </a:solidFill>
                <a:latin typeface="Arial"/>
                <a:ea typeface="Arial"/>
                <a:cs typeface="Arial"/>
              </a:defRPr>
            </a:lvl8pPr>
            <a:lvl9pPr algn="l">
              <a:defRPr sz="825" b="1" i="0">
                <a:solidFill>
                  <a:srgbClr val="6C625E"/>
                </a:solidFill>
                <a:latin typeface="Arial"/>
                <a:ea typeface="Arial"/>
                <a:cs typeface="Arial"/>
              </a:defRPr>
            </a:lvl9pPr>
          </a:lstStyle>
          <a:p xmlns:a="http://schemas.openxmlformats.org/drawingml/2006/main">
            <a:pPr algn="l">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B2B MEETINGS · PIEDMONT</a:t>
            </a:r>
          </a:p>
        </p:txBody>
      </p:sp>
      <p:sp>
        <p:nvSpPr>
          <p:cNvPr id="17" name="">
            <a:extLst xmlns:a="http://schemas.openxmlformats.org/drawingml/2006/main">
              <a:ext uri="{FF2B5EF4-FFF2-40B4-BE49-F238E27FC236}">
                <a16:creationId xmlns:a16="http://schemas.microsoft.com/office/drawing/2014/main" id="{5011E7F6-82F0-495C-A26A-C644172D714E}"/>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6C625E"/>
                </a:solidFill>
                <a:latin typeface="Arial"/>
                <a:ea typeface="Arial"/>
                <a:cs typeface="Arial"/>
              </a:defRPr>
            </a:defPPr>
            <a:lvl1pPr algn="r">
              <a:defRPr sz="825" b="1" i="0">
                <a:solidFill>
                  <a:srgbClr val="6C625E"/>
                </a:solidFill>
                <a:latin typeface="Arial"/>
                <a:ea typeface="Arial"/>
                <a:cs typeface="Arial"/>
              </a:defRPr>
            </a:lvl1pPr>
            <a:lvl2pPr algn="r">
              <a:defRPr sz="825" b="1" i="0">
                <a:solidFill>
                  <a:srgbClr val="6C625E"/>
                </a:solidFill>
                <a:latin typeface="Arial"/>
                <a:ea typeface="Arial"/>
                <a:cs typeface="Arial"/>
              </a:defRPr>
            </a:lvl2pPr>
            <a:lvl3pPr algn="r">
              <a:defRPr sz="825" b="1" i="0">
                <a:solidFill>
                  <a:srgbClr val="6C625E"/>
                </a:solidFill>
                <a:latin typeface="Arial"/>
                <a:ea typeface="Arial"/>
                <a:cs typeface="Arial"/>
              </a:defRPr>
            </a:lvl3pPr>
            <a:lvl4pPr algn="r">
              <a:defRPr sz="825" b="1" i="0">
                <a:solidFill>
                  <a:srgbClr val="6C625E"/>
                </a:solidFill>
                <a:latin typeface="Arial"/>
                <a:ea typeface="Arial"/>
                <a:cs typeface="Arial"/>
              </a:defRPr>
            </a:lvl4pPr>
            <a:lvl5pPr algn="r">
              <a:defRPr sz="825" b="1" i="0">
                <a:solidFill>
                  <a:srgbClr val="6C625E"/>
                </a:solidFill>
                <a:latin typeface="Arial"/>
                <a:ea typeface="Arial"/>
                <a:cs typeface="Arial"/>
              </a:defRPr>
            </a:lvl5pPr>
            <a:lvl6pPr algn="r">
              <a:defRPr sz="825" b="1" i="0">
                <a:solidFill>
                  <a:srgbClr val="6C625E"/>
                </a:solidFill>
                <a:latin typeface="Arial"/>
                <a:ea typeface="Arial"/>
                <a:cs typeface="Arial"/>
              </a:defRPr>
            </a:lvl6pPr>
            <a:lvl7pPr algn="r">
              <a:defRPr sz="825" b="1" i="0">
                <a:solidFill>
                  <a:srgbClr val="6C625E"/>
                </a:solidFill>
                <a:latin typeface="Arial"/>
                <a:ea typeface="Arial"/>
                <a:cs typeface="Arial"/>
              </a:defRPr>
            </a:lvl7pPr>
            <a:lvl8pPr algn="r">
              <a:defRPr sz="825" b="1" i="0">
                <a:solidFill>
                  <a:srgbClr val="6C625E"/>
                </a:solidFill>
                <a:latin typeface="Arial"/>
                <a:ea typeface="Arial"/>
                <a:cs typeface="Arial"/>
              </a:defRPr>
            </a:lvl8pPr>
            <a:lvl9pPr algn="r">
              <a:defRPr sz="825" b="1" i="0">
                <a:solidFill>
                  <a:srgbClr val="6C625E"/>
                </a:solidFill>
                <a:latin typeface="Arial"/>
                <a:ea typeface="Arial"/>
                <a:cs typeface="Arial"/>
              </a:defRPr>
            </a:lvl9pPr>
          </a:lstStyle>
          <a:p xmlns:a="http://schemas.openxmlformats.org/drawingml/2006/main">
            <a:pPr algn="r">
              <a:lnSpc>
                <a:spcPct val="102000"/>
              </a:lnSpc>
              <a:buNone/>
              <a:defRPr sz="825" b="1" i="0">
                <a:solidFill>
                  <a:srgbClr val="6C625E"/>
                </a:solidFill>
                <a:latin typeface="Arial"/>
                <a:ea typeface="Arial"/>
                <a:cs typeface="Arial"/>
              </a:defRPr>
            </a:pPr>
            <a:r>
              <a:rPr sz="825" b="1" i="0">
                <a:solidFill>
                  <a:srgbClr val="6C625E"/>
                </a:solidFill>
                <a:latin typeface="Arial"/>
                <a:ea typeface="Arial"/>
                <a:cs typeface="Arial"/>
              </a:rPr>
              <a:t>15 / 16</a:t>
            </a:r>
          </a:p>
        </p:txBody>
      </p:sp>
    </p:spTree>
    <p:extLst>
      <p:ext uri="{BB962C8B-B14F-4D97-AF65-F5344CB8AC3E}">
        <p14:creationId xmlns:p14="http://schemas.microsoft.com/office/powerpoint/2010/main" val="656520015"/>
      </p:ext>
    </p:extLst>
  </p:cSld>
</p:sld>
</file>

<file path=ppt/slides/slide16.xml><?xml version="1.0" encoding="utf-8"?>
<p:sld xmlns:p="http://schemas.openxmlformats.org/presentationml/2006/main">
  <p:cSld>
    <p:bg>
      <p:bgPr>
        <a:solidFill xmlns:a="http://schemas.openxmlformats.org/drawingml/2006/main">
          <a:srgbClr val="281E2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ED65D4F-36E2-4CF5-A38C-B11F9415F1C8}"/>
              </a:ext>
            </a:extLst>
          </p:cNvPr>
          <p:cNvPicPr>
            <a:picLocks xmlns:a="http://schemas.openxmlformats.org/drawingml/2006/main" noChangeAspect="1"/>
          </p:cNvPicPr>
          <p:nvPr/>
        </p:nvPicPr>
        <p:blipFill>
          <a:blip xmlns:r="http://schemas.openxmlformats.org/officeDocument/2006/relationships" xmlns:a="http://schemas.openxmlformats.org/drawingml/2006/main" r:embed="R31637f04f9fb47ee"/>
          <a:srcRect xmlns:a="http://schemas.openxmlformats.org/drawingml/2006/main" l="0" t="1509" r="0" b="150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F1BE2A-76D2-49C7-ADAA-F8A2D269DE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1191A">
              <a:alpha val="85000"/>
            </a:srgbClr>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F3BAE6D3-8590-4819-ACD2-813434BEA56D}"/>
              </a:ext>
            </a:extLst>
          </p:cNvPr>
          <p:cNvPicPr>
            <a:picLocks xmlns:a="http://schemas.openxmlformats.org/drawingml/2006/main" noChangeAspect="1"/>
          </p:cNvPicPr>
          <p:nvPr/>
        </p:nvPicPr>
        <p:blipFill>
          <a:blip xmlns:r="http://schemas.openxmlformats.org/officeDocument/2006/relationships" xmlns:a="http://schemas.openxmlformats.org/drawingml/2006/main" r:embed="Rf69953fc751f4363"/>
          <a:stretch xmlns:a="http://schemas.openxmlformats.org/drawingml/2006/main"/>
        </p:blipFill>
        <p:spPr>
          <a:xfrm xmlns:a="http://schemas.openxmlformats.org/drawingml/2006/main">
            <a:off x="762935" y="438150"/>
            <a:ext cx="3331880" cy="485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ECB0B0-E853-45DA-B987-EE2CF04B8F52}"/>
              </a:ext>
            </a:extLst>
          </p:cNvPr>
          <p:cNvSpPr>
            <a:spLocks xmlns:a="http://schemas.openxmlformats.org/drawingml/2006/main" noGrp="1"/>
          </p:cNvSpPr>
          <p:nvPr/>
        </p:nvSpPr>
        <p:spPr>
          <a:xfrm xmlns:a="http://schemas.openxmlformats.org/drawingml/2006/main">
            <a:off x="762000" y="1390650"/>
            <a:ext cx="238125" cy="19050"/>
          </a:xfrm>
          <a:prstGeom xmlns:a="http://schemas.openxmlformats.org/drawingml/2006/main" prst="rect">
            <a:avLst/>
          </a:prstGeom>
          <a:solidFill xmlns:a="http://schemas.openxmlformats.org/drawingml/2006/main">
            <a:srgbClr val="FF8D9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D187E99-A37B-4A82-9D4E-9C4DB2765AD1}"/>
              </a:ext>
            </a:extLst>
          </p:cNvPr>
          <p:cNvSpPr>
            <a:spLocks xmlns:a="http://schemas.openxmlformats.org/drawingml/2006/main" noGrp="1"/>
          </p:cNvSpPr>
          <p:nvPr/>
        </p:nvSpPr>
        <p:spPr>
          <a:xfrm xmlns:a="http://schemas.openxmlformats.org/drawingml/2006/main">
            <a:off x="1114425" y="13049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B8BD"/>
                </a:solidFill>
                <a:latin typeface="Arial"/>
                <a:ea typeface="Arial"/>
                <a:cs typeface="Arial"/>
              </a:defRPr>
            </a:defPPr>
            <a:lvl1pPr algn="l">
              <a:defRPr sz="900" b="1" i="0">
                <a:solidFill>
                  <a:srgbClr val="FFB8BD"/>
                </a:solidFill>
                <a:latin typeface="Arial"/>
                <a:ea typeface="Arial"/>
                <a:cs typeface="Arial"/>
              </a:defRPr>
            </a:lvl1pPr>
            <a:lvl2pPr algn="l">
              <a:defRPr sz="900" b="1" i="0">
                <a:solidFill>
                  <a:srgbClr val="FFB8BD"/>
                </a:solidFill>
                <a:latin typeface="Arial"/>
                <a:ea typeface="Arial"/>
                <a:cs typeface="Arial"/>
              </a:defRPr>
            </a:lvl2pPr>
            <a:lvl3pPr algn="l">
              <a:defRPr sz="900" b="1" i="0">
                <a:solidFill>
                  <a:srgbClr val="FFB8BD"/>
                </a:solidFill>
                <a:latin typeface="Arial"/>
                <a:ea typeface="Arial"/>
                <a:cs typeface="Arial"/>
              </a:defRPr>
            </a:lvl3pPr>
            <a:lvl4pPr algn="l">
              <a:defRPr sz="900" b="1" i="0">
                <a:solidFill>
                  <a:srgbClr val="FFB8BD"/>
                </a:solidFill>
                <a:latin typeface="Arial"/>
                <a:ea typeface="Arial"/>
                <a:cs typeface="Arial"/>
              </a:defRPr>
            </a:lvl4pPr>
            <a:lvl5pPr algn="l">
              <a:defRPr sz="900" b="1" i="0">
                <a:solidFill>
                  <a:srgbClr val="FFB8BD"/>
                </a:solidFill>
                <a:latin typeface="Arial"/>
                <a:ea typeface="Arial"/>
                <a:cs typeface="Arial"/>
              </a:defRPr>
            </a:lvl5pPr>
            <a:lvl6pPr algn="l">
              <a:defRPr sz="900" b="1" i="0">
                <a:solidFill>
                  <a:srgbClr val="FFB8BD"/>
                </a:solidFill>
                <a:latin typeface="Arial"/>
                <a:ea typeface="Arial"/>
                <a:cs typeface="Arial"/>
              </a:defRPr>
            </a:lvl6pPr>
            <a:lvl7pPr algn="l">
              <a:defRPr sz="900" b="1" i="0">
                <a:solidFill>
                  <a:srgbClr val="FFB8BD"/>
                </a:solidFill>
                <a:latin typeface="Arial"/>
                <a:ea typeface="Arial"/>
                <a:cs typeface="Arial"/>
              </a:defRPr>
            </a:lvl7pPr>
            <a:lvl8pPr algn="l">
              <a:defRPr sz="900" b="1" i="0">
                <a:solidFill>
                  <a:srgbClr val="FFB8BD"/>
                </a:solidFill>
                <a:latin typeface="Arial"/>
                <a:ea typeface="Arial"/>
                <a:cs typeface="Arial"/>
              </a:defRPr>
            </a:lvl8pPr>
            <a:lvl9pPr algn="l">
              <a:defRPr sz="900" b="1" i="0">
                <a:solidFill>
                  <a:srgbClr val="FFB8BD"/>
                </a:solidFill>
                <a:latin typeface="Arial"/>
                <a:ea typeface="Arial"/>
                <a:cs typeface="Arial"/>
              </a:defRPr>
            </a:lvl9pPr>
          </a:lstStyle>
          <a:p xmlns:a="http://schemas.openxmlformats.org/drawingml/2006/main">
            <a:pPr algn="l">
              <a:lnSpc>
                <a:spcPct val="102000"/>
              </a:lnSpc>
              <a:buNone/>
              <a:defRPr sz="900" b="1" i="0">
                <a:solidFill>
                  <a:srgbClr val="FFB8BD"/>
                </a:solidFill>
                <a:latin typeface="Arial"/>
                <a:ea typeface="Arial"/>
                <a:cs typeface="Arial"/>
              </a:defRPr>
            </a:pPr>
            <a:r>
              <a:rPr sz="900" b="1" i="0">
                <a:solidFill>
                  <a:srgbClr val="FFB8BD"/>
                </a:solidFill>
                <a:latin typeface="Arial"/>
                <a:ea typeface="Arial"/>
                <a:cs typeface="Arial"/>
              </a:rPr>
              <a:t>06 / CONTACT</a:t>
            </a:r>
          </a:p>
        </p:txBody>
      </p:sp>
      <p:sp>
        <p:nvSpPr>
          <p:cNvPr id="6" name="">
            <a:extLst xmlns:a="http://schemas.openxmlformats.org/drawingml/2006/main">
              <a:ext uri="{FF2B5EF4-FFF2-40B4-BE49-F238E27FC236}">
                <a16:creationId xmlns:a16="http://schemas.microsoft.com/office/drawing/2014/main" id="{16FD900D-35F2-4F45-9225-AF4AD617A601}"/>
              </a:ext>
            </a:extLst>
          </p:cNvPr>
          <p:cNvSpPr>
            <a:spLocks xmlns:a="http://schemas.openxmlformats.org/drawingml/2006/main" noGrp="1"/>
          </p:cNvSpPr>
          <p:nvPr/>
        </p:nvSpPr>
        <p:spPr>
          <a:xfrm xmlns:a="http://schemas.openxmlformats.org/drawingml/2006/main">
            <a:off x="762000" y="1847850"/>
            <a:ext cx="10763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450" b="0" i="0">
                <a:solidFill>
                  <a:srgbClr val="FFFFFF"/>
                </a:solidFill>
                <a:latin typeface="Georgia"/>
                <a:ea typeface="Georgia"/>
                <a:cs typeface="Georgia"/>
              </a:defRPr>
            </a:defPPr>
            <a:lvl1pPr algn="l">
              <a:defRPr sz="6450" b="0" i="0">
                <a:solidFill>
                  <a:srgbClr val="FFFFFF"/>
                </a:solidFill>
                <a:latin typeface="Georgia"/>
                <a:ea typeface="Georgia"/>
                <a:cs typeface="Georgia"/>
              </a:defRPr>
            </a:lvl1pPr>
            <a:lvl2pPr algn="l">
              <a:defRPr sz="6450" b="0" i="0">
                <a:solidFill>
                  <a:srgbClr val="FFFFFF"/>
                </a:solidFill>
                <a:latin typeface="Georgia"/>
                <a:ea typeface="Georgia"/>
                <a:cs typeface="Georgia"/>
              </a:defRPr>
            </a:lvl2pPr>
            <a:lvl3pPr algn="l">
              <a:defRPr sz="6450" b="0" i="0">
                <a:solidFill>
                  <a:srgbClr val="FFFFFF"/>
                </a:solidFill>
                <a:latin typeface="Georgia"/>
                <a:ea typeface="Georgia"/>
                <a:cs typeface="Georgia"/>
              </a:defRPr>
            </a:lvl3pPr>
            <a:lvl4pPr algn="l">
              <a:defRPr sz="6450" b="0" i="0">
                <a:solidFill>
                  <a:srgbClr val="FFFFFF"/>
                </a:solidFill>
                <a:latin typeface="Georgia"/>
                <a:ea typeface="Georgia"/>
                <a:cs typeface="Georgia"/>
              </a:defRPr>
            </a:lvl4pPr>
            <a:lvl5pPr algn="l">
              <a:defRPr sz="6450" b="0" i="0">
                <a:solidFill>
                  <a:srgbClr val="FFFFFF"/>
                </a:solidFill>
                <a:latin typeface="Georgia"/>
                <a:ea typeface="Georgia"/>
                <a:cs typeface="Georgia"/>
              </a:defRPr>
            </a:lvl5pPr>
            <a:lvl6pPr algn="l">
              <a:defRPr sz="6450" b="0" i="0">
                <a:solidFill>
                  <a:srgbClr val="FFFFFF"/>
                </a:solidFill>
                <a:latin typeface="Georgia"/>
                <a:ea typeface="Georgia"/>
                <a:cs typeface="Georgia"/>
              </a:defRPr>
            </a:lvl6pPr>
            <a:lvl7pPr algn="l">
              <a:defRPr sz="6450" b="0" i="0">
                <a:solidFill>
                  <a:srgbClr val="FFFFFF"/>
                </a:solidFill>
                <a:latin typeface="Georgia"/>
                <a:ea typeface="Georgia"/>
                <a:cs typeface="Georgia"/>
              </a:defRPr>
            </a:lvl7pPr>
            <a:lvl8pPr algn="l">
              <a:defRPr sz="6450" b="0" i="0">
                <a:solidFill>
                  <a:srgbClr val="FFFFFF"/>
                </a:solidFill>
                <a:latin typeface="Georgia"/>
                <a:ea typeface="Georgia"/>
                <a:cs typeface="Georgia"/>
              </a:defRPr>
            </a:lvl8pPr>
            <a:lvl9pPr algn="l">
              <a:defRPr sz="6450" b="0" i="0">
                <a:solidFill>
                  <a:srgbClr val="FFFFFF"/>
                </a:solidFill>
                <a:latin typeface="Georgia"/>
                <a:ea typeface="Georgia"/>
                <a:cs typeface="Georgia"/>
              </a:defRPr>
            </a:lvl9pPr>
          </a:lstStyle>
          <a:p xmlns:a="http://schemas.openxmlformats.org/drawingml/2006/main">
            <a:pPr algn="l">
              <a:lnSpc>
                <a:spcPct val="102000"/>
              </a:lnSpc>
              <a:buNone/>
              <a:defRPr sz="6450" b="0" i="0">
                <a:solidFill>
                  <a:srgbClr val="FFFFFF"/>
                </a:solidFill>
                <a:latin typeface="Georgia"/>
                <a:ea typeface="Georgia"/>
                <a:cs typeface="Georgia"/>
              </a:defRPr>
            </a:pPr>
            <a:r>
              <a:rPr sz="6450" b="0" i="0">
                <a:solidFill>
                  <a:srgbClr val="FFFFFF"/>
                </a:solidFill>
                <a:latin typeface="Georgia"/>
                <a:ea typeface="Georgia"/>
                <a:cs typeface="Georgia"/>
              </a:rPr>
              <a:t>Meet Sertranin</a:t>
            </a:r>
          </a:p>
        </p:txBody>
      </p:sp>
      <p:sp>
        <p:nvSpPr>
          <p:cNvPr id="7" name="">
            <a:extLst xmlns:a="http://schemas.openxmlformats.org/drawingml/2006/main">
              <a:ext uri="{FF2B5EF4-FFF2-40B4-BE49-F238E27FC236}">
                <a16:creationId xmlns:a16="http://schemas.microsoft.com/office/drawing/2014/main" id="{77983050-2DC0-4B62-8F9B-36145BF9EA47}"/>
              </a:ext>
            </a:extLst>
          </p:cNvPr>
          <p:cNvSpPr>
            <a:spLocks xmlns:a="http://schemas.openxmlformats.org/drawingml/2006/main" noGrp="1"/>
          </p:cNvSpPr>
          <p:nvPr/>
        </p:nvSpPr>
        <p:spPr>
          <a:xfrm xmlns:a="http://schemas.openxmlformats.org/drawingml/2006/main">
            <a:off x="762000" y="2828925"/>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defPPr algn="l">
              <a:defRPr sz="6825" b="0" i="1">
                <a:solidFill>
                  <a:srgbClr val="FF757D"/>
                </a:solidFill>
                <a:latin typeface="Georgia"/>
                <a:ea typeface="Georgia"/>
                <a:cs typeface="Georgia"/>
              </a:defRPr>
            </a:defPPr>
            <a:lvl1pPr algn="l">
              <a:defRPr sz="6825" b="0" i="1">
                <a:solidFill>
                  <a:srgbClr val="FF757D"/>
                </a:solidFill>
                <a:latin typeface="Georgia"/>
                <a:ea typeface="Georgia"/>
                <a:cs typeface="Georgia"/>
              </a:defRPr>
            </a:lvl1pPr>
            <a:lvl2pPr algn="l">
              <a:defRPr sz="6825" b="0" i="1">
                <a:solidFill>
                  <a:srgbClr val="FF757D"/>
                </a:solidFill>
                <a:latin typeface="Georgia"/>
                <a:ea typeface="Georgia"/>
                <a:cs typeface="Georgia"/>
              </a:defRPr>
            </a:lvl2pPr>
            <a:lvl3pPr algn="l">
              <a:defRPr sz="6825" b="0" i="1">
                <a:solidFill>
                  <a:srgbClr val="FF757D"/>
                </a:solidFill>
                <a:latin typeface="Georgia"/>
                <a:ea typeface="Georgia"/>
                <a:cs typeface="Georgia"/>
              </a:defRPr>
            </a:lvl3pPr>
            <a:lvl4pPr algn="l">
              <a:defRPr sz="6825" b="0" i="1">
                <a:solidFill>
                  <a:srgbClr val="FF757D"/>
                </a:solidFill>
                <a:latin typeface="Georgia"/>
                <a:ea typeface="Georgia"/>
                <a:cs typeface="Georgia"/>
              </a:defRPr>
            </a:lvl4pPr>
            <a:lvl5pPr algn="l">
              <a:defRPr sz="6825" b="0" i="1">
                <a:solidFill>
                  <a:srgbClr val="FF757D"/>
                </a:solidFill>
                <a:latin typeface="Georgia"/>
                <a:ea typeface="Georgia"/>
                <a:cs typeface="Georgia"/>
              </a:defRPr>
            </a:lvl5pPr>
            <a:lvl6pPr algn="l">
              <a:defRPr sz="6825" b="0" i="1">
                <a:solidFill>
                  <a:srgbClr val="FF757D"/>
                </a:solidFill>
                <a:latin typeface="Georgia"/>
                <a:ea typeface="Georgia"/>
                <a:cs typeface="Georgia"/>
              </a:defRPr>
            </a:lvl6pPr>
            <a:lvl7pPr algn="l">
              <a:defRPr sz="6825" b="0" i="1">
                <a:solidFill>
                  <a:srgbClr val="FF757D"/>
                </a:solidFill>
                <a:latin typeface="Georgia"/>
                <a:ea typeface="Georgia"/>
                <a:cs typeface="Georgia"/>
              </a:defRPr>
            </a:lvl7pPr>
            <a:lvl8pPr algn="l">
              <a:defRPr sz="6825" b="0" i="1">
                <a:solidFill>
                  <a:srgbClr val="FF757D"/>
                </a:solidFill>
                <a:latin typeface="Georgia"/>
                <a:ea typeface="Georgia"/>
                <a:cs typeface="Georgia"/>
              </a:defRPr>
            </a:lvl8pPr>
            <a:lvl9pPr algn="l">
              <a:defRPr sz="6825" b="0" i="1">
                <a:solidFill>
                  <a:srgbClr val="FF757D"/>
                </a:solidFill>
                <a:latin typeface="Georgia"/>
                <a:ea typeface="Georgia"/>
                <a:cs typeface="Georgia"/>
              </a:defRPr>
            </a:lvl9pPr>
          </a:lstStyle>
          <a:p xmlns:a="http://schemas.openxmlformats.org/drawingml/2006/main">
            <a:pPr algn="l">
              <a:lnSpc>
                <a:spcPct val="102000"/>
              </a:lnSpc>
              <a:buNone/>
              <a:defRPr sz="6825" b="0" i="1">
                <a:solidFill>
                  <a:srgbClr val="FF757D"/>
                </a:solidFill>
                <a:latin typeface="Georgia"/>
                <a:ea typeface="Georgia"/>
                <a:cs typeface="Georgia"/>
              </a:defRPr>
            </a:pPr>
            <a:r>
              <a:rPr sz="6825" b="0" i="1">
                <a:solidFill>
                  <a:srgbClr val="FF757D"/>
                </a:solidFill>
                <a:latin typeface="Georgia"/>
                <a:ea typeface="Georgia"/>
                <a:cs typeface="Georgia"/>
              </a:rPr>
              <a:t>in person</a:t>
            </a:r>
          </a:p>
        </p:txBody>
      </p:sp>
      <p:sp>
        <p:nvSpPr>
          <p:cNvPr id="8" name="">
            <a:extLst xmlns:a="http://schemas.openxmlformats.org/drawingml/2006/main">
              <a:ext uri="{FF2B5EF4-FFF2-40B4-BE49-F238E27FC236}">
                <a16:creationId xmlns:a16="http://schemas.microsoft.com/office/drawing/2014/main" id="{1ADE6916-1A4D-48E5-8476-BC62824949CB}"/>
              </a:ext>
            </a:extLst>
          </p:cNvPr>
          <p:cNvSpPr>
            <a:spLocks xmlns:a="http://schemas.openxmlformats.org/drawingml/2006/main" noGrp="1"/>
          </p:cNvSpPr>
          <p:nvPr/>
        </p:nvSpPr>
        <p:spPr>
          <a:xfrm xmlns:a="http://schemas.openxmlformats.org/drawingml/2006/main">
            <a:off x="762000" y="3886200"/>
            <a:ext cx="981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i="0">
                <a:solidFill>
                  <a:srgbClr val="F4ECEA"/>
                </a:solidFill>
                <a:latin typeface="Arial"/>
                <a:ea typeface="Arial"/>
                <a:cs typeface="Arial"/>
              </a:defRPr>
            </a:defPPr>
            <a:lvl1pPr algn="l">
              <a:defRPr sz="1800" b="0" i="0">
                <a:solidFill>
                  <a:srgbClr val="F4ECEA"/>
                </a:solidFill>
                <a:latin typeface="Arial"/>
                <a:ea typeface="Arial"/>
                <a:cs typeface="Arial"/>
              </a:defRPr>
            </a:lvl1pPr>
            <a:lvl2pPr algn="l">
              <a:defRPr sz="1800" b="0" i="0">
                <a:solidFill>
                  <a:srgbClr val="F4ECEA"/>
                </a:solidFill>
                <a:latin typeface="Arial"/>
                <a:ea typeface="Arial"/>
                <a:cs typeface="Arial"/>
              </a:defRPr>
            </a:lvl2pPr>
            <a:lvl3pPr algn="l">
              <a:defRPr sz="1800" b="0" i="0">
                <a:solidFill>
                  <a:srgbClr val="F4ECEA"/>
                </a:solidFill>
                <a:latin typeface="Arial"/>
                <a:ea typeface="Arial"/>
                <a:cs typeface="Arial"/>
              </a:defRPr>
            </a:lvl3pPr>
            <a:lvl4pPr algn="l">
              <a:defRPr sz="1800" b="0" i="0">
                <a:solidFill>
                  <a:srgbClr val="F4ECEA"/>
                </a:solidFill>
                <a:latin typeface="Arial"/>
                <a:ea typeface="Arial"/>
                <a:cs typeface="Arial"/>
              </a:defRPr>
            </a:lvl4pPr>
            <a:lvl5pPr algn="l">
              <a:defRPr sz="1800" b="0" i="0">
                <a:solidFill>
                  <a:srgbClr val="F4ECEA"/>
                </a:solidFill>
                <a:latin typeface="Arial"/>
                <a:ea typeface="Arial"/>
                <a:cs typeface="Arial"/>
              </a:defRPr>
            </a:lvl5pPr>
            <a:lvl6pPr algn="l">
              <a:defRPr sz="1800" b="0" i="0">
                <a:solidFill>
                  <a:srgbClr val="F4ECEA"/>
                </a:solidFill>
                <a:latin typeface="Arial"/>
                <a:ea typeface="Arial"/>
                <a:cs typeface="Arial"/>
              </a:defRPr>
            </a:lvl6pPr>
            <a:lvl7pPr algn="l">
              <a:defRPr sz="1800" b="0" i="0">
                <a:solidFill>
                  <a:srgbClr val="F4ECEA"/>
                </a:solidFill>
                <a:latin typeface="Arial"/>
                <a:ea typeface="Arial"/>
                <a:cs typeface="Arial"/>
              </a:defRPr>
            </a:lvl7pPr>
            <a:lvl8pPr algn="l">
              <a:defRPr sz="1800" b="0" i="0">
                <a:solidFill>
                  <a:srgbClr val="F4ECEA"/>
                </a:solidFill>
                <a:latin typeface="Arial"/>
                <a:ea typeface="Arial"/>
                <a:cs typeface="Arial"/>
              </a:defRPr>
            </a:lvl8pPr>
            <a:lvl9pPr algn="l">
              <a:defRPr sz="1800" b="0" i="0">
                <a:solidFill>
                  <a:srgbClr val="F4ECEA"/>
                </a:solidFill>
                <a:latin typeface="Arial"/>
                <a:ea typeface="Arial"/>
                <a:cs typeface="Arial"/>
              </a:defRPr>
            </a:lvl9pPr>
          </a:lstStyle>
          <a:p xmlns:a="http://schemas.openxmlformats.org/drawingml/2006/main">
            <a:pPr algn="l">
              <a:lnSpc>
                <a:spcPct val="102000"/>
              </a:lnSpc>
              <a:buNone/>
              <a:defRPr sz="1800" b="0" i="0">
                <a:solidFill>
                  <a:srgbClr val="F4ECEA"/>
                </a:solidFill>
                <a:latin typeface="Arial"/>
                <a:ea typeface="Arial"/>
                <a:cs typeface="Arial"/>
              </a:defRPr>
            </a:pPr>
            <a:r>
              <a:rPr sz="1800" b="0" i="0">
                <a:solidFill>
                  <a:srgbClr val="F4ECEA"/>
                </a:solidFill>
                <a:latin typeface="Arial"/>
                <a:ea typeface="Arial"/>
                <a:cs typeface="Arial"/>
              </a:rPr>
              <a:t>Let’s talk about capabilities, needs and practical ways to work together.</a:t>
            </a:r>
          </a:p>
        </p:txBody>
      </p:sp>
      <p:sp>
        <p:nvSpPr>
          <p:cNvPr id="9" name="">
            <a:extLst xmlns:a="http://schemas.openxmlformats.org/drawingml/2006/main">
              <a:ext uri="{FF2B5EF4-FFF2-40B4-BE49-F238E27FC236}">
                <a16:creationId xmlns:a16="http://schemas.microsoft.com/office/drawing/2014/main" id="{77E00FB2-E038-43E6-B3F7-45F3267122CA}"/>
              </a:ext>
            </a:extLst>
          </p:cNvPr>
          <p:cNvSpPr>
            <a:spLocks xmlns:a="http://schemas.openxmlformats.org/drawingml/2006/main" noGrp="1"/>
          </p:cNvSpPr>
          <p:nvPr/>
        </p:nvSpPr>
        <p:spPr>
          <a:xfrm xmlns:a="http://schemas.openxmlformats.org/drawingml/2006/main">
            <a:off x="762000" y="488632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FFFFFF"/>
                </a:solidFill>
                <a:latin typeface="Arial"/>
                <a:ea typeface="Arial"/>
                <a:cs typeface="Arial"/>
              </a:defRPr>
            </a:defPPr>
            <a:lvl1pPr algn="l">
              <a:defRPr sz="1800" b="1" i="0">
                <a:solidFill>
                  <a:srgbClr val="FFFFFF"/>
                </a:solidFill>
                <a:latin typeface="Arial"/>
                <a:ea typeface="Arial"/>
                <a:cs typeface="Arial"/>
              </a:defRPr>
            </a:lvl1pPr>
            <a:lvl2pPr algn="l">
              <a:defRPr sz="1800" b="1" i="0">
                <a:solidFill>
                  <a:srgbClr val="FFFFFF"/>
                </a:solidFill>
                <a:latin typeface="Arial"/>
                <a:ea typeface="Arial"/>
                <a:cs typeface="Arial"/>
              </a:defRPr>
            </a:lvl2pPr>
            <a:lvl3pPr algn="l">
              <a:defRPr sz="1800" b="1" i="0">
                <a:solidFill>
                  <a:srgbClr val="FFFFFF"/>
                </a:solidFill>
                <a:latin typeface="Arial"/>
                <a:ea typeface="Arial"/>
                <a:cs typeface="Arial"/>
              </a:defRPr>
            </a:lvl3pPr>
            <a:lvl4pPr algn="l">
              <a:defRPr sz="1800" b="1" i="0">
                <a:solidFill>
                  <a:srgbClr val="FFFFFF"/>
                </a:solidFill>
                <a:latin typeface="Arial"/>
                <a:ea typeface="Arial"/>
                <a:cs typeface="Arial"/>
              </a:defRPr>
            </a:lvl4pPr>
            <a:lvl5pPr algn="l">
              <a:defRPr sz="1800" b="1" i="0">
                <a:solidFill>
                  <a:srgbClr val="FFFFFF"/>
                </a:solidFill>
                <a:latin typeface="Arial"/>
                <a:ea typeface="Arial"/>
                <a:cs typeface="Arial"/>
              </a:defRPr>
            </a:lvl5pPr>
            <a:lvl6pPr algn="l">
              <a:defRPr sz="1800" b="1" i="0">
                <a:solidFill>
                  <a:srgbClr val="FFFFFF"/>
                </a:solidFill>
                <a:latin typeface="Arial"/>
                <a:ea typeface="Arial"/>
                <a:cs typeface="Arial"/>
              </a:defRPr>
            </a:lvl6pPr>
            <a:lvl7pPr algn="l">
              <a:defRPr sz="1800" b="1" i="0">
                <a:solidFill>
                  <a:srgbClr val="FFFFFF"/>
                </a:solidFill>
                <a:latin typeface="Arial"/>
                <a:ea typeface="Arial"/>
                <a:cs typeface="Arial"/>
              </a:defRPr>
            </a:lvl7pPr>
            <a:lvl8pPr algn="l">
              <a:defRPr sz="1800" b="1" i="0">
                <a:solidFill>
                  <a:srgbClr val="FFFFFF"/>
                </a:solidFill>
                <a:latin typeface="Arial"/>
                <a:ea typeface="Arial"/>
                <a:cs typeface="Arial"/>
              </a:defRPr>
            </a:lvl8pPr>
            <a:lvl9pPr algn="l">
              <a:defRPr sz="1800" b="1" i="0">
                <a:solidFill>
                  <a:srgbClr val="FFFFFF"/>
                </a:solidFill>
                <a:latin typeface="Arial"/>
                <a:ea typeface="Arial"/>
                <a:cs typeface="Arial"/>
              </a:defRPr>
            </a:lvl9pPr>
          </a:lstStyle>
          <a:p xmlns:a="http://schemas.openxmlformats.org/drawingml/2006/main">
            <a:pPr algn="l">
              <a:lnSpc>
                <a:spcPct val="102000"/>
              </a:lnSpc>
              <a:buNone/>
              <a:defRPr sz="1800" b="1" i="0">
                <a:solidFill>
                  <a:srgbClr val="FFFFFF"/>
                </a:solidFill>
                <a:latin typeface="Arial"/>
                <a:ea typeface="Arial"/>
                <a:cs typeface="Arial"/>
              </a:defRPr>
            </a:pPr>
            <a:r>
              <a:rPr sz="1800" b="1" i="0">
                <a:solidFill>
                  <a:srgbClr val="FFFFFF"/>
                </a:solidFill>
                <a:latin typeface="Arial"/>
                <a:ea typeface="Arial"/>
                <a:cs typeface="Arial"/>
              </a:rPr>
              <a:t>trafico@sertranin.com</a:t>
            </a:r>
          </a:p>
        </p:txBody>
      </p:sp>
      <p:sp>
        <p:nvSpPr>
          <p:cNvPr id="10" name="">
            <a:extLst xmlns:a="http://schemas.openxmlformats.org/drawingml/2006/main">
              <a:ext uri="{FF2B5EF4-FFF2-40B4-BE49-F238E27FC236}">
                <a16:creationId xmlns:a16="http://schemas.microsoft.com/office/drawing/2014/main" id="{C4446309-A9E6-40FB-9AF3-B59B98ED8796}"/>
              </a:ext>
            </a:extLst>
          </p:cNvPr>
          <p:cNvSpPr>
            <a:spLocks xmlns:a="http://schemas.openxmlformats.org/drawingml/2006/main" noGrp="1"/>
          </p:cNvSpPr>
          <p:nvPr/>
        </p:nvSpPr>
        <p:spPr>
          <a:xfrm xmlns:a="http://schemas.openxmlformats.org/drawingml/2006/main">
            <a:off x="762000" y="5238750"/>
            <a:ext cx="4667250" cy="9525"/>
          </a:xfrm>
          <a:prstGeom xmlns:a="http://schemas.openxmlformats.org/drawingml/2006/main" prst="rect">
            <a:avLst/>
          </a:prstGeom>
          <a:solidFill xmlns:a="http://schemas.openxmlformats.org/drawingml/2006/main">
            <a:srgbClr val="FFFFFF">
              <a:alpha val="60000"/>
            </a:srgbClr>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AAB3562-A9A7-44EF-B772-CA458767112F}"/>
              </a:ext>
            </a:extLst>
          </p:cNvPr>
          <p:cNvSpPr>
            <a:spLocks xmlns:a="http://schemas.openxmlformats.org/drawingml/2006/main" noGrp="1"/>
          </p:cNvSpPr>
          <p:nvPr/>
        </p:nvSpPr>
        <p:spPr>
          <a:xfrm xmlns:a="http://schemas.openxmlformats.org/drawingml/2006/main">
            <a:off x="762000" y="5391150"/>
            <a:ext cx="733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FFFFFF"/>
                </a:solidFill>
                <a:latin typeface="Arial"/>
                <a:ea typeface="Arial"/>
                <a:cs typeface="Arial"/>
              </a:defRPr>
            </a:defPPr>
            <a:lvl1pPr algn="l">
              <a:defRPr sz="1650" b="0" i="0">
                <a:solidFill>
                  <a:srgbClr val="FFFFFF"/>
                </a:solidFill>
                <a:latin typeface="Arial"/>
                <a:ea typeface="Arial"/>
                <a:cs typeface="Arial"/>
              </a:defRPr>
            </a:lvl1pPr>
            <a:lvl2pPr algn="l">
              <a:defRPr sz="1650" b="0" i="0">
                <a:solidFill>
                  <a:srgbClr val="FFFFFF"/>
                </a:solidFill>
                <a:latin typeface="Arial"/>
                <a:ea typeface="Arial"/>
                <a:cs typeface="Arial"/>
              </a:defRPr>
            </a:lvl2pPr>
            <a:lvl3pPr algn="l">
              <a:defRPr sz="1650" b="0" i="0">
                <a:solidFill>
                  <a:srgbClr val="FFFFFF"/>
                </a:solidFill>
                <a:latin typeface="Arial"/>
                <a:ea typeface="Arial"/>
                <a:cs typeface="Arial"/>
              </a:defRPr>
            </a:lvl3pPr>
            <a:lvl4pPr algn="l">
              <a:defRPr sz="1650" b="0" i="0">
                <a:solidFill>
                  <a:srgbClr val="FFFFFF"/>
                </a:solidFill>
                <a:latin typeface="Arial"/>
                <a:ea typeface="Arial"/>
                <a:cs typeface="Arial"/>
              </a:defRPr>
            </a:lvl4pPr>
            <a:lvl5pPr algn="l">
              <a:defRPr sz="1650" b="0" i="0">
                <a:solidFill>
                  <a:srgbClr val="FFFFFF"/>
                </a:solidFill>
                <a:latin typeface="Arial"/>
                <a:ea typeface="Arial"/>
                <a:cs typeface="Arial"/>
              </a:defRPr>
            </a:lvl5pPr>
            <a:lvl6pPr algn="l">
              <a:defRPr sz="1650" b="0" i="0">
                <a:solidFill>
                  <a:srgbClr val="FFFFFF"/>
                </a:solidFill>
                <a:latin typeface="Arial"/>
                <a:ea typeface="Arial"/>
                <a:cs typeface="Arial"/>
              </a:defRPr>
            </a:lvl6pPr>
            <a:lvl7pPr algn="l">
              <a:defRPr sz="1650" b="0" i="0">
                <a:solidFill>
                  <a:srgbClr val="FFFFFF"/>
                </a:solidFill>
                <a:latin typeface="Arial"/>
                <a:ea typeface="Arial"/>
                <a:cs typeface="Arial"/>
              </a:defRPr>
            </a:lvl7pPr>
            <a:lvl8pPr algn="l">
              <a:defRPr sz="1650" b="0" i="0">
                <a:solidFill>
                  <a:srgbClr val="FFFFFF"/>
                </a:solidFill>
                <a:latin typeface="Arial"/>
                <a:ea typeface="Arial"/>
                <a:cs typeface="Arial"/>
              </a:defRPr>
            </a:lvl8pPr>
            <a:lvl9pPr algn="l">
              <a:defRPr sz="1650" b="0" i="0">
                <a:solidFill>
                  <a:srgbClr val="FFFFFF"/>
                </a:solidFill>
                <a:latin typeface="Arial"/>
                <a:ea typeface="Arial"/>
                <a:cs typeface="Arial"/>
              </a:defRPr>
            </a:lvl9pPr>
          </a:lstStyle>
          <a:p xmlns:a="http://schemas.openxmlformats.org/drawingml/2006/main">
            <a:pPr algn="l">
              <a:lnSpc>
                <a:spcPct val="102000"/>
              </a:lnSpc>
              <a:buNone/>
              <a:defRPr sz="1650" b="0" i="0">
                <a:solidFill>
                  <a:srgbClr val="FFFFFF"/>
                </a:solidFill>
                <a:latin typeface="Arial"/>
                <a:ea typeface="Arial"/>
                <a:cs typeface="Arial"/>
              </a:defRPr>
            </a:pPr>
            <a:r>
              <a:rPr sz="1650" b="0" i="0">
                <a:solidFill>
                  <a:srgbClr val="FFFFFF"/>
                </a:solidFill>
                <a:latin typeface="Arial"/>
                <a:ea typeface="Arial"/>
                <a:cs typeface="Arial"/>
              </a:rPr>
              <a:t>+34 962 163 161  ·  +34 967 490 565</a:t>
            </a:r>
          </a:p>
        </p:txBody>
      </p:sp>
      <p:sp>
        <p:nvSpPr>
          <p:cNvPr id="12" name="">
            <a:extLst xmlns:a="http://schemas.openxmlformats.org/drawingml/2006/main">
              <a:ext uri="{FF2B5EF4-FFF2-40B4-BE49-F238E27FC236}">
                <a16:creationId xmlns:a16="http://schemas.microsoft.com/office/drawing/2014/main" id="{1E3F6C20-F716-4EE3-AB1D-4FD1B4BB15E3}"/>
              </a:ext>
            </a:extLst>
          </p:cNvPr>
          <p:cNvSpPr>
            <a:spLocks xmlns:a="http://schemas.openxmlformats.org/drawingml/2006/main" noGrp="1"/>
          </p:cNvSpPr>
          <p:nvPr/>
        </p:nvSpPr>
        <p:spPr>
          <a:xfrm xmlns:a="http://schemas.openxmlformats.org/drawingml/2006/main">
            <a:off x="762000" y="5857875"/>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FF9DA3"/>
                </a:solidFill>
                <a:latin typeface="Arial"/>
                <a:ea typeface="Arial"/>
                <a:cs typeface="Arial"/>
              </a:defRPr>
            </a:defPPr>
            <a:lvl1pPr algn="l">
              <a:defRPr sz="1575" b="0" i="0">
                <a:solidFill>
                  <a:srgbClr val="FF9DA3"/>
                </a:solidFill>
                <a:latin typeface="Arial"/>
                <a:ea typeface="Arial"/>
                <a:cs typeface="Arial"/>
              </a:defRPr>
            </a:lvl1pPr>
            <a:lvl2pPr algn="l">
              <a:defRPr sz="1575" b="0" i="0">
                <a:solidFill>
                  <a:srgbClr val="FF9DA3"/>
                </a:solidFill>
                <a:latin typeface="Arial"/>
                <a:ea typeface="Arial"/>
                <a:cs typeface="Arial"/>
              </a:defRPr>
            </a:lvl2pPr>
            <a:lvl3pPr algn="l">
              <a:defRPr sz="1575" b="0" i="0">
                <a:solidFill>
                  <a:srgbClr val="FF9DA3"/>
                </a:solidFill>
                <a:latin typeface="Arial"/>
                <a:ea typeface="Arial"/>
                <a:cs typeface="Arial"/>
              </a:defRPr>
            </a:lvl3pPr>
            <a:lvl4pPr algn="l">
              <a:defRPr sz="1575" b="0" i="0">
                <a:solidFill>
                  <a:srgbClr val="FF9DA3"/>
                </a:solidFill>
                <a:latin typeface="Arial"/>
                <a:ea typeface="Arial"/>
                <a:cs typeface="Arial"/>
              </a:defRPr>
            </a:lvl4pPr>
            <a:lvl5pPr algn="l">
              <a:defRPr sz="1575" b="0" i="0">
                <a:solidFill>
                  <a:srgbClr val="FF9DA3"/>
                </a:solidFill>
                <a:latin typeface="Arial"/>
                <a:ea typeface="Arial"/>
                <a:cs typeface="Arial"/>
              </a:defRPr>
            </a:lvl5pPr>
            <a:lvl6pPr algn="l">
              <a:defRPr sz="1575" b="0" i="0">
                <a:solidFill>
                  <a:srgbClr val="FF9DA3"/>
                </a:solidFill>
                <a:latin typeface="Arial"/>
                <a:ea typeface="Arial"/>
                <a:cs typeface="Arial"/>
              </a:defRPr>
            </a:lvl6pPr>
            <a:lvl7pPr algn="l">
              <a:defRPr sz="1575" b="0" i="0">
                <a:solidFill>
                  <a:srgbClr val="FF9DA3"/>
                </a:solidFill>
                <a:latin typeface="Arial"/>
                <a:ea typeface="Arial"/>
                <a:cs typeface="Arial"/>
              </a:defRPr>
            </a:lvl7pPr>
            <a:lvl8pPr algn="l">
              <a:defRPr sz="1575" b="0" i="0">
                <a:solidFill>
                  <a:srgbClr val="FF9DA3"/>
                </a:solidFill>
                <a:latin typeface="Arial"/>
                <a:ea typeface="Arial"/>
                <a:cs typeface="Arial"/>
              </a:defRPr>
            </a:lvl8pPr>
            <a:lvl9pPr algn="l">
              <a:defRPr sz="1575" b="0" i="0">
                <a:solidFill>
                  <a:srgbClr val="FF9DA3"/>
                </a:solidFill>
                <a:latin typeface="Arial"/>
                <a:ea typeface="Arial"/>
                <a:cs typeface="Arial"/>
              </a:defRPr>
            </a:lvl9pPr>
          </a:lstStyle>
          <a:p xmlns:a="http://schemas.openxmlformats.org/drawingml/2006/main">
            <a:pPr algn="l">
              <a:lnSpc>
                <a:spcPct val="102000"/>
              </a:lnSpc>
              <a:buNone/>
              <a:defRPr sz="1575" b="0" i="0">
                <a:solidFill>
                  <a:srgbClr val="FF9DA3"/>
                </a:solidFill>
                <a:latin typeface="Arial"/>
                <a:ea typeface="Arial"/>
                <a:cs typeface="Arial"/>
              </a:defRPr>
            </a:pPr>
            <a:r>
              <a:rPr sz="1575" b="0" i="0">
                <a:solidFill>
                  <a:srgbClr val="FF9DA3"/>
                </a:solidFill>
                <a:latin typeface="Arial"/>
                <a:ea typeface="Arial"/>
                <a:cs typeface="Arial"/>
              </a:rPr>
              <a:t>sertranin-transportes.es</a:t>
            </a:r>
          </a:p>
        </p:txBody>
      </p:sp>
      <p:sp>
        <p:nvSpPr>
          <p:cNvPr id="13" name="">
            <a:extLst xmlns:a="http://schemas.openxmlformats.org/drawingml/2006/main">
              <a:ext uri="{FF2B5EF4-FFF2-40B4-BE49-F238E27FC236}">
                <a16:creationId xmlns:a16="http://schemas.microsoft.com/office/drawing/2014/main" id="{486A8D46-9E0F-4915-97CB-990A516984E7}"/>
              </a:ext>
            </a:extLst>
          </p:cNvPr>
          <p:cNvSpPr>
            <a:spLocks xmlns:a="http://schemas.openxmlformats.org/drawingml/2006/main" noGrp="1"/>
          </p:cNvSpPr>
          <p:nvPr/>
        </p:nvSpPr>
        <p:spPr>
          <a:xfrm xmlns:a="http://schemas.openxmlformats.org/drawingml/2006/main">
            <a:off x="762000" y="6334125"/>
            <a:ext cx="10668000" cy="9525"/>
          </a:xfrm>
          <a:prstGeom xmlns:a="http://schemas.openxmlformats.org/drawingml/2006/main" prst="rect">
            <a:avLst/>
          </a:prstGeom>
          <a:solidFill xmlns:a="http://schemas.openxmlformats.org/drawingml/2006/main">
            <a:srgbClr val="FFFFFF">
              <a:alpha val="35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F1637E-67E0-4EA9-AA49-78773E6CE0D0}"/>
              </a:ext>
            </a:extLst>
          </p:cNvPr>
          <p:cNvSpPr>
            <a:spLocks xmlns:a="http://schemas.openxmlformats.org/drawingml/2006/main" noGrp="1"/>
          </p:cNvSpPr>
          <p:nvPr/>
        </p:nvSpPr>
        <p:spPr>
          <a:xfrm xmlns:a="http://schemas.openxmlformats.org/drawingml/2006/main">
            <a:off x="762000" y="6419850"/>
            <a:ext cx="838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0CDCD"/>
                </a:solidFill>
                <a:latin typeface="Arial"/>
                <a:ea typeface="Arial"/>
                <a:cs typeface="Arial"/>
              </a:defRPr>
            </a:defPPr>
            <a:lvl1pPr algn="l">
              <a:defRPr sz="825" b="1" i="0">
                <a:solidFill>
                  <a:srgbClr val="E0CDCD"/>
                </a:solidFill>
                <a:latin typeface="Arial"/>
                <a:ea typeface="Arial"/>
                <a:cs typeface="Arial"/>
              </a:defRPr>
            </a:lvl1pPr>
            <a:lvl2pPr algn="l">
              <a:defRPr sz="825" b="1" i="0">
                <a:solidFill>
                  <a:srgbClr val="E0CDCD"/>
                </a:solidFill>
                <a:latin typeface="Arial"/>
                <a:ea typeface="Arial"/>
                <a:cs typeface="Arial"/>
              </a:defRPr>
            </a:lvl2pPr>
            <a:lvl3pPr algn="l">
              <a:defRPr sz="825" b="1" i="0">
                <a:solidFill>
                  <a:srgbClr val="E0CDCD"/>
                </a:solidFill>
                <a:latin typeface="Arial"/>
                <a:ea typeface="Arial"/>
                <a:cs typeface="Arial"/>
              </a:defRPr>
            </a:lvl3pPr>
            <a:lvl4pPr algn="l">
              <a:defRPr sz="825" b="1" i="0">
                <a:solidFill>
                  <a:srgbClr val="E0CDCD"/>
                </a:solidFill>
                <a:latin typeface="Arial"/>
                <a:ea typeface="Arial"/>
                <a:cs typeface="Arial"/>
              </a:defRPr>
            </a:lvl4pPr>
            <a:lvl5pPr algn="l">
              <a:defRPr sz="825" b="1" i="0">
                <a:solidFill>
                  <a:srgbClr val="E0CDCD"/>
                </a:solidFill>
                <a:latin typeface="Arial"/>
                <a:ea typeface="Arial"/>
                <a:cs typeface="Arial"/>
              </a:defRPr>
            </a:lvl5pPr>
            <a:lvl6pPr algn="l">
              <a:defRPr sz="825" b="1" i="0">
                <a:solidFill>
                  <a:srgbClr val="E0CDCD"/>
                </a:solidFill>
                <a:latin typeface="Arial"/>
                <a:ea typeface="Arial"/>
                <a:cs typeface="Arial"/>
              </a:defRPr>
            </a:lvl6pPr>
            <a:lvl7pPr algn="l">
              <a:defRPr sz="825" b="1" i="0">
                <a:solidFill>
                  <a:srgbClr val="E0CDCD"/>
                </a:solidFill>
                <a:latin typeface="Arial"/>
                <a:ea typeface="Arial"/>
                <a:cs typeface="Arial"/>
              </a:defRPr>
            </a:lvl7pPr>
            <a:lvl8pPr algn="l">
              <a:defRPr sz="825" b="1" i="0">
                <a:solidFill>
                  <a:srgbClr val="E0CDCD"/>
                </a:solidFill>
                <a:latin typeface="Arial"/>
                <a:ea typeface="Arial"/>
                <a:cs typeface="Arial"/>
              </a:defRPr>
            </a:lvl8pPr>
            <a:lvl9pPr algn="l">
              <a:defRPr sz="825" b="1" i="0">
                <a:solidFill>
                  <a:srgbClr val="E0CDCD"/>
                </a:solidFill>
                <a:latin typeface="Arial"/>
                <a:ea typeface="Arial"/>
                <a:cs typeface="Arial"/>
              </a:defRPr>
            </a:lvl9pPr>
          </a:lstStyle>
          <a:p xmlns:a="http://schemas.openxmlformats.org/drawingml/2006/main">
            <a:pPr algn="l">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06 / CONTACT</a:t>
            </a:r>
          </a:p>
        </p:txBody>
      </p:sp>
      <p:sp>
        <p:nvSpPr>
          <p:cNvPr id="15" name="">
            <a:extLst xmlns:a="http://schemas.openxmlformats.org/drawingml/2006/main">
              <a:ext uri="{FF2B5EF4-FFF2-40B4-BE49-F238E27FC236}">
                <a16:creationId xmlns:a16="http://schemas.microsoft.com/office/drawing/2014/main" id="{DF9CDC08-5AB8-437D-90E7-CC9E97F361F8}"/>
              </a:ext>
            </a:extLst>
          </p:cNvPr>
          <p:cNvSpPr>
            <a:spLocks xmlns:a="http://schemas.openxmlformats.org/drawingml/2006/main" noGrp="1"/>
          </p:cNvSpPr>
          <p:nvPr/>
        </p:nvSpPr>
        <p:spPr>
          <a:xfrm xmlns:a="http://schemas.openxmlformats.org/drawingml/2006/main">
            <a:off x="10572750" y="641985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E0CDCD"/>
                </a:solidFill>
                <a:latin typeface="Arial"/>
                <a:ea typeface="Arial"/>
                <a:cs typeface="Arial"/>
              </a:defRPr>
            </a:defPPr>
            <a:lvl1pPr algn="r">
              <a:defRPr sz="825" b="1" i="0">
                <a:solidFill>
                  <a:srgbClr val="E0CDCD"/>
                </a:solidFill>
                <a:latin typeface="Arial"/>
                <a:ea typeface="Arial"/>
                <a:cs typeface="Arial"/>
              </a:defRPr>
            </a:lvl1pPr>
            <a:lvl2pPr algn="r">
              <a:defRPr sz="825" b="1" i="0">
                <a:solidFill>
                  <a:srgbClr val="E0CDCD"/>
                </a:solidFill>
                <a:latin typeface="Arial"/>
                <a:ea typeface="Arial"/>
                <a:cs typeface="Arial"/>
              </a:defRPr>
            </a:lvl2pPr>
            <a:lvl3pPr algn="r">
              <a:defRPr sz="825" b="1" i="0">
                <a:solidFill>
                  <a:srgbClr val="E0CDCD"/>
                </a:solidFill>
                <a:latin typeface="Arial"/>
                <a:ea typeface="Arial"/>
                <a:cs typeface="Arial"/>
              </a:defRPr>
            </a:lvl3pPr>
            <a:lvl4pPr algn="r">
              <a:defRPr sz="825" b="1" i="0">
                <a:solidFill>
                  <a:srgbClr val="E0CDCD"/>
                </a:solidFill>
                <a:latin typeface="Arial"/>
                <a:ea typeface="Arial"/>
                <a:cs typeface="Arial"/>
              </a:defRPr>
            </a:lvl4pPr>
            <a:lvl5pPr algn="r">
              <a:defRPr sz="825" b="1" i="0">
                <a:solidFill>
                  <a:srgbClr val="E0CDCD"/>
                </a:solidFill>
                <a:latin typeface="Arial"/>
                <a:ea typeface="Arial"/>
                <a:cs typeface="Arial"/>
              </a:defRPr>
            </a:lvl5pPr>
            <a:lvl6pPr algn="r">
              <a:defRPr sz="825" b="1" i="0">
                <a:solidFill>
                  <a:srgbClr val="E0CDCD"/>
                </a:solidFill>
                <a:latin typeface="Arial"/>
                <a:ea typeface="Arial"/>
                <a:cs typeface="Arial"/>
              </a:defRPr>
            </a:lvl6pPr>
            <a:lvl7pPr algn="r">
              <a:defRPr sz="825" b="1" i="0">
                <a:solidFill>
                  <a:srgbClr val="E0CDCD"/>
                </a:solidFill>
                <a:latin typeface="Arial"/>
                <a:ea typeface="Arial"/>
                <a:cs typeface="Arial"/>
              </a:defRPr>
            </a:lvl7pPr>
            <a:lvl8pPr algn="r">
              <a:defRPr sz="825" b="1" i="0">
                <a:solidFill>
                  <a:srgbClr val="E0CDCD"/>
                </a:solidFill>
                <a:latin typeface="Arial"/>
                <a:ea typeface="Arial"/>
                <a:cs typeface="Arial"/>
              </a:defRPr>
            </a:lvl8pPr>
            <a:lvl9pPr algn="r">
              <a:defRPr sz="825" b="1" i="0">
                <a:solidFill>
                  <a:srgbClr val="E0CDCD"/>
                </a:solidFill>
                <a:latin typeface="Arial"/>
                <a:ea typeface="Arial"/>
                <a:cs typeface="Arial"/>
              </a:defRPr>
            </a:lvl9pPr>
          </a:lstStyle>
          <a:p xmlns:a="http://schemas.openxmlformats.org/drawingml/2006/main">
            <a:pPr algn="r">
              <a:lnSpc>
                <a:spcPct val="102000"/>
              </a:lnSpc>
              <a:buNone/>
              <a:defRPr sz="825" b="1" i="0">
                <a:solidFill>
                  <a:srgbClr val="E0CDCD"/>
                </a:solidFill>
                <a:latin typeface="Arial"/>
                <a:ea typeface="Arial"/>
                <a:cs typeface="Arial"/>
              </a:defRPr>
            </a:pPr>
            <a:r>
              <a:rPr sz="825" b="1" i="0">
                <a:solidFill>
                  <a:srgbClr val="E0CDCD"/>
                </a:solidFill>
                <a:latin typeface="Arial"/>
                <a:ea typeface="Arial"/>
                <a:cs typeface="Arial"/>
              </a:rPr>
              <a:t>16 / 16</a:t>
            </a:r>
          </a:p>
        </p:txBody>
      </p:sp>
    </p:spTree>
    <p:extLst>
      <p:ext uri="{BB962C8B-B14F-4D97-AF65-F5344CB8AC3E}">
        <p14:creationId xmlns:p14="http://schemas.microsoft.com/office/powerpoint/2010/main" val="5670711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2026-10-25T19:04:42.5640000Z</dcterms:created>
  <dcterms:modified xsi:type="dcterms:W3CDTF">2026-10-25T19:04:42.5640000Z</dcterms:modified>
</coreProperties>
</file>